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sldIdLst>
    <p:sldId id="256" r:id="rId3"/>
    <p:sldId id="566" r:id="rId4"/>
    <p:sldId id="567" r:id="rId5"/>
    <p:sldId id="568" r:id="rId6"/>
    <p:sldId id="569" r:id="rId7"/>
    <p:sldId id="271" r:id="rId8"/>
    <p:sldId id="268" r:id="rId9"/>
    <p:sldId id="261" r:id="rId10"/>
    <p:sldId id="272" r:id="rId11"/>
    <p:sldId id="263" r:id="rId12"/>
    <p:sldId id="274" r:id="rId13"/>
    <p:sldId id="273" r:id="rId14"/>
    <p:sldId id="570" r:id="rId15"/>
    <p:sldId id="266"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8A4EF-6160-364B-9056-62E80023A26D}" v="57" dt="2026-03-22T19:05:50.7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4"/>
    <p:restoredTop sz="68845"/>
  </p:normalViewPr>
  <p:slideViewPr>
    <p:cSldViewPr snapToGrid="0" snapToObjects="1">
      <p:cViewPr>
        <p:scale>
          <a:sx n="139" d="100"/>
          <a:sy n="139" d="100"/>
        </p:scale>
        <p:origin x="400" y="-4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49304-4996-5048-AF8D-AE7FCF302DAE}" type="datetimeFigureOut">
              <a:rPr lang="en-US" smtClean="0"/>
              <a:t>3/22/26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EF46E4-EE54-564F-BFBC-E1DA32DE0BEF}" type="slidenum">
              <a:rPr lang="en-US" smtClean="0"/>
              <a:t>‹#›</a:t>
            </a:fld>
            <a:endParaRPr lang="en-US"/>
          </a:p>
        </p:txBody>
      </p:sp>
    </p:spTree>
    <p:extLst>
      <p:ext uri="{BB962C8B-B14F-4D97-AF65-F5344CB8AC3E}">
        <p14:creationId xmlns:p14="http://schemas.microsoft.com/office/powerpoint/2010/main" val="1752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1662815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 introduce the background and motivation of our study.</a:t>
            </a:r>
            <a:br>
              <a:rPr lang="en-US" altLang="zh-CN" dirty="0"/>
            </a:br>
            <a:endParaRPr lang="en-US" altLang="zh-CN" dirty="0"/>
          </a:p>
          <a:p>
            <a:r>
              <a:rPr lang="en-US" altLang="zh-CN" dirty="0"/>
              <a:t>First, IoMT enables continuous healthcare monitoring and supports modern medical services. However, as the number of connected devices increases, the attack surface also becomes larger.</a:t>
            </a:r>
          </a:p>
          <a:p>
            <a:r>
              <a:rPr lang="en-US" altLang="zh-CN" dirty="0"/>
              <a:t>Second, although AI-based IDS can strengthen security, direct deployment on IoMT edge devices is still challenging because these devices have limited computation, memory, storage, and bandwidth.</a:t>
            </a:r>
          </a:p>
          <a:p>
            <a:endParaRPr lang="en-US" altLang="zh-CN" dirty="0"/>
          </a:p>
          <a:p>
            <a:r>
              <a:rPr lang="en-US" altLang="zh-CN" dirty="0"/>
              <a:t>In addition, cloud-based and hybrid AI-based IDS may introduce significant communication overhead. Therefore, it is important to study efficient deployment strategies and feature processing methods. This is the main motivation of our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2392178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First, many existing IDS studies focus mainly on accuracy improvement, but they often do not evaluate whether the resource cost is practical for edge devices. So, our first contribution is to evaluate not only accuracy, but also CPU, memory, and network overhead.</a:t>
            </a:r>
          </a:p>
          <a:p>
            <a:endParaRPr lang="en-US" altLang="zh-CN" dirty="0"/>
          </a:p>
          <a:p>
            <a:r>
              <a:rPr lang="en-US" altLang="zh-CN" dirty="0"/>
              <a:t>Second, in cloud-based and hybrid settings, a </a:t>
            </a:r>
            <a:r>
              <a:rPr lang="en-US" altLang="zh-CN" dirty="0" err="1"/>
              <a:t>lasimulaterge</a:t>
            </a:r>
            <a:r>
              <a:rPr lang="en-US" altLang="zh-CN" dirty="0"/>
              <a:t> amount of data may need to be uploaded, including flow-level features, logs, and events. However, only limited work studies how to reduce this transmission cost or whether the edge can support it. So, our second contribution is to edge–cloud split deployment and examine whether edge-side feature extraction can reduce traffic with acceptable overhead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solidFill>
                <a:schemeClr val="tx2"/>
              </a:solidFill>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DEF46E4-EE54-564F-BFBC-E1DA32DE0BE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9901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first direction is </a:t>
            </a:r>
            <a:r>
              <a:rPr lang="en-US" altLang="zh-CN" b="1" dirty="0"/>
              <a:t>Federated Learning</a:t>
            </a:r>
            <a:r>
              <a:rPr lang="en-US" altLang="zh-CN" dirty="0"/>
              <a:t>. Its main focus is to protect privacy by keeping raw data on local devices and sharing model updates instead of patient data. However, it still requires repeated local training and multiple communication rounds, which can be costly for resource-constrained IoMT devices.</a:t>
            </a:r>
          </a:p>
          <a:p>
            <a:endParaRPr lang="en-US" altLang="zh-CN" dirty="0"/>
          </a:p>
          <a:p>
            <a:r>
              <a:rPr lang="en-US" altLang="zh-CN" dirty="0"/>
              <a:t>The second direction is </a:t>
            </a:r>
            <a:r>
              <a:rPr lang="en-US" altLang="zh-CN" b="1" dirty="0"/>
              <a:t>Lightweight ML</a:t>
            </a:r>
            <a:r>
              <a:rPr lang="en-US" altLang="zh-CN" dirty="0"/>
              <a:t>. It uses smaller models to make edge-side intrusion detection more feasible. But many studies assume that lightweight means deployable, while they do not carefully evaluate real CPU or memory overhead.</a:t>
            </a:r>
          </a:p>
          <a:p>
            <a:endParaRPr lang="en-US" altLang="zh-CN" dirty="0"/>
          </a:p>
          <a:p>
            <a:r>
              <a:rPr lang="en-US" altLang="zh-CN" dirty="0"/>
              <a:t>The third direction is </a:t>
            </a:r>
            <a:r>
              <a:rPr lang="en-US" altLang="zh-CN" b="1" dirty="0"/>
              <a:t>Hybrid Framework</a:t>
            </a:r>
            <a:r>
              <a:rPr lang="en-US" altLang="zh-CN" dirty="0"/>
              <a:t>. It combines lightweight edge processing with stronger cloud-side analysis. This is a promising direction, but existing work still lacks clear evaluation of network overhead, split deployment cost, and practical feasibility.</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DEF46E4-EE54-564F-BFBC-E1DA32DE0BE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082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presents the overall system architecture of our framework.</a:t>
            </a:r>
            <a:br>
              <a:rPr lang="en-US" altLang="zh-CN" dirty="0"/>
            </a:br>
            <a:endParaRPr lang="en-US" altLang="zh-CN" dirty="0"/>
          </a:p>
          <a:p>
            <a:r>
              <a:rPr lang="en-US" altLang="zh-CN" dirty="0"/>
              <a:t>The whole framework can be understood in three layers: the IoMT device layer at the bottom, the edge computing layer in the middle, and the cloud layer at the top.</a:t>
            </a:r>
          </a:p>
          <a:p>
            <a:endParaRPr lang="en-US" altLang="zh-CN" dirty="0"/>
          </a:p>
          <a:p>
            <a:r>
              <a:rPr lang="en-US" altLang="zh-CN" dirty="0"/>
              <a:t>At the bottom, we have IoMT-based wearable devices. These devices continuously generate both medical data and network-related data. Because they are resource-constrained, we do not place the full intrusion detection task directly on them.</a:t>
            </a:r>
          </a:p>
          <a:p>
            <a:endParaRPr lang="en-US" altLang="zh-CN" dirty="0"/>
          </a:p>
          <a:p>
            <a:r>
              <a:rPr lang="en-US" altLang="zh-CN" dirty="0"/>
              <a:t>In the middle is the edge computing layer. Here, the system mainly performs lightweight operations, such as feature encoding and feature selection. The edge also has some basic blocking capability, so it can react to simple suspicious </a:t>
            </a:r>
            <a:r>
              <a:rPr lang="en-US" altLang="zh-CN" dirty="0" err="1"/>
              <a:t>behaviour</a:t>
            </a:r>
            <a:r>
              <a:rPr lang="en-US" altLang="zh-CN" dirty="0"/>
              <a:t>. However, it may not </a:t>
            </a:r>
            <a:r>
              <a:rPr lang="en-US" altLang="zh-CN" dirty="0" err="1"/>
              <a:t>recognise</a:t>
            </a:r>
            <a:r>
              <a:rPr lang="en-US" altLang="zh-CN" dirty="0"/>
              <a:t> more advanced or complex attacks.</a:t>
            </a:r>
          </a:p>
          <a:p>
            <a:endParaRPr lang="en-US" altLang="zh-CN" dirty="0"/>
          </a:p>
          <a:p>
            <a:r>
              <a:rPr lang="en-US" altLang="zh-CN" dirty="0"/>
              <a:t>For this reason, the edge keeps sending flow-level features, logs, and events to the cloud. In the cloud layer, the AI-based IDS performs the main classification and deeper security analysis, because the cloud has stronger computation, storage, and network resources.</a:t>
            </a:r>
          </a:p>
          <a:p>
            <a:endParaRPr lang="en-US" altLang="zh-CN" dirty="0"/>
          </a:p>
          <a:p>
            <a:r>
              <a:rPr lang="en-US" altLang="zh-CN" dirty="0"/>
              <a:t>When the cloud identifies a complex attack, it sends the result or security policy back to the edge. Then the edge uses this information to block the attack locally. So, the cloud is mainly responsible for advanced detection, while the edge is responsible for lightweight processing, reporting, and local enforcement.</a:t>
            </a:r>
          </a:p>
          <a:p>
            <a:endParaRPr lang="en-US" altLang="zh-CN" dirty="0"/>
          </a:p>
          <a:p>
            <a:r>
              <a:rPr lang="en-US" altLang="zh-CN" dirty="0"/>
              <a:t>On the left side, the Security Operator represents the security management role. This means alerts and security policies can be reviewed and adjusted through the cloud system.</a:t>
            </a:r>
          </a:p>
          <a:p>
            <a:endParaRPr lang="en-US" altLang="zh-CN" dirty="0"/>
          </a:p>
          <a:p>
            <a:r>
              <a:rPr lang="en-US" altLang="zh-CN" dirty="0"/>
              <a:t>On the right side, the figure highlights the healthcare context of the framework. The uploaded information may include medical sensitive data, so the system is not only protecting network traffic, but also protecting healthcare-related data and services. The Healthcare Professional represents the real application side that depends on this secure system.</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6</a:t>
            </a:fld>
            <a:endParaRPr lang="en-US"/>
          </a:p>
        </p:txBody>
      </p:sp>
    </p:spTree>
    <p:extLst>
      <p:ext uri="{BB962C8B-B14F-4D97-AF65-F5344CB8AC3E}">
        <p14:creationId xmlns:p14="http://schemas.microsoft.com/office/powerpoint/2010/main" val="2313090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our implementation, we conduct experiments on an ARM platform to simulate a realistic edge environment. So, we do not use GPU acceleration or MPS, and all computations are performed on CPU.</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Since we evaluate a hybrid framework, we simulate both edge and cloud components.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In the edge simulation, we first read data from the dataset, then apply feature scaling and feature selection to remove redundant or less informative features. After that, we perform feature extraction using methods such as PCA,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or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and transmit the processed features to the cloud.</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On the cloud side, the received data is reshaped based on metadata and then split into training and testing datasets. The data is then fed into a classification model for training and evaluation.</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During this process, we monitor and record CPU and memory usage at the edge during feature extraction, as well as network traffic. We also evaluate model performance using metrics such as accuracy and F1 score.</a:t>
            </a:r>
          </a:p>
          <a:p>
            <a:r>
              <a:rPr lang="en-GB"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7</a:t>
            </a:fld>
            <a:endParaRPr lang="en-US"/>
          </a:p>
        </p:txBody>
      </p:sp>
    </p:spTree>
    <p:extLst>
      <p:ext uri="{BB962C8B-B14F-4D97-AF65-F5344CB8AC3E}">
        <p14:creationId xmlns:p14="http://schemas.microsoft.com/office/powerpoint/2010/main" val="4168453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terms of we use the Edge-</a:t>
            </a:r>
            <a:r>
              <a:rPr lang="en-GB" sz="1200" kern="1200" dirty="0" err="1">
                <a:solidFill>
                  <a:schemeClr val="tx1"/>
                </a:solidFill>
                <a:effectLst/>
                <a:latin typeface="+mn-lt"/>
                <a:ea typeface="+mn-ea"/>
                <a:cs typeface="+mn-cs"/>
              </a:rPr>
              <a:t>IIoTset</a:t>
            </a:r>
            <a:r>
              <a:rPr lang="en-GB" sz="1200" kern="1200" dirty="0">
                <a:solidFill>
                  <a:schemeClr val="tx1"/>
                </a:solidFill>
                <a:effectLst/>
                <a:latin typeface="+mn-lt"/>
                <a:ea typeface="+mn-ea"/>
                <a:cs typeface="+mn-cs"/>
              </a:rPr>
              <a:t> dataset, which is a recent dataset designed for edge-based IoT environments(publish in 2022). It contains realistic network traffic and includes labelled data for both normal and attack behaviours, making it suitable for evaluating intrusion detection systems. In addition, the data is provided at the flow level, which aligns well with our system design.</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feature reduction, we investigate several approaches. First, we apply feature selection methods based on feature value ranges and their importance for prediction, in order to remove redundant or less informative features. Then, we use PCA and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as a traditional dimensionality reduction technique to project the data into a lower-dimensional space. Finally, we explore deep learning-based methods, including ResNeXt1D, and DNN to learn more complex feature representations.</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The main objective is to reduce the number of features while preserving the most important information, so that we can improve efficiency without significantly reducing classification performance.</a:t>
            </a:r>
          </a:p>
        </p:txBody>
      </p:sp>
      <p:sp>
        <p:nvSpPr>
          <p:cNvPr id="4" name="Slide Number Placeholder 3"/>
          <p:cNvSpPr>
            <a:spLocks noGrp="1"/>
          </p:cNvSpPr>
          <p:nvPr>
            <p:ph type="sldNum" sz="quarter" idx="5"/>
          </p:nvPr>
        </p:nvSpPr>
        <p:spPr/>
        <p:txBody>
          <a:bodyPr/>
          <a:lstStyle/>
          <a:p>
            <a:fld id="{EDEF46E4-EE54-564F-BFBC-E1DA32DE0BEF}" type="slidenum">
              <a:rPr lang="en-US" smtClean="0"/>
              <a:t>8</a:t>
            </a:fld>
            <a:endParaRPr lang="en-US"/>
          </a:p>
        </p:txBody>
      </p:sp>
    </p:spTree>
    <p:extLst>
      <p:ext uri="{BB962C8B-B14F-4D97-AF65-F5344CB8AC3E}">
        <p14:creationId xmlns:p14="http://schemas.microsoft.com/office/powerpoint/2010/main" val="2714155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611AA-0529-7173-644F-F9C62CA66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1CBEE-40A5-BC2B-F336-FB8EA66571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89DE2-05BC-238F-E2CA-83DE9DCD37F7}"/>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In this part, we compare two feature extraction methods: ResNeXt1D and a lightweight DNN.</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Since</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ResNeXt</a:t>
            </a:r>
            <a:r>
              <a:rPr lang="en-US" altLang="zh-CN" sz="1200" kern="1200" dirty="0">
                <a:solidFill>
                  <a:schemeClr val="tx1"/>
                </a:solidFill>
                <a:effectLst/>
                <a:latin typeface="+mn-lt"/>
                <a:ea typeface="+mn-ea"/>
                <a:cs typeface="+mn-cs"/>
              </a:rPr>
              <a:t> is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not suitable for Flow-level data, </a:t>
            </a:r>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ResNeXt1D, we first reshape the input data from a tabular format into a 1D format. Then, the data is passed through a stem layer, which includes convolution, batch normalisation, </a:t>
            </a:r>
            <a:r>
              <a:rPr lang="en-GB" sz="1200" kern="1200" dirty="0" err="1">
                <a:solidFill>
                  <a:schemeClr val="tx1"/>
                </a:solidFill>
                <a:effectLst/>
                <a:latin typeface="+mn-lt"/>
                <a:ea typeface="+mn-ea"/>
                <a:cs typeface="+mn-cs"/>
              </a:rPr>
              <a:t>ReLU</a:t>
            </a:r>
            <a:r>
              <a:rPr lang="en-GB" sz="1200" kern="1200" dirty="0">
                <a:solidFill>
                  <a:schemeClr val="tx1"/>
                </a:solidFill>
                <a:effectLst/>
                <a:latin typeface="+mn-lt"/>
                <a:ea typeface="+mn-ea"/>
                <a:cs typeface="+mn-cs"/>
              </a:rPr>
              <a:t>, and max pooling. This step helps extract basic features</a:t>
            </a:r>
            <a:r>
              <a:rPr lang="en-US" altLang="zh-CN" sz="1200" kern="1200" dirty="0">
                <a:solidFill>
                  <a:schemeClr val="tx1"/>
                </a:solidFill>
                <a:effectLst/>
                <a:latin typeface="+mn-lt"/>
                <a:ea typeface="+mn-ea"/>
                <a:cs typeface="+mn-cs"/>
              </a:rPr>
              <a:t>.</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After that, the data goes through several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blocks to learn more complex features. Finally, we use pooling, flattening, and a linear layer to generate a fixed-size embedding.</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the DNN method, the input data is directly passed through fully connected layers with </a:t>
            </a:r>
            <a:r>
              <a:rPr lang="en-GB" sz="1200" kern="1200" dirty="0" err="1">
                <a:solidFill>
                  <a:schemeClr val="tx1"/>
                </a:solidFill>
                <a:effectLst/>
                <a:latin typeface="+mn-lt"/>
                <a:ea typeface="+mn-ea"/>
                <a:cs typeface="+mn-cs"/>
              </a:rPr>
              <a:t>ReLU</a:t>
            </a:r>
            <a:r>
              <a:rPr lang="en-GB" sz="1200" kern="1200" dirty="0">
                <a:solidFill>
                  <a:schemeClr val="tx1"/>
                </a:solidFill>
                <a:effectLst/>
                <a:latin typeface="+mn-lt"/>
                <a:ea typeface="+mn-ea"/>
                <a:cs typeface="+mn-cs"/>
              </a:rPr>
              <a:t> activation. The model gradually reduces the feature size and produces a compact embedding.</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Compared to ResNeXt1D, the DNN is simpler, more efficient, and more suitable for tabular data and edge environments.</a:t>
            </a:r>
          </a:p>
          <a:p>
            <a:endParaRPr lang="en-US" dirty="0"/>
          </a:p>
        </p:txBody>
      </p:sp>
      <p:sp>
        <p:nvSpPr>
          <p:cNvPr id="4" name="Slide Number Placeholder 3">
            <a:extLst>
              <a:ext uri="{FF2B5EF4-FFF2-40B4-BE49-F238E27FC236}">
                <a16:creationId xmlns:a16="http://schemas.microsoft.com/office/drawing/2014/main" id="{FBAAF51D-9F1C-CA74-664A-84AC570F9696}"/>
              </a:ext>
            </a:extLst>
          </p:cNvPr>
          <p:cNvSpPr>
            <a:spLocks noGrp="1"/>
          </p:cNvSpPr>
          <p:nvPr>
            <p:ph type="sldNum" sz="quarter" idx="5"/>
          </p:nvPr>
        </p:nvSpPr>
        <p:spPr/>
        <p:txBody>
          <a:bodyPr/>
          <a:lstStyle/>
          <a:p>
            <a:fld id="{EDEF46E4-EE54-564F-BFBC-E1DA32DE0BEF}" type="slidenum">
              <a:rPr lang="en-US" smtClean="0"/>
              <a:t>9</a:t>
            </a:fld>
            <a:endParaRPr lang="en-US"/>
          </a:p>
        </p:txBody>
      </p:sp>
    </p:spTree>
    <p:extLst>
      <p:ext uri="{BB962C8B-B14F-4D97-AF65-F5344CB8AC3E}">
        <p14:creationId xmlns:p14="http://schemas.microsoft.com/office/powerpoint/2010/main" val="1022987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this section, we evaluate the detection performance using accuracy and F1 score across different feature dimensions.</a:t>
            </a:r>
          </a:p>
          <a:p>
            <a:pPr marL="0" marR="0" lvl="0" indent="0" algn="l" defTabSz="914400" rtl="0" eaLnBrk="1" fontAlgn="auto" latinLnBrk="0" hangingPunct="1">
              <a:lnSpc>
                <a:spcPct val="100000"/>
              </a:lnSpc>
              <a:spcBef>
                <a:spcPts val="0"/>
              </a:spcBef>
              <a:spcAft>
                <a:spcPts val="0"/>
              </a:spcAft>
              <a:buClrTx/>
              <a:buSzTx/>
              <a:buFontTx/>
              <a:buNone/>
              <a:tabLst/>
              <a:defRPr/>
            </a:pP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After</a:t>
            </a:r>
            <a:r>
              <a:rPr lang="zh-CN" altLang="en-US" sz="1200" kern="12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Feature selection remains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52</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features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and</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achieves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accuracy</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and</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F1</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score</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approximetly</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96%</a:t>
            </a:r>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From the results, we can see that the DNN model consistently achieves the best performance, with accuracy and F1 score close to 99%.</a:t>
            </a:r>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also performs well, but it does not show clear improvement compared to DNN, especially considering its higher computational cost.</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PCA and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the performance is lower when the feature dimension is small, and gradually improves as the dimension increases. This means that some important information is lost during dimensionality reduction.</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Overall, these results show that for low-dimensional flow-level data, a simple DNN model is sufficient and more effective than more complex models.</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10</a:t>
            </a:fld>
            <a:endParaRPr lang="en-US"/>
          </a:p>
        </p:txBody>
      </p:sp>
    </p:spTree>
    <p:extLst>
      <p:ext uri="{BB962C8B-B14F-4D97-AF65-F5344CB8AC3E}">
        <p14:creationId xmlns:p14="http://schemas.microsoft.com/office/powerpoint/2010/main" val="3396987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this section, we evaluate the computational cost using CPU</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and</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memory.</a:t>
            </a:r>
            <a:endParaRPr lang="en-GB" sz="1200" kern="1200" dirty="0">
              <a:solidFill>
                <a:schemeClr val="tx1"/>
              </a:solidFill>
              <a:effectLst/>
              <a:latin typeface="+mn-lt"/>
              <a:ea typeface="+mn-ea"/>
              <a:cs typeface="+mn-cs"/>
            </a:endParaRP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From the CPU usage, we can see that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has good parallel capability due to grouped convolution. However, even with this parallelism, the inference time is still much higher compared to other methods.</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memory usage, the results are not completely stable because Python memory management can introduce fluctuations. However, overall, the memory increase during inference is relatively small, generally below 10 MB.</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When we consider both CPU time and memory usage together,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has significantly higher computational cost, making it less suitable for edge deployment.</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In contrast, PCA,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and DNN have much lower overhead and are more efficient for edge-based IDS.</a:t>
            </a:r>
          </a:p>
          <a:p>
            <a:endParaRPr lang="en-US" dirty="0"/>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11</a:t>
            </a:fld>
            <a:endParaRPr lang="en-US"/>
          </a:p>
        </p:txBody>
      </p:sp>
    </p:spTree>
    <p:extLst>
      <p:ext uri="{BB962C8B-B14F-4D97-AF65-F5344CB8AC3E}">
        <p14:creationId xmlns:p14="http://schemas.microsoft.com/office/powerpoint/2010/main" val="3271250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this section, we evaluate the total latency of different methods. The latency is divided into three parts: </a:t>
            </a:r>
            <a:r>
              <a:rPr lang="en-GB" sz="1200" kern="1200">
                <a:solidFill>
                  <a:schemeClr val="tx1"/>
                </a:solidFill>
                <a:effectLst/>
                <a:latin typeface="+mn-lt"/>
                <a:ea typeface="+mn-ea"/>
                <a:cs typeface="+mn-cs"/>
              </a:rPr>
              <a:t>feature extraction, </a:t>
            </a:r>
            <a:r>
              <a:rPr lang="en-GB" sz="1200" kern="1200" dirty="0">
                <a:solidFill>
                  <a:schemeClr val="tx1"/>
                </a:solidFill>
                <a:effectLst/>
                <a:latin typeface="+mn-lt"/>
                <a:ea typeface="+mn-ea"/>
                <a:cs typeface="+mn-cs"/>
              </a:rPr>
              <a:t>network transmission, and inference.</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DNN, and PCA, the total latency is relatively low, generally between 60 and 150 milliseconds. Among them, DNN and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show stable performance across different feature dimensions.</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However, for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the latency is significantly higher, reaching over 37,000 nanoseconds. This is mainly because the feature extraction stage is very expensive.</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result shows that although </a:t>
            </a:r>
            <a:r>
              <a:rPr lang="en-GB" sz="1200" kern="1200" dirty="0" err="1">
                <a:solidFill>
                  <a:schemeClr val="tx1"/>
                </a:solidFill>
                <a:effectLst/>
                <a:latin typeface="+mn-lt"/>
                <a:ea typeface="+mn-ea"/>
                <a:cs typeface="+mn-cs"/>
              </a:rPr>
              <a:t>ResNeXt</a:t>
            </a:r>
            <a:r>
              <a:rPr lang="en-GB" sz="1200" kern="1200" dirty="0">
                <a:solidFill>
                  <a:schemeClr val="tx1"/>
                </a:solidFill>
                <a:effectLst/>
                <a:latin typeface="+mn-lt"/>
                <a:ea typeface="+mn-ea"/>
                <a:cs typeface="+mn-cs"/>
              </a:rPr>
              <a:t> can extract complex features, its computational cost is too high for real-time applications.</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In contrast, PCA, </a:t>
            </a:r>
            <a:r>
              <a:rPr lang="en-GB" sz="1200" kern="1200" dirty="0" err="1">
                <a:solidFill>
                  <a:schemeClr val="tx1"/>
                </a:solidFill>
                <a:effectLst/>
                <a:latin typeface="+mn-lt"/>
                <a:ea typeface="+mn-ea"/>
                <a:cs typeface="+mn-cs"/>
              </a:rPr>
              <a:t>AutoEncoder</a:t>
            </a:r>
            <a:r>
              <a:rPr lang="en-GB" sz="1200" kern="1200" dirty="0">
                <a:solidFill>
                  <a:schemeClr val="tx1"/>
                </a:solidFill>
                <a:effectLst/>
                <a:latin typeface="+mn-lt"/>
                <a:ea typeface="+mn-ea"/>
                <a:cs typeface="+mn-cs"/>
              </a:rPr>
              <a:t>, and DNN provide much lower latency and are more suitable for edge-based intrusion detection systems.</a:t>
            </a:r>
          </a:p>
          <a:p>
            <a:endParaRPr lang="en-US" dirty="0"/>
          </a:p>
        </p:txBody>
      </p:sp>
      <p:sp>
        <p:nvSpPr>
          <p:cNvPr id="4" name="Slide Number Placeholder 3"/>
          <p:cNvSpPr>
            <a:spLocks noGrp="1"/>
          </p:cNvSpPr>
          <p:nvPr>
            <p:ph type="sldNum" sz="quarter" idx="5"/>
          </p:nvPr>
        </p:nvSpPr>
        <p:spPr/>
        <p:txBody>
          <a:bodyPr/>
          <a:lstStyle/>
          <a:p>
            <a:fld id="{EDEF46E4-EE54-564F-BFBC-E1DA32DE0BEF}" type="slidenum">
              <a:rPr lang="en-US" smtClean="0"/>
              <a:t>12</a:t>
            </a:fld>
            <a:endParaRPr lang="en-US"/>
          </a:p>
        </p:txBody>
      </p:sp>
    </p:spTree>
    <p:extLst>
      <p:ext uri="{BB962C8B-B14F-4D97-AF65-F5344CB8AC3E}">
        <p14:creationId xmlns:p14="http://schemas.microsoft.com/office/powerpoint/2010/main" val="2107073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64A1E-B7C4-95FE-EF6C-74A41F163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A03B7-57A5-A83C-6E94-B102EE7D8E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F9E547-23FF-0CC2-5E18-BEAD4D97B2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DEAA69-E0B2-7BD2-B8A0-B8134128C3EB}"/>
              </a:ext>
            </a:extLst>
          </p:cNvPr>
          <p:cNvSpPr>
            <a:spLocks noGrp="1"/>
          </p:cNvSpPr>
          <p:nvPr>
            <p:ph type="sldNum" sz="quarter" idx="5"/>
          </p:nvPr>
        </p:nvSpPr>
        <p:spPr/>
        <p:txBody>
          <a:bodyPr/>
          <a:lstStyle/>
          <a:p>
            <a:fld id="{EDEF46E4-EE54-564F-BFBC-E1DA32DE0BEF}" type="slidenum">
              <a:rPr lang="en-US" smtClean="0"/>
              <a:t>13</a:t>
            </a:fld>
            <a:endParaRPr lang="en-US"/>
          </a:p>
        </p:txBody>
      </p:sp>
    </p:spTree>
    <p:extLst>
      <p:ext uri="{BB962C8B-B14F-4D97-AF65-F5344CB8AC3E}">
        <p14:creationId xmlns:p14="http://schemas.microsoft.com/office/powerpoint/2010/main" val="61464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8406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4951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0097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6732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9712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58167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25815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71100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84513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01697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4415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9D6027-F7C7-4EF3-85DD-09E27ACEEACA}"/>
              </a:ext>
            </a:extLst>
          </p:cNvPr>
          <p:cNvSpPr>
            <a:spLocks noGrp="1"/>
          </p:cNvSpPr>
          <p:nvPr>
            <p:ph type="dt" sz="half" idx="10"/>
          </p:nvPr>
        </p:nvSpPr>
        <p:spPr/>
        <p:txBody>
          <a:bodyPr/>
          <a:lstStyle/>
          <a:p>
            <a:fld id="{A50ECBEB-8597-4EA4-9D29-E1D7025CFAA0}" type="datetime1">
              <a:rPr lang="zh-CN" altLang="en-US" smtClean="0"/>
              <a:t>2026/3/22</a:t>
            </a:fld>
            <a:endParaRPr lang="zh-CN" altLang="en-US"/>
          </a:p>
        </p:txBody>
      </p:sp>
      <p:sp>
        <p:nvSpPr>
          <p:cNvPr id="3" name="Footer Placeholder 2">
            <a:extLst>
              <a:ext uri="{FF2B5EF4-FFF2-40B4-BE49-F238E27FC236}">
                <a16:creationId xmlns:a16="http://schemas.microsoft.com/office/drawing/2014/main" id="{66262BA1-A5A7-45F4-B365-E880E1C324C3}"/>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F80CF1E8-0939-4B4D-A4D3-E47E208FC47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14682019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954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672864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tags" Target="../tags/tag4.xml"/><Relationship Id="rId7" Type="http://schemas.openxmlformats.org/officeDocument/2006/relationships/image" Target="../media/image1.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2.xml"/><Relationship Id="rId5" Type="http://schemas.openxmlformats.org/officeDocument/2006/relationships/slideLayout" Target="../slideLayouts/slideLayout24.xml"/><Relationship Id="rId4" Type="http://schemas.openxmlformats.org/officeDocument/2006/relationships/tags" Target="../tags/tag5.xml"/></Relationships>
</file>

<file path=ppt/slides/_rels/slide4.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image" Target="../media/image1.png"/><Relationship Id="rId2" Type="http://schemas.openxmlformats.org/officeDocument/2006/relationships/tags" Target="../tags/tag7.xml"/><Relationship Id="rId16" Type="http://schemas.openxmlformats.org/officeDocument/2006/relationships/notesSlide" Target="../notesSlides/notesSlide3.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slideLayout" Target="../slideLayouts/slideLayout24.xml"/><Relationship Id="rId10" Type="http://schemas.openxmlformats.org/officeDocument/2006/relationships/tags" Target="../tags/tag15.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5.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slideLayout" Target="../slideLayouts/slideLayout24.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tags" Target="../tags/tag39.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23" Type="http://schemas.openxmlformats.org/officeDocument/2006/relationships/image" Target="../media/image1.png"/><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 Id="rId2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5.xml"/><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735106"/>
            <a:ext cx="7540322" cy="2928470"/>
          </a:xfrm>
        </p:spPr>
        <p:txBody>
          <a:bodyPr anchor="b">
            <a:normAutofit/>
          </a:bodyPr>
          <a:lstStyle/>
          <a:p>
            <a:pPr algn="l"/>
            <a:r>
              <a:rPr lang="en-GB" sz="4200" dirty="0">
                <a:solidFill>
                  <a:srgbClr val="FFFFFF"/>
                </a:solidFill>
              </a:rPr>
              <a:t>Comparative Evaluation of Feature Reduction Techniques for Intrusion Detection on IoMT Edge Devices</a:t>
            </a:r>
          </a:p>
        </p:txBody>
      </p:sp>
      <p:sp>
        <p:nvSpPr>
          <p:cNvPr id="3" name="Subtitle 2"/>
          <p:cNvSpPr>
            <a:spLocks noGrp="1"/>
          </p:cNvSpPr>
          <p:nvPr>
            <p:ph type="subTitle" idx="1"/>
          </p:nvPr>
        </p:nvSpPr>
        <p:spPr>
          <a:xfrm>
            <a:off x="1013011" y="4870824"/>
            <a:ext cx="7504463" cy="1458258"/>
          </a:xfrm>
        </p:spPr>
        <p:txBody>
          <a:bodyPr anchor="ctr">
            <a:normAutofit fontScale="92500"/>
          </a:bodyPr>
          <a:lstStyle/>
          <a:p>
            <a:pPr algn="l"/>
            <a:r>
              <a:rPr lang="en-GB" dirty="0"/>
              <a:t>Yaoquan</a:t>
            </a:r>
            <a:r>
              <a:rPr lang="zh-CN" altLang="en-US"/>
              <a:t> </a:t>
            </a:r>
            <a:r>
              <a:rPr lang="en-US" altLang="zh-CN" dirty="0"/>
              <a:t>Ma(25298835),</a:t>
            </a:r>
            <a:r>
              <a:rPr lang="zh-CN" altLang="en-US"/>
              <a:t> </a:t>
            </a:r>
            <a:r>
              <a:rPr lang="en-US" altLang="zh-CN" dirty="0"/>
              <a:t>Wang</a:t>
            </a:r>
            <a:r>
              <a:rPr lang="zh-CN" altLang="en-US"/>
              <a:t> </a:t>
            </a:r>
            <a:r>
              <a:rPr lang="en-US" altLang="zh-CN" dirty="0"/>
              <a:t>Ning(25298832)</a:t>
            </a:r>
            <a:endParaRPr lang="en-GB" dirty="0"/>
          </a:p>
          <a:p>
            <a:pPr algn="l"/>
            <a:r>
              <a:rPr dirty="0"/>
              <a:t>Supervisor: Dr. Priyanka Verma</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3171A96-A1A3-2A51-8B86-C88C672F79CB}"/>
              </a:ext>
            </a:extLst>
          </p:cNvPr>
          <p:cNvGrpSpPr/>
          <p:nvPr/>
        </p:nvGrpSpPr>
        <p:grpSpPr>
          <a:xfrm>
            <a:off x="107878" y="124"/>
            <a:ext cx="8789541" cy="5270519"/>
            <a:chOff x="941243" y="0"/>
            <a:chExt cx="10146538" cy="6134100"/>
          </a:xfrm>
        </p:grpSpPr>
        <p:sp>
          <p:nvSpPr>
            <p:cNvPr id="6" name="矩形: 圆顶角 5">
              <a:extLst>
                <a:ext uri="{FF2B5EF4-FFF2-40B4-BE49-F238E27FC236}">
                  <a16:creationId xmlns:a16="http://schemas.microsoft.com/office/drawing/2014/main" id="{E30ED70F-7A51-CFFE-3F4D-C3B84114D341}"/>
                </a:ext>
              </a:extLst>
            </p:cNvPr>
            <p:cNvSpPr/>
            <p:nvPr/>
          </p:nvSpPr>
          <p:spPr>
            <a:xfrm rot="10800000">
              <a:off x="1970314" y="0"/>
              <a:ext cx="3194613" cy="6134100"/>
            </a:xfrm>
            <a:prstGeom prst="round2SameRect">
              <a:avLst>
                <a:gd name="adj1" fmla="val 50000"/>
                <a:gd name="adj2" fmla="val 0"/>
              </a:avLst>
            </a:prstGeom>
            <a:solidFill>
              <a:schemeClr val="tx2"/>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7" name="矩形 6">
              <a:extLst>
                <a:ext uri="{FF2B5EF4-FFF2-40B4-BE49-F238E27FC236}">
                  <a16:creationId xmlns:a16="http://schemas.microsoft.com/office/drawing/2014/main" id="{BD43C3EF-1982-67B6-C58B-205066BD38ED}"/>
                </a:ext>
              </a:extLst>
            </p:cNvPr>
            <p:cNvSpPr/>
            <p:nvPr/>
          </p:nvSpPr>
          <p:spPr>
            <a:xfrm flipH="1">
              <a:off x="941243" y="1155025"/>
              <a:ext cx="984885" cy="39069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eaVert"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CONTE</a:t>
              </a:r>
              <a:r>
                <a:rPr kumimoji="1" lang="en-US" altLang="zh-CN" sz="3600" b="1" i="0" u="none" strike="noStrike" kern="1200" cap="none" spc="0" normalizeH="0" baseline="0" noProof="0" dirty="0">
                  <a:ln>
                    <a:noFill/>
                  </a:ln>
                  <a:solidFill>
                    <a:srgbClr val="4F81BD"/>
                  </a:solidFill>
                  <a:effectLst/>
                  <a:uLnTx/>
                  <a:uFillTx/>
                  <a:latin typeface="Calibri" panose="020F0502020204030204" pitchFamily="34" charset="0"/>
                  <a:ea typeface="宋体" panose="02010600030101010101" pitchFamily="2" charset="-122"/>
                  <a:cs typeface="+mn-cs"/>
                </a:rPr>
                <a:t>NTS</a:t>
              </a:r>
            </a:p>
          </p:txBody>
        </p:sp>
        <p:grpSp>
          <p:nvGrpSpPr>
            <p:cNvPr id="13" name="组合 12">
              <a:extLst>
                <a:ext uri="{FF2B5EF4-FFF2-40B4-BE49-F238E27FC236}">
                  <a16:creationId xmlns:a16="http://schemas.microsoft.com/office/drawing/2014/main" id="{C7ED7636-9256-B1E7-D25E-679952E6E468}"/>
                </a:ext>
              </a:extLst>
            </p:cNvPr>
            <p:cNvGrpSpPr/>
            <p:nvPr/>
          </p:nvGrpSpPr>
          <p:grpSpPr>
            <a:xfrm>
              <a:off x="5593947" y="1211768"/>
              <a:ext cx="5493834" cy="556548"/>
              <a:chOff x="5858107" y="1405055"/>
              <a:chExt cx="5493834" cy="556548"/>
            </a:xfrm>
          </p:grpSpPr>
          <p:sp>
            <p:nvSpPr>
              <p:cNvPr id="11" name="矩形: 圆角 10">
                <a:extLst>
                  <a:ext uri="{FF2B5EF4-FFF2-40B4-BE49-F238E27FC236}">
                    <a16:creationId xmlns:a16="http://schemas.microsoft.com/office/drawing/2014/main" id="{85A4D9C8-0C60-077D-56A9-4B9BB01CCA60}"/>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矩形 14">
                <a:extLst>
                  <a:ext uri="{FF2B5EF4-FFF2-40B4-BE49-F238E27FC236}">
                    <a16:creationId xmlns:a16="http://schemas.microsoft.com/office/drawing/2014/main" id="{6EFCDCC0-EAEB-CF5B-9E12-0E661BA40BD2}"/>
                  </a:ext>
                </a:extLst>
              </p:cNvPr>
              <p:cNvSpPr/>
              <p:nvPr/>
            </p:nvSpPr>
            <p:spPr>
              <a:xfrm flipH="1">
                <a:off x="6432278" y="1452100"/>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Introduction</a:t>
                </a:r>
                <a:endParaRPr kumimoji="1" lang="en-US" altLang="zh-CN" sz="12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 name="矩形: 圆角 9">
                <a:extLst>
                  <a:ext uri="{FF2B5EF4-FFF2-40B4-BE49-F238E27FC236}">
                    <a16:creationId xmlns:a16="http://schemas.microsoft.com/office/drawing/2014/main" id="{0378E24B-40C1-2F7A-AC01-894008C8A76B}"/>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01</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8" name="组合 7">
              <a:extLst>
                <a:ext uri="{FF2B5EF4-FFF2-40B4-BE49-F238E27FC236}">
                  <a16:creationId xmlns:a16="http://schemas.microsoft.com/office/drawing/2014/main" id="{506E784F-30B5-4874-AB11-A10F6317DE27}"/>
                </a:ext>
              </a:extLst>
            </p:cNvPr>
            <p:cNvGrpSpPr/>
            <p:nvPr/>
          </p:nvGrpSpPr>
          <p:grpSpPr>
            <a:xfrm>
              <a:off x="5593947" y="1917367"/>
              <a:ext cx="5493834" cy="556548"/>
              <a:chOff x="5858107" y="1405055"/>
              <a:chExt cx="5493834" cy="556548"/>
            </a:xfrm>
          </p:grpSpPr>
          <p:sp>
            <p:nvSpPr>
              <p:cNvPr id="9" name="矩形: 圆角 8">
                <a:extLst>
                  <a:ext uri="{FF2B5EF4-FFF2-40B4-BE49-F238E27FC236}">
                    <a16:creationId xmlns:a16="http://schemas.microsoft.com/office/drawing/2014/main" id="{5FD17055-B31F-EE3C-C45E-D3ED56A29F50}"/>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矩形 11">
                <a:extLst>
                  <a:ext uri="{FF2B5EF4-FFF2-40B4-BE49-F238E27FC236}">
                    <a16:creationId xmlns:a16="http://schemas.microsoft.com/office/drawing/2014/main" id="{D84ED7E7-04F6-A42C-673F-FD226A4F0192}"/>
                  </a:ext>
                </a:extLst>
              </p:cNvPr>
              <p:cNvSpPr/>
              <p:nvPr/>
            </p:nvSpPr>
            <p:spPr>
              <a:xfrm flipH="1">
                <a:off x="6432278" y="1452099"/>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Related Work and Contribution</a:t>
                </a:r>
              </a:p>
            </p:txBody>
          </p:sp>
          <p:sp>
            <p:nvSpPr>
              <p:cNvPr id="14" name="矩形: 圆角 13">
                <a:extLst>
                  <a:ext uri="{FF2B5EF4-FFF2-40B4-BE49-F238E27FC236}">
                    <a16:creationId xmlns:a16="http://schemas.microsoft.com/office/drawing/2014/main" id="{E5FED77E-3B10-C1B9-7CB3-4CFB9F90B4E4}"/>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02</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23" name="组合 22">
              <a:extLst>
                <a:ext uri="{FF2B5EF4-FFF2-40B4-BE49-F238E27FC236}">
                  <a16:creationId xmlns:a16="http://schemas.microsoft.com/office/drawing/2014/main" id="{D2044433-D82D-7DA9-4CBE-850C3006835F}"/>
                </a:ext>
              </a:extLst>
            </p:cNvPr>
            <p:cNvGrpSpPr/>
            <p:nvPr/>
          </p:nvGrpSpPr>
          <p:grpSpPr>
            <a:xfrm>
              <a:off x="5593947" y="2622966"/>
              <a:ext cx="5493834" cy="556548"/>
              <a:chOff x="5858107" y="1405055"/>
              <a:chExt cx="5493834" cy="556548"/>
            </a:xfrm>
          </p:grpSpPr>
          <p:sp>
            <p:nvSpPr>
              <p:cNvPr id="29" name="矩形: 圆角 28">
                <a:extLst>
                  <a:ext uri="{FF2B5EF4-FFF2-40B4-BE49-F238E27FC236}">
                    <a16:creationId xmlns:a16="http://schemas.microsoft.com/office/drawing/2014/main" id="{16514E88-E084-4619-328D-B3BD41E3830E}"/>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0" name="矩形 29">
                <a:extLst>
                  <a:ext uri="{FF2B5EF4-FFF2-40B4-BE49-F238E27FC236}">
                    <a16:creationId xmlns:a16="http://schemas.microsoft.com/office/drawing/2014/main" id="{C19D67AC-BB2B-C673-7B85-0021F91A9EC4}"/>
                  </a:ext>
                </a:extLst>
              </p:cNvPr>
              <p:cNvSpPr/>
              <p:nvPr/>
            </p:nvSpPr>
            <p:spPr>
              <a:xfrm flipH="1">
                <a:off x="6432278" y="1452100"/>
                <a:ext cx="4695503"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System Assumptions and Proposed Approach</a:t>
                </a:r>
              </a:p>
            </p:txBody>
          </p:sp>
          <p:sp>
            <p:nvSpPr>
              <p:cNvPr id="31" name="矩形: 圆角 30">
                <a:extLst>
                  <a:ext uri="{FF2B5EF4-FFF2-40B4-BE49-F238E27FC236}">
                    <a16:creationId xmlns:a16="http://schemas.microsoft.com/office/drawing/2014/main" id="{EA8931D8-6C00-4EE4-FD49-9AFB9806B539}"/>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03</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32" name="组合 31">
              <a:extLst>
                <a:ext uri="{FF2B5EF4-FFF2-40B4-BE49-F238E27FC236}">
                  <a16:creationId xmlns:a16="http://schemas.microsoft.com/office/drawing/2014/main" id="{223C1E4C-F25A-E19D-0AB7-4BAC30773792}"/>
                </a:ext>
              </a:extLst>
            </p:cNvPr>
            <p:cNvGrpSpPr/>
            <p:nvPr/>
          </p:nvGrpSpPr>
          <p:grpSpPr>
            <a:xfrm>
              <a:off x="5593947" y="3328565"/>
              <a:ext cx="5493834" cy="556548"/>
              <a:chOff x="5858107" y="1405055"/>
              <a:chExt cx="5493834" cy="556548"/>
            </a:xfrm>
          </p:grpSpPr>
          <p:sp>
            <p:nvSpPr>
              <p:cNvPr id="33" name="矩形: 圆角 32">
                <a:extLst>
                  <a:ext uri="{FF2B5EF4-FFF2-40B4-BE49-F238E27FC236}">
                    <a16:creationId xmlns:a16="http://schemas.microsoft.com/office/drawing/2014/main" id="{0B143CE0-0322-494C-967C-3B04B5918D92}"/>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4" name="矩形 33">
                <a:extLst>
                  <a:ext uri="{FF2B5EF4-FFF2-40B4-BE49-F238E27FC236}">
                    <a16:creationId xmlns:a16="http://schemas.microsoft.com/office/drawing/2014/main" id="{83B7E7AB-B54F-B639-E739-F9A76196943E}"/>
                  </a:ext>
                </a:extLst>
              </p:cNvPr>
              <p:cNvSpPr/>
              <p:nvPr/>
            </p:nvSpPr>
            <p:spPr>
              <a:xfrm flipH="1">
                <a:off x="7376160" y="1452100"/>
                <a:ext cx="3751620"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Workflow and Technical Detail</a:t>
                </a:r>
              </a:p>
            </p:txBody>
          </p:sp>
          <p:sp>
            <p:nvSpPr>
              <p:cNvPr id="35" name="矩形: 圆角 34">
                <a:extLst>
                  <a:ext uri="{FF2B5EF4-FFF2-40B4-BE49-F238E27FC236}">
                    <a16:creationId xmlns:a16="http://schemas.microsoft.com/office/drawing/2014/main" id="{779FC0FD-D001-3088-2FBC-ECC0CC1B49BC}"/>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04</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36" name="组合 35">
              <a:extLst>
                <a:ext uri="{FF2B5EF4-FFF2-40B4-BE49-F238E27FC236}">
                  <a16:creationId xmlns:a16="http://schemas.microsoft.com/office/drawing/2014/main" id="{0C39D281-449D-7A6A-77EC-D8AC1BCD91ED}"/>
                </a:ext>
              </a:extLst>
            </p:cNvPr>
            <p:cNvGrpSpPr/>
            <p:nvPr/>
          </p:nvGrpSpPr>
          <p:grpSpPr>
            <a:xfrm>
              <a:off x="5593947" y="4034164"/>
              <a:ext cx="5493834" cy="556548"/>
              <a:chOff x="5858107" y="1405055"/>
              <a:chExt cx="5493834" cy="556548"/>
            </a:xfrm>
          </p:grpSpPr>
          <p:sp>
            <p:nvSpPr>
              <p:cNvPr id="37" name="矩形: 圆角 36">
                <a:extLst>
                  <a:ext uri="{FF2B5EF4-FFF2-40B4-BE49-F238E27FC236}">
                    <a16:creationId xmlns:a16="http://schemas.microsoft.com/office/drawing/2014/main" id="{EDEFDF4B-69DC-1DF9-BAF4-9A6447DDDA91}"/>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8" name="矩形 37">
                <a:extLst>
                  <a:ext uri="{FF2B5EF4-FFF2-40B4-BE49-F238E27FC236}">
                    <a16:creationId xmlns:a16="http://schemas.microsoft.com/office/drawing/2014/main" id="{DBCF91C1-08F2-EE50-328C-99B6561E94E6}"/>
                  </a:ext>
                </a:extLst>
              </p:cNvPr>
              <p:cNvSpPr/>
              <p:nvPr/>
            </p:nvSpPr>
            <p:spPr>
              <a:xfrm flipH="1">
                <a:off x="7376160" y="1452100"/>
                <a:ext cx="3751620"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Results</a:t>
                </a:r>
              </a:p>
            </p:txBody>
          </p:sp>
          <p:sp>
            <p:nvSpPr>
              <p:cNvPr id="39" name="矩形: 圆角 38">
                <a:extLst>
                  <a:ext uri="{FF2B5EF4-FFF2-40B4-BE49-F238E27FC236}">
                    <a16:creationId xmlns:a16="http://schemas.microsoft.com/office/drawing/2014/main" id="{931D5B0B-F2FD-90BB-C29A-299FF0EE306F}"/>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05</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40" name="组合 39">
              <a:extLst>
                <a:ext uri="{FF2B5EF4-FFF2-40B4-BE49-F238E27FC236}">
                  <a16:creationId xmlns:a16="http://schemas.microsoft.com/office/drawing/2014/main" id="{39BBAEC9-6E37-9BEA-ED89-5CDE938E5040}"/>
                </a:ext>
              </a:extLst>
            </p:cNvPr>
            <p:cNvGrpSpPr/>
            <p:nvPr/>
          </p:nvGrpSpPr>
          <p:grpSpPr>
            <a:xfrm>
              <a:off x="5593947" y="4739763"/>
              <a:ext cx="5493834" cy="556548"/>
              <a:chOff x="5858107" y="1405055"/>
              <a:chExt cx="5493834" cy="556548"/>
            </a:xfrm>
          </p:grpSpPr>
          <p:sp>
            <p:nvSpPr>
              <p:cNvPr id="41" name="矩形: 圆角 40">
                <a:extLst>
                  <a:ext uri="{FF2B5EF4-FFF2-40B4-BE49-F238E27FC236}">
                    <a16:creationId xmlns:a16="http://schemas.microsoft.com/office/drawing/2014/main" id="{92364C1C-93A1-5FC7-1C06-F57A4A950F43}"/>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42" name="矩形 41">
                <a:extLst>
                  <a:ext uri="{FF2B5EF4-FFF2-40B4-BE49-F238E27FC236}">
                    <a16:creationId xmlns:a16="http://schemas.microsoft.com/office/drawing/2014/main" id="{E6FB6974-F0F6-982E-DC5C-15D01B3970EF}"/>
                  </a:ext>
                </a:extLst>
              </p:cNvPr>
              <p:cNvSpPr/>
              <p:nvPr/>
            </p:nvSpPr>
            <p:spPr>
              <a:xfrm flipH="1">
                <a:off x="7376160" y="1469340"/>
                <a:ext cx="3751621" cy="427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zh-CN" sz="12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43" name="矩形: 圆角 42">
                <a:extLst>
                  <a:ext uri="{FF2B5EF4-FFF2-40B4-BE49-F238E27FC236}">
                    <a16:creationId xmlns:a16="http://schemas.microsoft.com/office/drawing/2014/main" id="{71980F63-318B-EC3D-D72A-1C4B67FDE8D2}"/>
                  </a:ext>
                </a:extLst>
              </p:cNvPr>
              <p:cNvSpPr/>
              <p:nvPr/>
            </p:nvSpPr>
            <p:spPr>
              <a:xfrm>
                <a:off x="6058551" y="1496466"/>
                <a:ext cx="373727" cy="373727"/>
              </a:xfrm>
              <a:prstGeom prst="roundRect">
                <a:avLst>
                  <a:gd name="adj"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06</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nvGrpSpPr>
            <p:cNvPr id="44" name="组合 43">
              <a:extLst>
                <a:ext uri="{FF2B5EF4-FFF2-40B4-BE49-F238E27FC236}">
                  <a16:creationId xmlns:a16="http://schemas.microsoft.com/office/drawing/2014/main" id="{98EDB405-6D70-CDBA-8198-5C15A24AB64C}"/>
                </a:ext>
              </a:extLst>
            </p:cNvPr>
            <p:cNvGrpSpPr/>
            <p:nvPr/>
          </p:nvGrpSpPr>
          <p:grpSpPr>
            <a:xfrm>
              <a:off x="5593947" y="5445362"/>
              <a:ext cx="5493834" cy="556548"/>
              <a:chOff x="5858107" y="1405055"/>
              <a:chExt cx="5493834" cy="556548"/>
            </a:xfrm>
          </p:grpSpPr>
          <p:sp>
            <p:nvSpPr>
              <p:cNvPr id="45" name="矩形: 圆角 44">
                <a:extLst>
                  <a:ext uri="{FF2B5EF4-FFF2-40B4-BE49-F238E27FC236}">
                    <a16:creationId xmlns:a16="http://schemas.microsoft.com/office/drawing/2014/main" id="{24D0B9E7-5787-1698-2FCA-1095F997EDF1}"/>
                  </a:ext>
                </a:extLst>
              </p:cNvPr>
              <p:cNvSpPr/>
              <p:nvPr/>
            </p:nvSpPr>
            <p:spPr>
              <a:xfrm>
                <a:off x="5858107" y="1405055"/>
                <a:ext cx="5493834" cy="556548"/>
              </a:xfrm>
              <a:prstGeom prst="roundRect">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6" name="矩形 45">
                <a:extLst>
                  <a:ext uri="{FF2B5EF4-FFF2-40B4-BE49-F238E27FC236}">
                    <a16:creationId xmlns:a16="http://schemas.microsoft.com/office/drawing/2014/main" id="{B0E3373F-3092-1D25-9BB2-C7B0951ACADC}"/>
                  </a:ext>
                </a:extLst>
              </p:cNvPr>
              <p:cNvSpPr/>
              <p:nvPr/>
            </p:nvSpPr>
            <p:spPr>
              <a:xfrm flipH="1">
                <a:off x="7376160" y="1452099"/>
                <a:ext cx="3751620" cy="445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Google Docs </a:t>
                </a:r>
                <a:r>
                  <a:rPr kumimoji="1" lang="en-US" altLang="zh-CN" sz="1600" b="1" i="0" u="none" strike="noStrike" kern="1200" cap="none" spc="0" normalizeH="0" baseline="0" noProof="0" dirty="0" err="1">
                    <a:ln>
                      <a:noFill/>
                    </a:ln>
                    <a:solidFill>
                      <a:prstClr val="black"/>
                    </a:solidFill>
                    <a:effectLst/>
                    <a:uLnTx/>
                    <a:uFillTx/>
                    <a:latin typeface="Calibri" panose="020F0502020204030204" pitchFamily="34" charset="0"/>
                    <a:ea typeface="宋体" panose="02010600030101010101" pitchFamily="2" charset="-122"/>
                    <a:cs typeface="+mn-cs"/>
                  </a:rPr>
                  <a:t>QRCode</a:t>
                </a:r>
                <a:endPar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47" name="矩形: 圆角 46">
                <a:extLst>
                  <a:ext uri="{FF2B5EF4-FFF2-40B4-BE49-F238E27FC236}">
                    <a16:creationId xmlns:a16="http://schemas.microsoft.com/office/drawing/2014/main" id="{79527044-BA81-8637-3C17-8BAAD73CAF9C}"/>
                  </a:ext>
                </a:extLst>
              </p:cNvPr>
              <p:cNvSpPr/>
              <p:nvPr/>
            </p:nvSpPr>
            <p:spPr>
              <a:xfrm>
                <a:off x="6058551" y="1496466"/>
                <a:ext cx="373727" cy="373727"/>
              </a:xfrm>
              <a:prstGeom prst="roundRect">
                <a:avLst>
                  <a:gd name="adj" fmla="val 16667"/>
                </a:avLst>
              </a:prstGeom>
              <a:solidFill>
                <a:srgbClr val="7784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rPr>
                  <a:t>07</a:t>
                </a:r>
                <a:endParaRPr kumimoji="0" lang="zh-CN" altLang="en-US" sz="1050" b="1" i="0" u="none" strike="noStrike" kern="1200" cap="none" spc="0" normalizeH="0" baseline="0" noProof="0" dirty="0">
                  <a:ln>
                    <a:noFill/>
                  </a:ln>
                  <a:solidFill>
                    <a:prstClr val="white"/>
                  </a:solidFill>
                  <a:effectLst/>
                  <a:uLnTx/>
                  <a:uFillTx/>
                  <a:latin typeface="Calibri" panose="020F0502020204030204" pitchFamily="34" charset="0"/>
                  <a:ea typeface="宋体" panose="02010600030101010101" pitchFamily="2" charset="-122"/>
                  <a:cs typeface="+mn-cs"/>
                </a:endParaRPr>
              </a:p>
            </p:txBody>
          </p:sp>
        </p:grpSp>
      </p:grpSp>
      <p:sp>
        <p:nvSpPr>
          <p:cNvPr id="17" name="矩形 16">
            <a:extLst>
              <a:ext uri="{FF2B5EF4-FFF2-40B4-BE49-F238E27FC236}">
                <a16:creationId xmlns:a16="http://schemas.microsoft.com/office/drawing/2014/main" id="{13557B4F-3E90-3DED-BB25-9A68A19563CD}"/>
              </a:ext>
            </a:extLst>
          </p:cNvPr>
          <p:cNvSpPr/>
          <p:nvPr/>
        </p:nvSpPr>
        <p:spPr>
          <a:xfrm flipH="1">
            <a:off x="5889522" y="4076559"/>
            <a:ext cx="2813716" cy="3825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7500" bIns="675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600" b="1"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rPr>
              <a:t>Conclusion and Future Work</a:t>
            </a:r>
          </a:p>
        </p:txBody>
      </p:sp>
    </p:spTree>
    <p:custDataLst>
      <p:tags r:id="rId1"/>
    </p:custDataLst>
    <p:extLst>
      <p:ext uri="{BB962C8B-B14F-4D97-AF65-F5344CB8AC3E}">
        <p14:creationId xmlns:p14="http://schemas.microsoft.com/office/powerpoint/2010/main" val="51270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图片 93">
            <a:extLst>
              <a:ext uri="{FF2B5EF4-FFF2-40B4-BE49-F238E27FC236}">
                <a16:creationId xmlns:a16="http://schemas.microsoft.com/office/drawing/2014/main" id="{94861C58-876F-227B-AB8E-5CD57DD2B59D}"/>
              </a:ext>
            </a:extLst>
          </p:cNvPr>
          <p:cNvPicPr>
            <a:picLocks noGrp="1" noRot="1" noChangeAspect="1" noMove="1" noResize="1" noEditPoints="1" noAdjustHandles="1" noChangeArrowheads="1" noChangeShapeType="1" noCrop="1"/>
          </p:cNvPicPr>
          <p:nvPr/>
        </p:nvPicPr>
        <p:blipFill>
          <a:blip r:embed="rId7"/>
          <a:stretch>
            <a:fillRect/>
          </a:stretch>
        </p:blipFill>
        <p:spPr>
          <a:xfrm>
            <a:off x="0" y="267"/>
            <a:ext cx="9144000" cy="1027698"/>
          </a:xfrm>
          <a:prstGeom prst="rect">
            <a:avLst/>
          </a:prstGeom>
        </p:spPr>
      </p:pic>
      <p:grpSp>
        <p:nvGrpSpPr>
          <p:cNvPr id="3" name="组合 2">
            <a:extLst>
              <a:ext uri="{FF2B5EF4-FFF2-40B4-BE49-F238E27FC236}">
                <a16:creationId xmlns:a16="http://schemas.microsoft.com/office/drawing/2014/main" id="{F959D373-598A-48C1-8734-BBE0C44C3E71}"/>
              </a:ext>
            </a:extLst>
          </p:cNvPr>
          <p:cNvGrpSpPr/>
          <p:nvPr/>
        </p:nvGrpSpPr>
        <p:grpSpPr>
          <a:xfrm>
            <a:off x="573950" y="1475022"/>
            <a:ext cx="3332585" cy="4519272"/>
            <a:chOff x="4120979" y="1130299"/>
            <a:chExt cx="3950043" cy="5352641"/>
          </a:xfrm>
        </p:grpSpPr>
        <p:grpSp>
          <p:nvGrpSpPr>
            <p:cNvPr id="4" name="组合 3">
              <a:extLst>
                <a:ext uri="{FF2B5EF4-FFF2-40B4-BE49-F238E27FC236}">
                  <a16:creationId xmlns:a16="http://schemas.microsoft.com/office/drawing/2014/main" id="{AFF0F03E-77E3-4293-86F9-35A6ECEF023A}"/>
                </a:ext>
              </a:extLst>
            </p:cNvPr>
            <p:cNvGrpSpPr/>
            <p:nvPr/>
          </p:nvGrpSpPr>
          <p:grpSpPr>
            <a:xfrm>
              <a:off x="4120979" y="1130299"/>
              <a:ext cx="3950043" cy="5352641"/>
              <a:chOff x="4120979" y="1130299"/>
              <a:chExt cx="3950043" cy="5352641"/>
            </a:xfrm>
          </p:grpSpPr>
          <p:sp>
            <p:nvSpPr>
              <p:cNvPr id="6" name="任意多边形: 形状 5">
                <a:extLst>
                  <a:ext uri="{FF2B5EF4-FFF2-40B4-BE49-F238E27FC236}">
                    <a16:creationId xmlns:a16="http://schemas.microsoft.com/office/drawing/2014/main" id="{074E906F-89BE-47F2-ACCB-658FA9AAEFE2}"/>
                  </a:ext>
                </a:extLst>
              </p:cNvPr>
              <p:cNvSpPr/>
              <p:nvPr/>
            </p:nvSpPr>
            <p:spPr>
              <a:xfrm>
                <a:off x="4803793" y="1130299"/>
                <a:ext cx="2578696" cy="5245938"/>
              </a:xfrm>
              <a:custGeom>
                <a:avLst/>
                <a:gdLst>
                  <a:gd name="connsiteX0" fmla="*/ 420624 w 2578696"/>
                  <a:gd name="connsiteY0" fmla="*/ 0 h 5245938"/>
                  <a:gd name="connsiteX1" fmla="*/ 2158325 w 2578696"/>
                  <a:gd name="connsiteY1" fmla="*/ 0 h 5245938"/>
                  <a:gd name="connsiteX2" fmla="*/ 2392416 w 2578696"/>
                  <a:gd name="connsiteY2" fmla="*/ 45748 h 5245938"/>
                  <a:gd name="connsiteX3" fmla="*/ 2532982 w 2578696"/>
                  <a:gd name="connsiteY3" fmla="*/ 186314 h 5245938"/>
                  <a:gd name="connsiteX4" fmla="*/ 2578730 w 2578696"/>
                  <a:gd name="connsiteY4" fmla="*/ 420406 h 5245938"/>
                  <a:gd name="connsiteX5" fmla="*/ 2578730 w 2578696"/>
                  <a:gd name="connsiteY5" fmla="*/ 4825533 h 5245938"/>
                  <a:gd name="connsiteX6" fmla="*/ 2532982 w 2578696"/>
                  <a:gd name="connsiteY6" fmla="*/ 5059625 h 5245938"/>
                  <a:gd name="connsiteX7" fmla="*/ 2392416 w 2578696"/>
                  <a:gd name="connsiteY7" fmla="*/ 5200190 h 5245938"/>
                  <a:gd name="connsiteX8" fmla="*/ 2158325 w 2578696"/>
                  <a:gd name="connsiteY8" fmla="*/ 5245939 h 5245938"/>
                  <a:gd name="connsiteX9" fmla="*/ 420624 w 2578696"/>
                  <a:gd name="connsiteY9" fmla="*/ 5245939 h 5245938"/>
                  <a:gd name="connsiteX10" fmla="*/ 186532 w 2578696"/>
                  <a:gd name="connsiteY10" fmla="*/ 5200190 h 5245938"/>
                  <a:gd name="connsiteX11" fmla="*/ 45967 w 2578696"/>
                  <a:gd name="connsiteY11" fmla="*/ 5059625 h 5245938"/>
                  <a:gd name="connsiteX12" fmla="*/ 34 w 2578696"/>
                  <a:gd name="connsiteY12" fmla="*/ 4825717 h 5245938"/>
                  <a:gd name="connsiteX13" fmla="*/ 34 w 2578696"/>
                  <a:gd name="connsiteY13" fmla="*/ 420590 h 5245938"/>
                  <a:gd name="connsiteX14" fmla="*/ 45782 w 2578696"/>
                  <a:gd name="connsiteY14" fmla="*/ 186498 h 5245938"/>
                  <a:gd name="connsiteX15" fmla="*/ 186348 w 2578696"/>
                  <a:gd name="connsiteY15" fmla="*/ 45933 h 5245938"/>
                  <a:gd name="connsiteX16" fmla="*/ 420624 w 2578696"/>
                  <a:gd name="connsiteY16" fmla="*/ 0 h 524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8696" h="5245938">
                    <a:moveTo>
                      <a:pt x="420624" y="0"/>
                    </a:moveTo>
                    <a:lnTo>
                      <a:pt x="2158325" y="0"/>
                    </a:lnTo>
                    <a:cubicBezTo>
                      <a:pt x="2267900" y="0"/>
                      <a:pt x="2328774" y="11806"/>
                      <a:pt x="2392416" y="45748"/>
                    </a:cubicBezTo>
                    <a:cubicBezTo>
                      <a:pt x="2452738" y="78031"/>
                      <a:pt x="2500884" y="126177"/>
                      <a:pt x="2532982" y="186314"/>
                    </a:cubicBezTo>
                    <a:cubicBezTo>
                      <a:pt x="2566924" y="249956"/>
                      <a:pt x="2578730" y="310831"/>
                      <a:pt x="2578730" y="420406"/>
                    </a:cubicBezTo>
                    <a:lnTo>
                      <a:pt x="2578730" y="4825533"/>
                    </a:lnTo>
                    <a:cubicBezTo>
                      <a:pt x="2578730" y="4935108"/>
                      <a:pt x="2566924" y="4995983"/>
                      <a:pt x="2532982" y="5059625"/>
                    </a:cubicBezTo>
                    <a:cubicBezTo>
                      <a:pt x="2500700" y="5119946"/>
                      <a:pt x="2452553" y="5168093"/>
                      <a:pt x="2392416" y="5200190"/>
                    </a:cubicBezTo>
                    <a:cubicBezTo>
                      <a:pt x="2328774" y="5234132"/>
                      <a:pt x="2267900" y="5245939"/>
                      <a:pt x="2158325" y="5245939"/>
                    </a:cubicBezTo>
                    <a:lnTo>
                      <a:pt x="420624" y="5245939"/>
                    </a:lnTo>
                    <a:cubicBezTo>
                      <a:pt x="311049" y="5245939"/>
                      <a:pt x="250174" y="5234132"/>
                      <a:pt x="186532" y="5200190"/>
                    </a:cubicBezTo>
                    <a:cubicBezTo>
                      <a:pt x="126211" y="5167908"/>
                      <a:pt x="78065" y="5119761"/>
                      <a:pt x="45967" y="5059625"/>
                    </a:cubicBezTo>
                    <a:cubicBezTo>
                      <a:pt x="11840" y="4996351"/>
                      <a:pt x="34" y="4935292"/>
                      <a:pt x="34" y="4825717"/>
                    </a:cubicBezTo>
                    <a:lnTo>
                      <a:pt x="34" y="420590"/>
                    </a:lnTo>
                    <a:cubicBezTo>
                      <a:pt x="34" y="311015"/>
                      <a:pt x="11840" y="250140"/>
                      <a:pt x="45782" y="186498"/>
                    </a:cubicBezTo>
                    <a:cubicBezTo>
                      <a:pt x="78065" y="126177"/>
                      <a:pt x="126211" y="78031"/>
                      <a:pt x="186348" y="45933"/>
                    </a:cubicBezTo>
                    <a:cubicBezTo>
                      <a:pt x="249990" y="11806"/>
                      <a:pt x="311049" y="0"/>
                      <a:pt x="420624" y="0"/>
                    </a:cubicBezTo>
                    <a:close/>
                  </a:path>
                </a:pathLst>
              </a:custGeom>
              <a:gradFill>
                <a:gsLst>
                  <a:gs pos="0">
                    <a:schemeClr val="tx1"/>
                  </a:gs>
                  <a:gs pos="41000">
                    <a:schemeClr val="tx1"/>
                  </a:gs>
                  <a:gs pos="6000">
                    <a:schemeClr val="tx1">
                      <a:lumMod val="75000"/>
                      <a:lumOff val="25000"/>
                    </a:schemeClr>
                  </a:gs>
                  <a:gs pos="11000">
                    <a:schemeClr val="bg1">
                      <a:lumMod val="85000"/>
                    </a:schemeClr>
                  </a:gs>
                  <a:gs pos="100000">
                    <a:schemeClr val="tx1">
                      <a:lumMod val="75000"/>
                      <a:lumOff val="25000"/>
                    </a:schemeClr>
                  </a:gs>
                  <a:gs pos="98000">
                    <a:schemeClr val="tx1">
                      <a:lumMod val="75000"/>
                      <a:lumOff val="25000"/>
                    </a:schemeClr>
                  </a:gs>
                  <a:gs pos="100000">
                    <a:schemeClr val="tx1"/>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7" name="组合 6">
                <a:extLst>
                  <a:ext uri="{FF2B5EF4-FFF2-40B4-BE49-F238E27FC236}">
                    <a16:creationId xmlns:a16="http://schemas.microsoft.com/office/drawing/2014/main" id="{34B33AC8-237D-417C-91EE-86AD51E6145C}"/>
                  </a:ext>
                </a:extLst>
              </p:cNvPr>
              <p:cNvGrpSpPr/>
              <p:nvPr/>
            </p:nvGrpSpPr>
            <p:grpSpPr>
              <a:xfrm>
                <a:off x="4822240" y="1145056"/>
                <a:ext cx="2549181" cy="5216423"/>
                <a:chOff x="4822240" y="1145056"/>
                <a:chExt cx="2549181" cy="5216423"/>
              </a:xfrm>
            </p:grpSpPr>
            <p:sp>
              <p:nvSpPr>
                <p:cNvPr id="57" name="任意多边形: 形状 56">
                  <a:extLst>
                    <a:ext uri="{FF2B5EF4-FFF2-40B4-BE49-F238E27FC236}">
                      <a16:creationId xmlns:a16="http://schemas.microsoft.com/office/drawing/2014/main" id="{80CA5B87-DD83-4D24-A9B7-3FB6013B6F09}"/>
                    </a:ext>
                  </a:extLst>
                </p:cNvPr>
                <p:cNvSpPr/>
                <p:nvPr/>
              </p:nvSpPr>
              <p:spPr>
                <a:xfrm>
                  <a:off x="4822240" y="1145056"/>
                  <a:ext cx="2549181" cy="5216423"/>
                </a:xfrm>
                <a:custGeom>
                  <a:avLst/>
                  <a:gdLst>
                    <a:gd name="connsiteX0" fmla="*/ 405866 w 2549181"/>
                    <a:gd name="connsiteY0" fmla="*/ 0 h 5216423"/>
                    <a:gd name="connsiteX1" fmla="*/ 2143567 w 2549181"/>
                    <a:gd name="connsiteY1" fmla="*/ 0 h 5216423"/>
                    <a:gd name="connsiteX2" fmla="*/ 2370649 w 2549181"/>
                    <a:gd name="connsiteY2" fmla="*/ 44088 h 5216423"/>
                    <a:gd name="connsiteX3" fmla="*/ 2505127 w 2549181"/>
                    <a:gd name="connsiteY3" fmla="*/ 178566 h 5216423"/>
                    <a:gd name="connsiteX4" fmla="*/ 2549215 w 2549181"/>
                    <a:gd name="connsiteY4" fmla="*/ 405648 h 5216423"/>
                    <a:gd name="connsiteX5" fmla="*/ 2549215 w 2549181"/>
                    <a:gd name="connsiteY5" fmla="*/ 4810775 h 5216423"/>
                    <a:gd name="connsiteX6" fmla="*/ 2505127 w 2549181"/>
                    <a:gd name="connsiteY6" fmla="*/ 5037857 h 5216423"/>
                    <a:gd name="connsiteX7" fmla="*/ 2370649 w 2549181"/>
                    <a:gd name="connsiteY7" fmla="*/ 5172335 h 5216423"/>
                    <a:gd name="connsiteX8" fmla="*/ 2143567 w 2549181"/>
                    <a:gd name="connsiteY8" fmla="*/ 5216423 h 5216423"/>
                    <a:gd name="connsiteX9" fmla="*/ 405866 w 2549181"/>
                    <a:gd name="connsiteY9" fmla="*/ 5216423 h 5216423"/>
                    <a:gd name="connsiteX10" fmla="*/ 178785 w 2549181"/>
                    <a:gd name="connsiteY10" fmla="*/ 5172335 h 5216423"/>
                    <a:gd name="connsiteX11" fmla="*/ 44307 w 2549181"/>
                    <a:gd name="connsiteY11" fmla="*/ 5037857 h 5216423"/>
                    <a:gd name="connsiteX12" fmla="*/ 34 w 2549181"/>
                    <a:gd name="connsiteY12" fmla="*/ 4810960 h 5216423"/>
                    <a:gd name="connsiteX13" fmla="*/ 34 w 2549181"/>
                    <a:gd name="connsiteY13" fmla="*/ 405832 h 5216423"/>
                    <a:gd name="connsiteX14" fmla="*/ 44122 w 2549181"/>
                    <a:gd name="connsiteY14" fmla="*/ 178751 h 5216423"/>
                    <a:gd name="connsiteX15" fmla="*/ 178600 w 2549181"/>
                    <a:gd name="connsiteY15" fmla="*/ 44273 h 5216423"/>
                    <a:gd name="connsiteX16" fmla="*/ 405866 w 2549181"/>
                    <a:gd name="connsiteY16" fmla="*/ 0 h 521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9181" h="5216423">
                      <a:moveTo>
                        <a:pt x="405866" y="0"/>
                      </a:moveTo>
                      <a:lnTo>
                        <a:pt x="2143567" y="0"/>
                      </a:lnTo>
                      <a:cubicBezTo>
                        <a:pt x="2250744" y="0"/>
                        <a:pt x="2309405" y="11253"/>
                        <a:pt x="2370649" y="44088"/>
                      </a:cubicBezTo>
                      <a:cubicBezTo>
                        <a:pt x="2428388" y="74895"/>
                        <a:pt x="2474321" y="121012"/>
                        <a:pt x="2505127" y="178566"/>
                      </a:cubicBezTo>
                      <a:cubicBezTo>
                        <a:pt x="2537963" y="239810"/>
                        <a:pt x="2549215" y="298471"/>
                        <a:pt x="2549215" y="405648"/>
                      </a:cubicBezTo>
                      <a:lnTo>
                        <a:pt x="2549215" y="4810775"/>
                      </a:lnTo>
                      <a:cubicBezTo>
                        <a:pt x="2549215" y="4917952"/>
                        <a:pt x="2537963" y="4976613"/>
                        <a:pt x="2505127" y="5037857"/>
                      </a:cubicBezTo>
                      <a:cubicBezTo>
                        <a:pt x="2474321" y="5095596"/>
                        <a:pt x="2428203" y="5141529"/>
                        <a:pt x="2370649" y="5172335"/>
                      </a:cubicBezTo>
                      <a:cubicBezTo>
                        <a:pt x="2309405" y="5205171"/>
                        <a:pt x="2250744" y="5216423"/>
                        <a:pt x="2143567" y="5216423"/>
                      </a:cubicBezTo>
                      <a:lnTo>
                        <a:pt x="405866" y="5216423"/>
                      </a:lnTo>
                      <a:cubicBezTo>
                        <a:pt x="298690" y="5216423"/>
                        <a:pt x="240029" y="5205171"/>
                        <a:pt x="178785" y="5172335"/>
                      </a:cubicBezTo>
                      <a:cubicBezTo>
                        <a:pt x="121046" y="5141529"/>
                        <a:pt x="75113" y="5095411"/>
                        <a:pt x="44307" y="5037857"/>
                      </a:cubicBezTo>
                      <a:cubicBezTo>
                        <a:pt x="11287" y="4976982"/>
                        <a:pt x="34" y="4918137"/>
                        <a:pt x="34" y="4810960"/>
                      </a:cubicBezTo>
                      <a:lnTo>
                        <a:pt x="34" y="405832"/>
                      </a:lnTo>
                      <a:cubicBezTo>
                        <a:pt x="34" y="298656"/>
                        <a:pt x="11287" y="239995"/>
                        <a:pt x="44122" y="178751"/>
                      </a:cubicBezTo>
                      <a:cubicBezTo>
                        <a:pt x="74929" y="121012"/>
                        <a:pt x="121046" y="75079"/>
                        <a:pt x="178600" y="44273"/>
                      </a:cubicBezTo>
                      <a:cubicBezTo>
                        <a:pt x="239844" y="11253"/>
                        <a:pt x="298690" y="0"/>
                        <a:pt x="405866" y="0"/>
                      </a:cubicBezTo>
                      <a:close/>
                    </a:path>
                  </a:pathLst>
                </a:custGeom>
                <a:solidFill>
                  <a:srgbClr val="C9C6C8"/>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8" name="任意多边形: 形状 57">
                  <a:extLst>
                    <a:ext uri="{FF2B5EF4-FFF2-40B4-BE49-F238E27FC236}">
                      <a16:creationId xmlns:a16="http://schemas.microsoft.com/office/drawing/2014/main" id="{613ECD89-8DE3-4806-8B38-A4339D00A14C}"/>
                    </a:ext>
                  </a:extLst>
                </p:cNvPr>
                <p:cNvSpPr/>
                <p:nvPr/>
              </p:nvSpPr>
              <p:spPr>
                <a:xfrm>
                  <a:off x="4822240" y="1145056"/>
                  <a:ext cx="2549181" cy="5216423"/>
                </a:xfrm>
                <a:custGeom>
                  <a:avLst/>
                  <a:gdLst>
                    <a:gd name="connsiteX0" fmla="*/ 405866 w 2549181"/>
                    <a:gd name="connsiteY0" fmla="*/ 0 h 5216423"/>
                    <a:gd name="connsiteX1" fmla="*/ 2143567 w 2549181"/>
                    <a:gd name="connsiteY1" fmla="*/ 0 h 5216423"/>
                    <a:gd name="connsiteX2" fmla="*/ 2370649 w 2549181"/>
                    <a:gd name="connsiteY2" fmla="*/ 44088 h 5216423"/>
                    <a:gd name="connsiteX3" fmla="*/ 2505127 w 2549181"/>
                    <a:gd name="connsiteY3" fmla="*/ 178566 h 5216423"/>
                    <a:gd name="connsiteX4" fmla="*/ 2549215 w 2549181"/>
                    <a:gd name="connsiteY4" fmla="*/ 405648 h 5216423"/>
                    <a:gd name="connsiteX5" fmla="*/ 2549215 w 2549181"/>
                    <a:gd name="connsiteY5" fmla="*/ 4810775 h 5216423"/>
                    <a:gd name="connsiteX6" fmla="*/ 2505127 w 2549181"/>
                    <a:gd name="connsiteY6" fmla="*/ 5037857 h 5216423"/>
                    <a:gd name="connsiteX7" fmla="*/ 2370649 w 2549181"/>
                    <a:gd name="connsiteY7" fmla="*/ 5172335 h 5216423"/>
                    <a:gd name="connsiteX8" fmla="*/ 2143567 w 2549181"/>
                    <a:gd name="connsiteY8" fmla="*/ 5216423 h 5216423"/>
                    <a:gd name="connsiteX9" fmla="*/ 405866 w 2549181"/>
                    <a:gd name="connsiteY9" fmla="*/ 5216423 h 5216423"/>
                    <a:gd name="connsiteX10" fmla="*/ 178785 w 2549181"/>
                    <a:gd name="connsiteY10" fmla="*/ 5172335 h 5216423"/>
                    <a:gd name="connsiteX11" fmla="*/ 44307 w 2549181"/>
                    <a:gd name="connsiteY11" fmla="*/ 5037857 h 5216423"/>
                    <a:gd name="connsiteX12" fmla="*/ 34 w 2549181"/>
                    <a:gd name="connsiteY12" fmla="*/ 4810960 h 5216423"/>
                    <a:gd name="connsiteX13" fmla="*/ 34 w 2549181"/>
                    <a:gd name="connsiteY13" fmla="*/ 405832 h 5216423"/>
                    <a:gd name="connsiteX14" fmla="*/ 44122 w 2549181"/>
                    <a:gd name="connsiteY14" fmla="*/ 178751 h 5216423"/>
                    <a:gd name="connsiteX15" fmla="*/ 178600 w 2549181"/>
                    <a:gd name="connsiteY15" fmla="*/ 44273 h 5216423"/>
                    <a:gd name="connsiteX16" fmla="*/ 405866 w 2549181"/>
                    <a:gd name="connsiteY16" fmla="*/ 0 h 521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9181" h="5216423">
                      <a:moveTo>
                        <a:pt x="405866" y="0"/>
                      </a:moveTo>
                      <a:lnTo>
                        <a:pt x="2143567" y="0"/>
                      </a:lnTo>
                      <a:cubicBezTo>
                        <a:pt x="2250744" y="0"/>
                        <a:pt x="2309405" y="11253"/>
                        <a:pt x="2370649" y="44088"/>
                      </a:cubicBezTo>
                      <a:cubicBezTo>
                        <a:pt x="2428388" y="74895"/>
                        <a:pt x="2474321" y="121012"/>
                        <a:pt x="2505127" y="178566"/>
                      </a:cubicBezTo>
                      <a:cubicBezTo>
                        <a:pt x="2537963" y="239810"/>
                        <a:pt x="2549215" y="298471"/>
                        <a:pt x="2549215" y="405648"/>
                      </a:cubicBezTo>
                      <a:lnTo>
                        <a:pt x="2549215" y="4810775"/>
                      </a:lnTo>
                      <a:cubicBezTo>
                        <a:pt x="2549215" y="4917952"/>
                        <a:pt x="2537963" y="4976613"/>
                        <a:pt x="2505127" y="5037857"/>
                      </a:cubicBezTo>
                      <a:cubicBezTo>
                        <a:pt x="2474321" y="5095596"/>
                        <a:pt x="2428203" y="5141529"/>
                        <a:pt x="2370649" y="5172335"/>
                      </a:cubicBezTo>
                      <a:cubicBezTo>
                        <a:pt x="2309405" y="5205171"/>
                        <a:pt x="2250744" y="5216423"/>
                        <a:pt x="2143567" y="5216423"/>
                      </a:cubicBezTo>
                      <a:lnTo>
                        <a:pt x="405866" y="5216423"/>
                      </a:lnTo>
                      <a:cubicBezTo>
                        <a:pt x="298690" y="5216423"/>
                        <a:pt x="240029" y="5205171"/>
                        <a:pt x="178785" y="5172335"/>
                      </a:cubicBezTo>
                      <a:cubicBezTo>
                        <a:pt x="121046" y="5141529"/>
                        <a:pt x="75113" y="5095411"/>
                        <a:pt x="44307" y="5037857"/>
                      </a:cubicBezTo>
                      <a:cubicBezTo>
                        <a:pt x="11287" y="4976982"/>
                        <a:pt x="34" y="4918137"/>
                        <a:pt x="34" y="4810960"/>
                      </a:cubicBezTo>
                      <a:lnTo>
                        <a:pt x="34" y="405832"/>
                      </a:lnTo>
                      <a:cubicBezTo>
                        <a:pt x="34" y="298656"/>
                        <a:pt x="11287" y="239995"/>
                        <a:pt x="44122" y="178751"/>
                      </a:cubicBezTo>
                      <a:cubicBezTo>
                        <a:pt x="74929" y="121012"/>
                        <a:pt x="121046" y="75079"/>
                        <a:pt x="178600" y="44273"/>
                      </a:cubicBezTo>
                      <a:cubicBezTo>
                        <a:pt x="239844" y="11253"/>
                        <a:pt x="298690" y="0"/>
                        <a:pt x="405866" y="0"/>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8" name="任意多边形: 形状 7">
                <a:extLst>
                  <a:ext uri="{FF2B5EF4-FFF2-40B4-BE49-F238E27FC236}">
                    <a16:creationId xmlns:a16="http://schemas.microsoft.com/office/drawing/2014/main" id="{88ACF6E1-EA6A-4937-A390-22C58C1F3355}"/>
                  </a:ext>
                </a:extLst>
              </p:cNvPr>
              <p:cNvSpPr/>
              <p:nvPr/>
            </p:nvSpPr>
            <p:spPr>
              <a:xfrm>
                <a:off x="4811171" y="1169037"/>
                <a:ext cx="2571501" cy="5161266"/>
              </a:xfrm>
              <a:custGeom>
                <a:avLst/>
                <a:gdLst>
                  <a:gd name="connsiteX0" fmla="*/ 409371 w 2571501"/>
                  <a:gd name="connsiteY0" fmla="*/ 0 h 5161266"/>
                  <a:gd name="connsiteX1" fmla="*/ 2162199 w 2571501"/>
                  <a:gd name="connsiteY1" fmla="*/ 0 h 5161266"/>
                  <a:gd name="connsiteX2" fmla="*/ 2391310 w 2571501"/>
                  <a:gd name="connsiteY2" fmla="*/ 43535 h 5161266"/>
                  <a:gd name="connsiteX3" fmla="*/ 2527079 w 2571501"/>
                  <a:gd name="connsiteY3" fmla="*/ 176722 h 5161266"/>
                  <a:gd name="connsiteX4" fmla="*/ 2571536 w 2571501"/>
                  <a:gd name="connsiteY4" fmla="*/ 401405 h 5161266"/>
                  <a:gd name="connsiteX5" fmla="*/ 2571536 w 2571501"/>
                  <a:gd name="connsiteY5" fmla="*/ 4759862 h 5161266"/>
                  <a:gd name="connsiteX6" fmla="*/ 2527079 w 2571501"/>
                  <a:gd name="connsiteY6" fmla="*/ 4984546 h 5161266"/>
                  <a:gd name="connsiteX7" fmla="*/ 2391310 w 2571501"/>
                  <a:gd name="connsiteY7" fmla="*/ 5117732 h 5161266"/>
                  <a:gd name="connsiteX8" fmla="*/ 2162199 w 2571501"/>
                  <a:gd name="connsiteY8" fmla="*/ 5161267 h 5161266"/>
                  <a:gd name="connsiteX9" fmla="*/ 409371 w 2571501"/>
                  <a:gd name="connsiteY9" fmla="*/ 5161267 h 5161266"/>
                  <a:gd name="connsiteX10" fmla="*/ 180260 w 2571501"/>
                  <a:gd name="connsiteY10" fmla="*/ 5117732 h 5161266"/>
                  <a:gd name="connsiteX11" fmla="*/ 44491 w 2571501"/>
                  <a:gd name="connsiteY11" fmla="*/ 4984546 h 5161266"/>
                  <a:gd name="connsiteX12" fmla="*/ 34 w 2571501"/>
                  <a:gd name="connsiteY12" fmla="*/ 4759862 h 5161266"/>
                  <a:gd name="connsiteX13" fmla="*/ 34 w 2571501"/>
                  <a:gd name="connsiteY13" fmla="*/ 401590 h 5161266"/>
                  <a:gd name="connsiteX14" fmla="*/ 44491 w 2571501"/>
                  <a:gd name="connsiteY14" fmla="*/ 176906 h 5161266"/>
                  <a:gd name="connsiteX15" fmla="*/ 180260 w 2571501"/>
                  <a:gd name="connsiteY15" fmla="*/ 43719 h 5161266"/>
                  <a:gd name="connsiteX16" fmla="*/ 409371 w 2571501"/>
                  <a:gd name="connsiteY16" fmla="*/ 0 h 516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1501" h="5161266">
                    <a:moveTo>
                      <a:pt x="409371" y="0"/>
                    </a:moveTo>
                    <a:lnTo>
                      <a:pt x="2162199" y="0"/>
                    </a:lnTo>
                    <a:cubicBezTo>
                      <a:pt x="2270298" y="0"/>
                      <a:pt x="2329512" y="11253"/>
                      <a:pt x="2391310" y="43535"/>
                    </a:cubicBezTo>
                    <a:cubicBezTo>
                      <a:pt x="2449417" y="73972"/>
                      <a:pt x="2495904" y="119536"/>
                      <a:pt x="2527079" y="176722"/>
                    </a:cubicBezTo>
                    <a:cubicBezTo>
                      <a:pt x="2560099" y="237228"/>
                      <a:pt x="2571536" y="295335"/>
                      <a:pt x="2571536" y="401405"/>
                    </a:cubicBezTo>
                    <a:lnTo>
                      <a:pt x="2571536" y="4759862"/>
                    </a:lnTo>
                    <a:cubicBezTo>
                      <a:pt x="2571536" y="4865932"/>
                      <a:pt x="2560099" y="4924040"/>
                      <a:pt x="2527079" y="4984546"/>
                    </a:cubicBezTo>
                    <a:cubicBezTo>
                      <a:pt x="2495904" y="5041546"/>
                      <a:pt x="2449602" y="5087110"/>
                      <a:pt x="2391310" y="5117732"/>
                    </a:cubicBezTo>
                    <a:cubicBezTo>
                      <a:pt x="2329512" y="5150199"/>
                      <a:pt x="2270298" y="5161267"/>
                      <a:pt x="2162199" y="5161267"/>
                    </a:cubicBezTo>
                    <a:lnTo>
                      <a:pt x="409371" y="5161267"/>
                    </a:lnTo>
                    <a:cubicBezTo>
                      <a:pt x="301272" y="5161267"/>
                      <a:pt x="242058" y="5150014"/>
                      <a:pt x="180260" y="5117732"/>
                    </a:cubicBezTo>
                    <a:cubicBezTo>
                      <a:pt x="122153" y="5087295"/>
                      <a:pt x="75666" y="5041731"/>
                      <a:pt x="44491" y="4984546"/>
                    </a:cubicBezTo>
                    <a:cubicBezTo>
                      <a:pt x="11471" y="4924040"/>
                      <a:pt x="34" y="4865932"/>
                      <a:pt x="34" y="4759862"/>
                    </a:cubicBezTo>
                    <a:lnTo>
                      <a:pt x="34" y="401590"/>
                    </a:lnTo>
                    <a:cubicBezTo>
                      <a:pt x="34" y="295520"/>
                      <a:pt x="11471" y="237412"/>
                      <a:pt x="44491" y="176906"/>
                    </a:cubicBezTo>
                    <a:cubicBezTo>
                      <a:pt x="75666" y="119905"/>
                      <a:pt x="121968" y="74341"/>
                      <a:pt x="180260" y="43719"/>
                    </a:cubicBezTo>
                    <a:cubicBezTo>
                      <a:pt x="242058" y="11253"/>
                      <a:pt x="301272" y="0"/>
                      <a:pt x="409371"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9" name="任意多边形: 形状 8">
                <a:extLst>
                  <a:ext uri="{FF2B5EF4-FFF2-40B4-BE49-F238E27FC236}">
                    <a16:creationId xmlns:a16="http://schemas.microsoft.com/office/drawing/2014/main" id="{C2B0EAD2-F75E-4A81-AF3A-FF21EECAF667}"/>
                  </a:ext>
                </a:extLst>
              </p:cNvPr>
              <p:cNvSpPr/>
              <p:nvPr/>
            </p:nvSpPr>
            <p:spPr>
              <a:xfrm>
                <a:off x="4811171" y="1169037"/>
                <a:ext cx="2571501" cy="5161266"/>
              </a:xfrm>
              <a:custGeom>
                <a:avLst/>
                <a:gdLst>
                  <a:gd name="connsiteX0" fmla="*/ 409371 w 2571501"/>
                  <a:gd name="connsiteY0" fmla="*/ 0 h 5161266"/>
                  <a:gd name="connsiteX1" fmla="*/ 2162199 w 2571501"/>
                  <a:gd name="connsiteY1" fmla="*/ 0 h 5161266"/>
                  <a:gd name="connsiteX2" fmla="*/ 2391310 w 2571501"/>
                  <a:gd name="connsiteY2" fmla="*/ 43535 h 5161266"/>
                  <a:gd name="connsiteX3" fmla="*/ 2527079 w 2571501"/>
                  <a:gd name="connsiteY3" fmla="*/ 176722 h 5161266"/>
                  <a:gd name="connsiteX4" fmla="*/ 2571536 w 2571501"/>
                  <a:gd name="connsiteY4" fmla="*/ 401405 h 5161266"/>
                  <a:gd name="connsiteX5" fmla="*/ 2571536 w 2571501"/>
                  <a:gd name="connsiteY5" fmla="*/ 4759862 h 5161266"/>
                  <a:gd name="connsiteX6" fmla="*/ 2527079 w 2571501"/>
                  <a:gd name="connsiteY6" fmla="*/ 4984546 h 5161266"/>
                  <a:gd name="connsiteX7" fmla="*/ 2391310 w 2571501"/>
                  <a:gd name="connsiteY7" fmla="*/ 5117732 h 5161266"/>
                  <a:gd name="connsiteX8" fmla="*/ 2162199 w 2571501"/>
                  <a:gd name="connsiteY8" fmla="*/ 5161267 h 5161266"/>
                  <a:gd name="connsiteX9" fmla="*/ 409371 w 2571501"/>
                  <a:gd name="connsiteY9" fmla="*/ 5161267 h 5161266"/>
                  <a:gd name="connsiteX10" fmla="*/ 180260 w 2571501"/>
                  <a:gd name="connsiteY10" fmla="*/ 5117732 h 5161266"/>
                  <a:gd name="connsiteX11" fmla="*/ 44491 w 2571501"/>
                  <a:gd name="connsiteY11" fmla="*/ 4984546 h 5161266"/>
                  <a:gd name="connsiteX12" fmla="*/ 34 w 2571501"/>
                  <a:gd name="connsiteY12" fmla="*/ 4759862 h 5161266"/>
                  <a:gd name="connsiteX13" fmla="*/ 34 w 2571501"/>
                  <a:gd name="connsiteY13" fmla="*/ 401590 h 5161266"/>
                  <a:gd name="connsiteX14" fmla="*/ 44491 w 2571501"/>
                  <a:gd name="connsiteY14" fmla="*/ 176906 h 5161266"/>
                  <a:gd name="connsiteX15" fmla="*/ 180260 w 2571501"/>
                  <a:gd name="connsiteY15" fmla="*/ 43719 h 5161266"/>
                  <a:gd name="connsiteX16" fmla="*/ 409371 w 2571501"/>
                  <a:gd name="connsiteY16" fmla="*/ 0 h 5161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1501" h="5161266">
                    <a:moveTo>
                      <a:pt x="409371" y="0"/>
                    </a:moveTo>
                    <a:lnTo>
                      <a:pt x="2162199" y="0"/>
                    </a:lnTo>
                    <a:cubicBezTo>
                      <a:pt x="2270298" y="0"/>
                      <a:pt x="2329512" y="11253"/>
                      <a:pt x="2391310" y="43535"/>
                    </a:cubicBezTo>
                    <a:cubicBezTo>
                      <a:pt x="2449417" y="73972"/>
                      <a:pt x="2495904" y="119536"/>
                      <a:pt x="2527079" y="176722"/>
                    </a:cubicBezTo>
                    <a:cubicBezTo>
                      <a:pt x="2560099" y="237228"/>
                      <a:pt x="2571536" y="295335"/>
                      <a:pt x="2571536" y="401405"/>
                    </a:cubicBezTo>
                    <a:lnTo>
                      <a:pt x="2571536" y="4759862"/>
                    </a:lnTo>
                    <a:cubicBezTo>
                      <a:pt x="2571536" y="4865932"/>
                      <a:pt x="2560099" y="4924040"/>
                      <a:pt x="2527079" y="4984546"/>
                    </a:cubicBezTo>
                    <a:cubicBezTo>
                      <a:pt x="2495904" y="5041546"/>
                      <a:pt x="2449602" y="5087110"/>
                      <a:pt x="2391310" y="5117732"/>
                    </a:cubicBezTo>
                    <a:cubicBezTo>
                      <a:pt x="2329512" y="5150199"/>
                      <a:pt x="2270298" y="5161267"/>
                      <a:pt x="2162199" y="5161267"/>
                    </a:cubicBezTo>
                    <a:lnTo>
                      <a:pt x="409371" y="5161267"/>
                    </a:lnTo>
                    <a:cubicBezTo>
                      <a:pt x="301272" y="5161267"/>
                      <a:pt x="242058" y="5150014"/>
                      <a:pt x="180260" y="5117732"/>
                    </a:cubicBezTo>
                    <a:cubicBezTo>
                      <a:pt x="122153" y="5087295"/>
                      <a:pt x="75666" y="5041731"/>
                      <a:pt x="44491" y="4984546"/>
                    </a:cubicBezTo>
                    <a:cubicBezTo>
                      <a:pt x="11471" y="4924040"/>
                      <a:pt x="34" y="4865932"/>
                      <a:pt x="34" y="4759862"/>
                    </a:cubicBezTo>
                    <a:lnTo>
                      <a:pt x="34" y="401590"/>
                    </a:lnTo>
                    <a:cubicBezTo>
                      <a:pt x="34" y="295520"/>
                      <a:pt x="11471" y="237412"/>
                      <a:pt x="44491" y="176906"/>
                    </a:cubicBezTo>
                    <a:cubicBezTo>
                      <a:pt x="75666" y="119905"/>
                      <a:pt x="121968" y="74341"/>
                      <a:pt x="180260" y="43719"/>
                    </a:cubicBezTo>
                    <a:cubicBezTo>
                      <a:pt x="242058" y="11253"/>
                      <a:pt x="301272" y="0"/>
                      <a:pt x="409371"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0" name="组合 9">
                <a:extLst>
                  <a:ext uri="{FF2B5EF4-FFF2-40B4-BE49-F238E27FC236}">
                    <a16:creationId xmlns:a16="http://schemas.microsoft.com/office/drawing/2014/main" id="{59136174-B445-470F-9C40-3DD6F606E027}"/>
                  </a:ext>
                </a:extLst>
              </p:cNvPr>
              <p:cNvGrpSpPr/>
              <p:nvPr/>
            </p:nvGrpSpPr>
            <p:grpSpPr>
              <a:xfrm>
                <a:off x="4853599" y="1159814"/>
                <a:ext cx="2479082" cy="5187092"/>
                <a:chOff x="4853599" y="1159814"/>
                <a:chExt cx="2479082" cy="5187092"/>
              </a:xfrm>
              <a:solidFill>
                <a:srgbClr val="FFFFFF"/>
              </a:solidFill>
            </p:grpSpPr>
            <p:sp>
              <p:nvSpPr>
                <p:cNvPr id="55" name="任意多边形: 形状 54">
                  <a:extLst>
                    <a:ext uri="{FF2B5EF4-FFF2-40B4-BE49-F238E27FC236}">
                      <a16:creationId xmlns:a16="http://schemas.microsoft.com/office/drawing/2014/main" id="{C1138F80-70B7-4023-BD8A-868E7CD5FD8F}"/>
                    </a:ext>
                  </a:extLst>
                </p:cNvPr>
                <p:cNvSpPr/>
                <p:nvPr/>
              </p:nvSpPr>
              <p:spPr>
                <a:xfrm>
                  <a:off x="4853599" y="1159814"/>
                  <a:ext cx="2479082" cy="5187092"/>
                </a:xfrm>
                <a:custGeom>
                  <a:avLst/>
                  <a:gdLst>
                    <a:gd name="connsiteX0" fmla="*/ 394614 w 2479082"/>
                    <a:gd name="connsiteY0" fmla="*/ 0 h 5187092"/>
                    <a:gd name="connsiteX1" fmla="*/ 2084537 w 2479082"/>
                    <a:gd name="connsiteY1" fmla="*/ 0 h 5187092"/>
                    <a:gd name="connsiteX2" fmla="*/ 2305531 w 2479082"/>
                    <a:gd name="connsiteY2" fmla="*/ 43904 h 5187092"/>
                    <a:gd name="connsiteX3" fmla="*/ 2436320 w 2479082"/>
                    <a:gd name="connsiteY3" fmla="*/ 177644 h 5187092"/>
                    <a:gd name="connsiteX4" fmla="*/ 2479117 w 2479082"/>
                    <a:gd name="connsiteY4" fmla="*/ 403434 h 5187092"/>
                    <a:gd name="connsiteX5" fmla="*/ 2479117 w 2479082"/>
                    <a:gd name="connsiteY5" fmla="*/ 4783658 h 5187092"/>
                    <a:gd name="connsiteX6" fmla="*/ 2436320 w 2479082"/>
                    <a:gd name="connsiteY6" fmla="*/ 5009449 h 5187092"/>
                    <a:gd name="connsiteX7" fmla="*/ 2305531 w 2479082"/>
                    <a:gd name="connsiteY7" fmla="*/ 5143189 h 5187092"/>
                    <a:gd name="connsiteX8" fmla="*/ 2084537 w 2479082"/>
                    <a:gd name="connsiteY8" fmla="*/ 5187093 h 5187092"/>
                    <a:gd name="connsiteX9" fmla="*/ 394614 w 2479082"/>
                    <a:gd name="connsiteY9" fmla="*/ 5187093 h 5187092"/>
                    <a:gd name="connsiteX10" fmla="*/ 173620 w 2479082"/>
                    <a:gd name="connsiteY10" fmla="*/ 5143189 h 5187092"/>
                    <a:gd name="connsiteX11" fmla="*/ 42831 w 2479082"/>
                    <a:gd name="connsiteY11" fmla="*/ 5009449 h 5187092"/>
                    <a:gd name="connsiteX12" fmla="*/ 34 w 2479082"/>
                    <a:gd name="connsiteY12" fmla="*/ 4783843 h 5187092"/>
                    <a:gd name="connsiteX13" fmla="*/ 34 w 2479082"/>
                    <a:gd name="connsiteY13" fmla="*/ 403434 h 5187092"/>
                    <a:gd name="connsiteX14" fmla="*/ 42831 w 2479082"/>
                    <a:gd name="connsiteY14" fmla="*/ 177644 h 5187092"/>
                    <a:gd name="connsiteX15" fmla="*/ 173620 w 2479082"/>
                    <a:gd name="connsiteY15" fmla="*/ 43904 h 5187092"/>
                    <a:gd name="connsiteX16" fmla="*/ 394614 w 2479082"/>
                    <a:gd name="connsiteY16" fmla="*/ 0 h 518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9082" h="5187092">
                      <a:moveTo>
                        <a:pt x="394614" y="0"/>
                      </a:moveTo>
                      <a:lnTo>
                        <a:pt x="2084537" y="0"/>
                      </a:lnTo>
                      <a:cubicBezTo>
                        <a:pt x="2188762" y="0"/>
                        <a:pt x="2245948" y="11253"/>
                        <a:pt x="2305531" y="43904"/>
                      </a:cubicBezTo>
                      <a:cubicBezTo>
                        <a:pt x="2361610" y="74526"/>
                        <a:pt x="2406436" y="120274"/>
                        <a:pt x="2436320" y="177644"/>
                      </a:cubicBezTo>
                      <a:cubicBezTo>
                        <a:pt x="2468233" y="238519"/>
                        <a:pt x="2479117" y="296996"/>
                        <a:pt x="2479117" y="403434"/>
                      </a:cubicBezTo>
                      <a:lnTo>
                        <a:pt x="2479117" y="4783658"/>
                      </a:lnTo>
                      <a:cubicBezTo>
                        <a:pt x="2479117" y="4890282"/>
                        <a:pt x="2468049" y="4948574"/>
                        <a:pt x="2436320" y="5009449"/>
                      </a:cubicBezTo>
                      <a:cubicBezTo>
                        <a:pt x="2406252" y="5066819"/>
                        <a:pt x="2361610" y="5112567"/>
                        <a:pt x="2305531" y="5143189"/>
                      </a:cubicBezTo>
                      <a:cubicBezTo>
                        <a:pt x="2245948" y="5175840"/>
                        <a:pt x="2188947" y="5187093"/>
                        <a:pt x="2084537" y="5187093"/>
                      </a:cubicBezTo>
                      <a:lnTo>
                        <a:pt x="394614" y="5187093"/>
                      </a:lnTo>
                      <a:cubicBezTo>
                        <a:pt x="290389" y="5187093"/>
                        <a:pt x="233203" y="5175840"/>
                        <a:pt x="173620" y="5143189"/>
                      </a:cubicBezTo>
                      <a:cubicBezTo>
                        <a:pt x="117541" y="5112567"/>
                        <a:pt x="72715" y="5066819"/>
                        <a:pt x="42831" y="5009449"/>
                      </a:cubicBezTo>
                      <a:cubicBezTo>
                        <a:pt x="11102" y="4948758"/>
                        <a:pt x="34" y="4890282"/>
                        <a:pt x="34" y="4783843"/>
                      </a:cubicBezTo>
                      <a:lnTo>
                        <a:pt x="34" y="403434"/>
                      </a:lnTo>
                      <a:cubicBezTo>
                        <a:pt x="34" y="296811"/>
                        <a:pt x="11102" y="238519"/>
                        <a:pt x="42831" y="177644"/>
                      </a:cubicBezTo>
                      <a:cubicBezTo>
                        <a:pt x="72899" y="120274"/>
                        <a:pt x="117541" y="74526"/>
                        <a:pt x="173620" y="43904"/>
                      </a:cubicBezTo>
                      <a:cubicBezTo>
                        <a:pt x="233388" y="11253"/>
                        <a:pt x="290389" y="0"/>
                        <a:pt x="394614"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6" name="任意多边形: 形状 55">
                  <a:extLst>
                    <a:ext uri="{FF2B5EF4-FFF2-40B4-BE49-F238E27FC236}">
                      <a16:creationId xmlns:a16="http://schemas.microsoft.com/office/drawing/2014/main" id="{54F06A1D-D915-4D9D-AE50-A33362445CD7}"/>
                    </a:ext>
                  </a:extLst>
                </p:cNvPr>
                <p:cNvSpPr/>
                <p:nvPr/>
              </p:nvSpPr>
              <p:spPr>
                <a:xfrm>
                  <a:off x="4853599" y="1159814"/>
                  <a:ext cx="2479082" cy="5187092"/>
                </a:xfrm>
                <a:custGeom>
                  <a:avLst/>
                  <a:gdLst>
                    <a:gd name="connsiteX0" fmla="*/ 394614 w 2479082"/>
                    <a:gd name="connsiteY0" fmla="*/ 0 h 5187092"/>
                    <a:gd name="connsiteX1" fmla="*/ 2084537 w 2479082"/>
                    <a:gd name="connsiteY1" fmla="*/ 0 h 5187092"/>
                    <a:gd name="connsiteX2" fmla="*/ 2305531 w 2479082"/>
                    <a:gd name="connsiteY2" fmla="*/ 43904 h 5187092"/>
                    <a:gd name="connsiteX3" fmla="*/ 2436320 w 2479082"/>
                    <a:gd name="connsiteY3" fmla="*/ 177644 h 5187092"/>
                    <a:gd name="connsiteX4" fmla="*/ 2479117 w 2479082"/>
                    <a:gd name="connsiteY4" fmla="*/ 403434 h 5187092"/>
                    <a:gd name="connsiteX5" fmla="*/ 2479117 w 2479082"/>
                    <a:gd name="connsiteY5" fmla="*/ 4783658 h 5187092"/>
                    <a:gd name="connsiteX6" fmla="*/ 2436320 w 2479082"/>
                    <a:gd name="connsiteY6" fmla="*/ 5009449 h 5187092"/>
                    <a:gd name="connsiteX7" fmla="*/ 2305531 w 2479082"/>
                    <a:gd name="connsiteY7" fmla="*/ 5143189 h 5187092"/>
                    <a:gd name="connsiteX8" fmla="*/ 2084537 w 2479082"/>
                    <a:gd name="connsiteY8" fmla="*/ 5187093 h 5187092"/>
                    <a:gd name="connsiteX9" fmla="*/ 394614 w 2479082"/>
                    <a:gd name="connsiteY9" fmla="*/ 5187093 h 5187092"/>
                    <a:gd name="connsiteX10" fmla="*/ 173620 w 2479082"/>
                    <a:gd name="connsiteY10" fmla="*/ 5143189 h 5187092"/>
                    <a:gd name="connsiteX11" fmla="*/ 42831 w 2479082"/>
                    <a:gd name="connsiteY11" fmla="*/ 5009449 h 5187092"/>
                    <a:gd name="connsiteX12" fmla="*/ 34 w 2479082"/>
                    <a:gd name="connsiteY12" fmla="*/ 4783843 h 5187092"/>
                    <a:gd name="connsiteX13" fmla="*/ 34 w 2479082"/>
                    <a:gd name="connsiteY13" fmla="*/ 403434 h 5187092"/>
                    <a:gd name="connsiteX14" fmla="*/ 42831 w 2479082"/>
                    <a:gd name="connsiteY14" fmla="*/ 177644 h 5187092"/>
                    <a:gd name="connsiteX15" fmla="*/ 173620 w 2479082"/>
                    <a:gd name="connsiteY15" fmla="*/ 43904 h 5187092"/>
                    <a:gd name="connsiteX16" fmla="*/ 394614 w 2479082"/>
                    <a:gd name="connsiteY16" fmla="*/ 0 h 518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9082" h="5187092">
                      <a:moveTo>
                        <a:pt x="394614" y="0"/>
                      </a:moveTo>
                      <a:lnTo>
                        <a:pt x="2084537" y="0"/>
                      </a:lnTo>
                      <a:cubicBezTo>
                        <a:pt x="2188762" y="0"/>
                        <a:pt x="2245948" y="11253"/>
                        <a:pt x="2305531" y="43904"/>
                      </a:cubicBezTo>
                      <a:cubicBezTo>
                        <a:pt x="2361610" y="74526"/>
                        <a:pt x="2406436" y="120274"/>
                        <a:pt x="2436320" y="177644"/>
                      </a:cubicBezTo>
                      <a:cubicBezTo>
                        <a:pt x="2468233" y="238519"/>
                        <a:pt x="2479117" y="296996"/>
                        <a:pt x="2479117" y="403434"/>
                      </a:cubicBezTo>
                      <a:lnTo>
                        <a:pt x="2479117" y="4783658"/>
                      </a:lnTo>
                      <a:cubicBezTo>
                        <a:pt x="2479117" y="4890282"/>
                        <a:pt x="2468049" y="4948574"/>
                        <a:pt x="2436320" y="5009449"/>
                      </a:cubicBezTo>
                      <a:cubicBezTo>
                        <a:pt x="2406252" y="5066819"/>
                        <a:pt x="2361610" y="5112567"/>
                        <a:pt x="2305531" y="5143189"/>
                      </a:cubicBezTo>
                      <a:cubicBezTo>
                        <a:pt x="2245948" y="5175840"/>
                        <a:pt x="2188947" y="5187093"/>
                        <a:pt x="2084537" y="5187093"/>
                      </a:cubicBezTo>
                      <a:lnTo>
                        <a:pt x="394614" y="5187093"/>
                      </a:lnTo>
                      <a:cubicBezTo>
                        <a:pt x="290389" y="5187093"/>
                        <a:pt x="233203" y="5175840"/>
                        <a:pt x="173620" y="5143189"/>
                      </a:cubicBezTo>
                      <a:cubicBezTo>
                        <a:pt x="117541" y="5112567"/>
                        <a:pt x="72715" y="5066819"/>
                        <a:pt x="42831" y="5009449"/>
                      </a:cubicBezTo>
                      <a:cubicBezTo>
                        <a:pt x="11102" y="4948758"/>
                        <a:pt x="34" y="4890282"/>
                        <a:pt x="34" y="4783843"/>
                      </a:cubicBezTo>
                      <a:lnTo>
                        <a:pt x="34" y="403434"/>
                      </a:lnTo>
                      <a:cubicBezTo>
                        <a:pt x="34" y="296811"/>
                        <a:pt x="11102" y="238519"/>
                        <a:pt x="42831" y="177644"/>
                      </a:cubicBezTo>
                      <a:cubicBezTo>
                        <a:pt x="72899" y="120274"/>
                        <a:pt x="117541" y="74526"/>
                        <a:pt x="173620" y="43904"/>
                      </a:cubicBezTo>
                      <a:cubicBezTo>
                        <a:pt x="233388" y="11253"/>
                        <a:pt x="290389" y="0"/>
                        <a:pt x="394614" y="0"/>
                      </a:cubicBezTo>
                      <a:close/>
                    </a:path>
                  </a:pathLst>
                </a:custGeom>
                <a:solidFill>
                  <a:srgbClr val="FFFFFF"/>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1" name="任意多边形: 形状 10">
                <a:extLst>
                  <a:ext uri="{FF2B5EF4-FFF2-40B4-BE49-F238E27FC236}">
                    <a16:creationId xmlns:a16="http://schemas.microsoft.com/office/drawing/2014/main" id="{259C8FF8-F94F-47E8-800A-8122BDC8CB18}"/>
                  </a:ext>
                </a:extLst>
              </p:cNvPr>
              <p:cNvSpPr/>
              <p:nvPr/>
            </p:nvSpPr>
            <p:spPr>
              <a:xfrm>
                <a:off x="4843454" y="1171804"/>
                <a:ext cx="2506937" cy="5163295"/>
              </a:xfrm>
              <a:custGeom>
                <a:avLst/>
                <a:gdLst>
                  <a:gd name="connsiteX0" fmla="*/ 2127887 w 2506937"/>
                  <a:gd name="connsiteY0" fmla="*/ 0 h 5163295"/>
                  <a:gd name="connsiteX1" fmla="*/ 2342425 w 2506937"/>
                  <a:gd name="connsiteY1" fmla="*/ 40952 h 5163295"/>
                  <a:gd name="connsiteX2" fmla="*/ 2466020 w 2506937"/>
                  <a:gd name="connsiteY2" fmla="*/ 164547 h 5163295"/>
                  <a:gd name="connsiteX3" fmla="*/ 2506972 w 2506937"/>
                  <a:gd name="connsiteY3" fmla="*/ 379084 h 5163295"/>
                  <a:gd name="connsiteX4" fmla="*/ 2506972 w 2506937"/>
                  <a:gd name="connsiteY4" fmla="*/ 379084 h 5163295"/>
                  <a:gd name="connsiteX5" fmla="*/ 2506972 w 2506937"/>
                  <a:gd name="connsiteY5" fmla="*/ 4784212 h 5163295"/>
                  <a:gd name="connsiteX6" fmla="*/ 2466020 w 2506937"/>
                  <a:gd name="connsiteY6" fmla="*/ 4998750 h 5163295"/>
                  <a:gd name="connsiteX7" fmla="*/ 2342425 w 2506937"/>
                  <a:gd name="connsiteY7" fmla="*/ 5122344 h 5163295"/>
                  <a:gd name="connsiteX8" fmla="*/ 2127887 w 2506937"/>
                  <a:gd name="connsiteY8" fmla="*/ 5163296 h 5163295"/>
                  <a:gd name="connsiteX9" fmla="*/ 2127887 w 2506937"/>
                  <a:gd name="connsiteY9" fmla="*/ 5163296 h 5163295"/>
                  <a:gd name="connsiteX10" fmla="*/ 379118 w 2506937"/>
                  <a:gd name="connsiteY10" fmla="*/ 5163296 h 5163295"/>
                  <a:gd name="connsiteX11" fmla="*/ 164581 w 2506937"/>
                  <a:gd name="connsiteY11" fmla="*/ 5122344 h 5163295"/>
                  <a:gd name="connsiteX12" fmla="*/ 40986 w 2506937"/>
                  <a:gd name="connsiteY12" fmla="*/ 4998750 h 5163295"/>
                  <a:gd name="connsiteX13" fmla="*/ 34 w 2506937"/>
                  <a:gd name="connsiteY13" fmla="*/ 4784212 h 5163295"/>
                  <a:gd name="connsiteX14" fmla="*/ 34 w 2506937"/>
                  <a:gd name="connsiteY14" fmla="*/ 4784212 h 5163295"/>
                  <a:gd name="connsiteX15" fmla="*/ 34 w 2506937"/>
                  <a:gd name="connsiteY15" fmla="*/ 379084 h 5163295"/>
                  <a:gd name="connsiteX16" fmla="*/ 40986 w 2506937"/>
                  <a:gd name="connsiteY16" fmla="*/ 164547 h 5163295"/>
                  <a:gd name="connsiteX17" fmla="*/ 164581 w 2506937"/>
                  <a:gd name="connsiteY17" fmla="*/ 40952 h 5163295"/>
                  <a:gd name="connsiteX18" fmla="*/ 379118 w 2506937"/>
                  <a:gd name="connsiteY18" fmla="*/ 0 h 5163295"/>
                  <a:gd name="connsiteX19" fmla="*/ 379118 w 2506937"/>
                  <a:gd name="connsiteY19" fmla="*/ 0 h 5163295"/>
                  <a:gd name="connsiteX20" fmla="*/ 2127887 w 2506937"/>
                  <a:gd name="connsiteY20" fmla="*/ 0 h 516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06937" h="5163295">
                    <a:moveTo>
                      <a:pt x="2127887" y="0"/>
                    </a:moveTo>
                    <a:cubicBezTo>
                      <a:pt x="2230821" y="0"/>
                      <a:pt x="2285424" y="10515"/>
                      <a:pt x="2342425" y="40952"/>
                    </a:cubicBezTo>
                    <a:cubicBezTo>
                      <a:pt x="2395368" y="69360"/>
                      <a:pt x="2437611" y="111604"/>
                      <a:pt x="2466020" y="164547"/>
                    </a:cubicBezTo>
                    <a:cubicBezTo>
                      <a:pt x="2496457" y="221548"/>
                      <a:pt x="2506972" y="276151"/>
                      <a:pt x="2506972" y="379084"/>
                    </a:cubicBezTo>
                    <a:lnTo>
                      <a:pt x="2506972" y="379084"/>
                    </a:lnTo>
                    <a:lnTo>
                      <a:pt x="2506972" y="4784212"/>
                    </a:lnTo>
                    <a:cubicBezTo>
                      <a:pt x="2506972" y="4887146"/>
                      <a:pt x="2496457" y="4941748"/>
                      <a:pt x="2466020" y="4998750"/>
                    </a:cubicBezTo>
                    <a:cubicBezTo>
                      <a:pt x="2437611" y="5051692"/>
                      <a:pt x="2395368" y="5093936"/>
                      <a:pt x="2342425" y="5122344"/>
                    </a:cubicBezTo>
                    <a:cubicBezTo>
                      <a:pt x="2285424" y="5152782"/>
                      <a:pt x="2230821" y="5163296"/>
                      <a:pt x="2127887" y="5163296"/>
                    </a:cubicBezTo>
                    <a:lnTo>
                      <a:pt x="2127887" y="5163296"/>
                    </a:lnTo>
                    <a:lnTo>
                      <a:pt x="379118" y="5163296"/>
                    </a:lnTo>
                    <a:cubicBezTo>
                      <a:pt x="276185" y="5163296"/>
                      <a:pt x="221582" y="5152782"/>
                      <a:pt x="164581" y="5122344"/>
                    </a:cubicBezTo>
                    <a:cubicBezTo>
                      <a:pt x="111638" y="5093936"/>
                      <a:pt x="69394" y="5051692"/>
                      <a:pt x="40986" y="4998750"/>
                    </a:cubicBezTo>
                    <a:cubicBezTo>
                      <a:pt x="10549" y="4941748"/>
                      <a:pt x="34" y="4887146"/>
                      <a:pt x="34" y="4784212"/>
                    </a:cubicBezTo>
                    <a:lnTo>
                      <a:pt x="34" y="4784212"/>
                    </a:lnTo>
                    <a:lnTo>
                      <a:pt x="34" y="379084"/>
                    </a:lnTo>
                    <a:cubicBezTo>
                      <a:pt x="34" y="276151"/>
                      <a:pt x="10549" y="221548"/>
                      <a:pt x="40986" y="164547"/>
                    </a:cubicBezTo>
                    <a:cubicBezTo>
                      <a:pt x="69394" y="111604"/>
                      <a:pt x="111638" y="69360"/>
                      <a:pt x="164581" y="40952"/>
                    </a:cubicBezTo>
                    <a:cubicBezTo>
                      <a:pt x="221582" y="10515"/>
                      <a:pt x="276185" y="0"/>
                      <a:pt x="379118" y="0"/>
                    </a:cubicBezTo>
                    <a:lnTo>
                      <a:pt x="379118" y="0"/>
                    </a:lnTo>
                    <a:lnTo>
                      <a:pt x="2127887" y="0"/>
                    </a:lnTo>
                    <a:close/>
                  </a:path>
                </a:pathLst>
              </a:custGeom>
              <a:solidFill>
                <a:srgbClr val="5F5F5F"/>
              </a:solidFill>
              <a:ln w="5521" cap="flat">
                <a:solidFill>
                  <a:srgbClr val="000000"/>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2" name="组合 11">
                <a:extLst>
                  <a:ext uri="{FF2B5EF4-FFF2-40B4-BE49-F238E27FC236}">
                    <a16:creationId xmlns:a16="http://schemas.microsoft.com/office/drawing/2014/main" id="{2849B62E-738B-455F-B882-4DA474D81C50}"/>
                  </a:ext>
                </a:extLst>
              </p:cNvPr>
              <p:cNvGrpSpPr/>
              <p:nvPr/>
            </p:nvGrpSpPr>
            <p:grpSpPr>
              <a:xfrm>
                <a:off x="4868357" y="1196707"/>
                <a:ext cx="2457130" cy="5113489"/>
                <a:chOff x="4868357" y="1196707"/>
                <a:chExt cx="2457130" cy="5113489"/>
              </a:xfrm>
            </p:grpSpPr>
            <p:sp>
              <p:nvSpPr>
                <p:cNvPr id="53" name="任意多边形: 形状 52">
                  <a:extLst>
                    <a:ext uri="{FF2B5EF4-FFF2-40B4-BE49-F238E27FC236}">
                      <a16:creationId xmlns:a16="http://schemas.microsoft.com/office/drawing/2014/main" id="{ED76AC60-D8B5-4CE0-93F0-8B3BDBE2B4A0}"/>
                    </a:ext>
                  </a:extLst>
                </p:cNvPr>
                <p:cNvSpPr/>
                <p:nvPr/>
              </p:nvSpPr>
              <p:spPr>
                <a:xfrm>
                  <a:off x="4868357" y="1196707"/>
                  <a:ext cx="2457130" cy="5113489"/>
                </a:xfrm>
                <a:custGeom>
                  <a:avLst/>
                  <a:gdLst>
                    <a:gd name="connsiteX0" fmla="*/ 355875 w 2457130"/>
                    <a:gd name="connsiteY0" fmla="*/ 0 h 5113489"/>
                    <a:gd name="connsiteX1" fmla="*/ 2101508 w 2457130"/>
                    <a:gd name="connsiteY1" fmla="*/ 0 h 5113489"/>
                    <a:gd name="connsiteX2" fmla="*/ 2305162 w 2457130"/>
                    <a:gd name="connsiteY2" fmla="*/ 38001 h 5113489"/>
                    <a:gd name="connsiteX3" fmla="*/ 2418980 w 2457130"/>
                    <a:gd name="connsiteY3" fmla="*/ 151449 h 5113489"/>
                    <a:gd name="connsiteX4" fmla="*/ 2457165 w 2457130"/>
                    <a:gd name="connsiteY4" fmla="*/ 354181 h 5113489"/>
                    <a:gd name="connsiteX5" fmla="*/ 2457165 w 2457130"/>
                    <a:gd name="connsiteY5" fmla="*/ 4759308 h 5113489"/>
                    <a:gd name="connsiteX6" fmla="*/ 2418980 w 2457130"/>
                    <a:gd name="connsiteY6" fmla="*/ 4962040 h 5113489"/>
                    <a:gd name="connsiteX7" fmla="*/ 2305162 w 2457130"/>
                    <a:gd name="connsiteY7" fmla="*/ 5075489 h 5113489"/>
                    <a:gd name="connsiteX8" fmla="*/ 2101508 w 2457130"/>
                    <a:gd name="connsiteY8" fmla="*/ 5113489 h 5113489"/>
                    <a:gd name="connsiteX9" fmla="*/ 355875 w 2457130"/>
                    <a:gd name="connsiteY9" fmla="*/ 5113489 h 5113489"/>
                    <a:gd name="connsiteX10" fmla="*/ 152221 w 2457130"/>
                    <a:gd name="connsiteY10" fmla="*/ 5075489 h 5113489"/>
                    <a:gd name="connsiteX11" fmla="*/ 38404 w 2457130"/>
                    <a:gd name="connsiteY11" fmla="*/ 4962040 h 5113489"/>
                    <a:gd name="connsiteX12" fmla="*/ 34 w 2457130"/>
                    <a:gd name="connsiteY12" fmla="*/ 4759308 h 5113489"/>
                    <a:gd name="connsiteX13" fmla="*/ 34 w 2457130"/>
                    <a:gd name="connsiteY13" fmla="*/ 354181 h 5113489"/>
                    <a:gd name="connsiteX14" fmla="*/ 38219 w 2457130"/>
                    <a:gd name="connsiteY14" fmla="*/ 151449 h 5113489"/>
                    <a:gd name="connsiteX15" fmla="*/ 152037 w 2457130"/>
                    <a:gd name="connsiteY15" fmla="*/ 38001 h 5113489"/>
                    <a:gd name="connsiteX16" fmla="*/ 355875 w 2457130"/>
                    <a:gd name="connsiteY16" fmla="*/ 0 h 511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7130" h="5113489">
                      <a:moveTo>
                        <a:pt x="355875" y="0"/>
                      </a:moveTo>
                      <a:lnTo>
                        <a:pt x="2101508" y="0"/>
                      </a:lnTo>
                      <a:cubicBezTo>
                        <a:pt x="2200199" y="0"/>
                        <a:pt x="2251482" y="9408"/>
                        <a:pt x="2305162" y="38001"/>
                      </a:cubicBezTo>
                      <a:cubicBezTo>
                        <a:pt x="2354047" y="64011"/>
                        <a:pt x="2392970" y="102749"/>
                        <a:pt x="2418980" y="151449"/>
                      </a:cubicBezTo>
                      <a:cubicBezTo>
                        <a:pt x="2447757" y="204945"/>
                        <a:pt x="2457165" y="256043"/>
                        <a:pt x="2457165" y="354181"/>
                      </a:cubicBezTo>
                      <a:lnTo>
                        <a:pt x="2457165" y="4759308"/>
                      </a:lnTo>
                      <a:cubicBezTo>
                        <a:pt x="2457165" y="4857631"/>
                        <a:pt x="2447757" y="4908729"/>
                        <a:pt x="2418980" y="4962040"/>
                      </a:cubicBezTo>
                      <a:cubicBezTo>
                        <a:pt x="2392785" y="5010740"/>
                        <a:pt x="2354047" y="5049294"/>
                        <a:pt x="2305162" y="5075489"/>
                      </a:cubicBezTo>
                      <a:cubicBezTo>
                        <a:pt x="2251482" y="5104081"/>
                        <a:pt x="2200199" y="5113489"/>
                        <a:pt x="2101508" y="5113489"/>
                      </a:cubicBezTo>
                      <a:lnTo>
                        <a:pt x="355875" y="5113489"/>
                      </a:lnTo>
                      <a:cubicBezTo>
                        <a:pt x="257184" y="5113489"/>
                        <a:pt x="205902" y="5104081"/>
                        <a:pt x="152221" y="5075489"/>
                      </a:cubicBezTo>
                      <a:cubicBezTo>
                        <a:pt x="103337" y="5049479"/>
                        <a:pt x="64414" y="5010740"/>
                        <a:pt x="38404" y="4962040"/>
                      </a:cubicBezTo>
                      <a:cubicBezTo>
                        <a:pt x="9442" y="4908729"/>
                        <a:pt x="34" y="4857631"/>
                        <a:pt x="34" y="4759308"/>
                      </a:cubicBezTo>
                      <a:lnTo>
                        <a:pt x="34" y="354181"/>
                      </a:lnTo>
                      <a:cubicBezTo>
                        <a:pt x="34" y="255859"/>
                        <a:pt x="9442" y="204761"/>
                        <a:pt x="38219" y="151449"/>
                      </a:cubicBezTo>
                      <a:cubicBezTo>
                        <a:pt x="64414" y="102749"/>
                        <a:pt x="103152" y="64195"/>
                        <a:pt x="152037" y="38001"/>
                      </a:cubicBezTo>
                      <a:cubicBezTo>
                        <a:pt x="205717" y="9408"/>
                        <a:pt x="257000" y="0"/>
                        <a:pt x="355875"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4" name="任意多边形: 形状 53">
                  <a:extLst>
                    <a:ext uri="{FF2B5EF4-FFF2-40B4-BE49-F238E27FC236}">
                      <a16:creationId xmlns:a16="http://schemas.microsoft.com/office/drawing/2014/main" id="{4A457F1F-1DD7-4670-97C7-AAE4A791CC5D}"/>
                    </a:ext>
                  </a:extLst>
                </p:cNvPr>
                <p:cNvSpPr/>
                <p:nvPr/>
              </p:nvSpPr>
              <p:spPr>
                <a:xfrm>
                  <a:off x="4868357" y="1196707"/>
                  <a:ext cx="2457130" cy="5113489"/>
                </a:xfrm>
                <a:custGeom>
                  <a:avLst/>
                  <a:gdLst>
                    <a:gd name="connsiteX0" fmla="*/ 355875 w 2457130"/>
                    <a:gd name="connsiteY0" fmla="*/ 0 h 5113489"/>
                    <a:gd name="connsiteX1" fmla="*/ 2101508 w 2457130"/>
                    <a:gd name="connsiteY1" fmla="*/ 0 h 5113489"/>
                    <a:gd name="connsiteX2" fmla="*/ 2305162 w 2457130"/>
                    <a:gd name="connsiteY2" fmla="*/ 38001 h 5113489"/>
                    <a:gd name="connsiteX3" fmla="*/ 2418980 w 2457130"/>
                    <a:gd name="connsiteY3" fmla="*/ 151449 h 5113489"/>
                    <a:gd name="connsiteX4" fmla="*/ 2457165 w 2457130"/>
                    <a:gd name="connsiteY4" fmla="*/ 354181 h 5113489"/>
                    <a:gd name="connsiteX5" fmla="*/ 2457165 w 2457130"/>
                    <a:gd name="connsiteY5" fmla="*/ 4759308 h 5113489"/>
                    <a:gd name="connsiteX6" fmla="*/ 2418980 w 2457130"/>
                    <a:gd name="connsiteY6" fmla="*/ 4962040 h 5113489"/>
                    <a:gd name="connsiteX7" fmla="*/ 2305162 w 2457130"/>
                    <a:gd name="connsiteY7" fmla="*/ 5075489 h 5113489"/>
                    <a:gd name="connsiteX8" fmla="*/ 2101508 w 2457130"/>
                    <a:gd name="connsiteY8" fmla="*/ 5113489 h 5113489"/>
                    <a:gd name="connsiteX9" fmla="*/ 355875 w 2457130"/>
                    <a:gd name="connsiteY9" fmla="*/ 5113489 h 5113489"/>
                    <a:gd name="connsiteX10" fmla="*/ 152221 w 2457130"/>
                    <a:gd name="connsiteY10" fmla="*/ 5075489 h 5113489"/>
                    <a:gd name="connsiteX11" fmla="*/ 38404 w 2457130"/>
                    <a:gd name="connsiteY11" fmla="*/ 4962040 h 5113489"/>
                    <a:gd name="connsiteX12" fmla="*/ 34 w 2457130"/>
                    <a:gd name="connsiteY12" fmla="*/ 4759308 h 5113489"/>
                    <a:gd name="connsiteX13" fmla="*/ 34 w 2457130"/>
                    <a:gd name="connsiteY13" fmla="*/ 354181 h 5113489"/>
                    <a:gd name="connsiteX14" fmla="*/ 38219 w 2457130"/>
                    <a:gd name="connsiteY14" fmla="*/ 151449 h 5113489"/>
                    <a:gd name="connsiteX15" fmla="*/ 152037 w 2457130"/>
                    <a:gd name="connsiteY15" fmla="*/ 38001 h 5113489"/>
                    <a:gd name="connsiteX16" fmla="*/ 355875 w 2457130"/>
                    <a:gd name="connsiteY16" fmla="*/ 0 h 511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7130" h="5113489">
                      <a:moveTo>
                        <a:pt x="355875" y="0"/>
                      </a:moveTo>
                      <a:lnTo>
                        <a:pt x="2101508" y="0"/>
                      </a:lnTo>
                      <a:cubicBezTo>
                        <a:pt x="2200199" y="0"/>
                        <a:pt x="2251482" y="9408"/>
                        <a:pt x="2305162" y="38001"/>
                      </a:cubicBezTo>
                      <a:cubicBezTo>
                        <a:pt x="2354047" y="64011"/>
                        <a:pt x="2392970" y="102749"/>
                        <a:pt x="2418980" y="151449"/>
                      </a:cubicBezTo>
                      <a:cubicBezTo>
                        <a:pt x="2447757" y="204945"/>
                        <a:pt x="2457165" y="256043"/>
                        <a:pt x="2457165" y="354181"/>
                      </a:cubicBezTo>
                      <a:lnTo>
                        <a:pt x="2457165" y="4759308"/>
                      </a:lnTo>
                      <a:cubicBezTo>
                        <a:pt x="2457165" y="4857631"/>
                        <a:pt x="2447757" y="4908729"/>
                        <a:pt x="2418980" y="4962040"/>
                      </a:cubicBezTo>
                      <a:cubicBezTo>
                        <a:pt x="2392785" y="5010740"/>
                        <a:pt x="2354047" y="5049294"/>
                        <a:pt x="2305162" y="5075489"/>
                      </a:cubicBezTo>
                      <a:cubicBezTo>
                        <a:pt x="2251482" y="5104081"/>
                        <a:pt x="2200199" y="5113489"/>
                        <a:pt x="2101508" y="5113489"/>
                      </a:cubicBezTo>
                      <a:lnTo>
                        <a:pt x="355875" y="5113489"/>
                      </a:lnTo>
                      <a:cubicBezTo>
                        <a:pt x="257184" y="5113489"/>
                        <a:pt x="205902" y="5104081"/>
                        <a:pt x="152221" y="5075489"/>
                      </a:cubicBezTo>
                      <a:cubicBezTo>
                        <a:pt x="103337" y="5049479"/>
                        <a:pt x="64414" y="5010740"/>
                        <a:pt x="38404" y="4962040"/>
                      </a:cubicBezTo>
                      <a:cubicBezTo>
                        <a:pt x="9442" y="4908729"/>
                        <a:pt x="34" y="4857631"/>
                        <a:pt x="34" y="4759308"/>
                      </a:cubicBezTo>
                      <a:lnTo>
                        <a:pt x="34" y="354181"/>
                      </a:lnTo>
                      <a:cubicBezTo>
                        <a:pt x="34" y="255859"/>
                        <a:pt x="9442" y="204761"/>
                        <a:pt x="38219" y="151449"/>
                      </a:cubicBezTo>
                      <a:cubicBezTo>
                        <a:pt x="64414" y="102749"/>
                        <a:pt x="103152" y="64195"/>
                        <a:pt x="152037" y="38001"/>
                      </a:cubicBezTo>
                      <a:cubicBezTo>
                        <a:pt x="205717" y="9408"/>
                        <a:pt x="257000" y="0"/>
                        <a:pt x="355875" y="0"/>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3" name="任意多边形: 形状 12">
                <a:extLst>
                  <a:ext uri="{FF2B5EF4-FFF2-40B4-BE49-F238E27FC236}">
                    <a16:creationId xmlns:a16="http://schemas.microsoft.com/office/drawing/2014/main" id="{7A9A7C5F-930E-4E24-A1FA-48A5840CD439}"/>
                  </a:ext>
                </a:extLst>
              </p:cNvPr>
              <p:cNvSpPr/>
              <p:nvPr/>
            </p:nvSpPr>
            <p:spPr>
              <a:xfrm>
                <a:off x="4907095" y="1229912"/>
                <a:ext cx="2379838" cy="5047449"/>
              </a:xfrm>
              <a:custGeom>
                <a:avLst/>
                <a:gdLst>
                  <a:gd name="connsiteX0" fmla="*/ 321011 w 2379838"/>
                  <a:gd name="connsiteY0" fmla="*/ 0 h 5047449"/>
                  <a:gd name="connsiteX1" fmla="*/ 2058711 w 2379838"/>
                  <a:gd name="connsiteY1" fmla="*/ 0 h 5047449"/>
                  <a:gd name="connsiteX2" fmla="*/ 2245948 w 2379838"/>
                  <a:gd name="connsiteY2" fmla="*/ 34127 h 5047449"/>
                  <a:gd name="connsiteX3" fmla="*/ 2345746 w 2379838"/>
                  <a:gd name="connsiteY3" fmla="*/ 133925 h 5047449"/>
                  <a:gd name="connsiteX4" fmla="*/ 2379872 w 2379838"/>
                  <a:gd name="connsiteY4" fmla="*/ 321161 h 5047449"/>
                  <a:gd name="connsiteX5" fmla="*/ 2379872 w 2379838"/>
                  <a:gd name="connsiteY5" fmla="*/ 4726289 h 5047449"/>
                  <a:gd name="connsiteX6" fmla="*/ 2345746 w 2379838"/>
                  <a:gd name="connsiteY6" fmla="*/ 4913525 h 5047449"/>
                  <a:gd name="connsiteX7" fmla="*/ 2245948 w 2379838"/>
                  <a:gd name="connsiteY7" fmla="*/ 5013323 h 5047449"/>
                  <a:gd name="connsiteX8" fmla="*/ 2058711 w 2379838"/>
                  <a:gd name="connsiteY8" fmla="*/ 5047449 h 5047449"/>
                  <a:gd name="connsiteX9" fmla="*/ 321011 w 2379838"/>
                  <a:gd name="connsiteY9" fmla="*/ 5047449 h 5047449"/>
                  <a:gd name="connsiteX10" fmla="*/ 133774 w 2379838"/>
                  <a:gd name="connsiteY10" fmla="*/ 5013323 h 5047449"/>
                  <a:gd name="connsiteX11" fmla="*/ 33976 w 2379838"/>
                  <a:gd name="connsiteY11" fmla="*/ 4913525 h 5047449"/>
                  <a:gd name="connsiteX12" fmla="*/ 34 w 2379838"/>
                  <a:gd name="connsiteY12" fmla="*/ 4726104 h 5047449"/>
                  <a:gd name="connsiteX13" fmla="*/ 34 w 2379838"/>
                  <a:gd name="connsiteY13" fmla="*/ 320977 h 5047449"/>
                  <a:gd name="connsiteX14" fmla="*/ 34161 w 2379838"/>
                  <a:gd name="connsiteY14" fmla="*/ 133740 h 5047449"/>
                  <a:gd name="connsiteX15" fmla="*/ 133959 w 2379838"/>
                  <a:gd name="connsiteY15" fmla="*/ 33942 h 5047449"/>
                  <a:gd name="connsiteX16" fmla="*/ 321011 w 2379838"/>
                  <a:gd name="connsiteY16" fmla="*/ 0 h 504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79838" h="5047449">
                    <a:moveTo>
                      <a:pt x="321011" y="0"/>
                    </a:moveTo>
                    <a:lnTo>
                      <a:pt x="2058711" y="0"/>
                    </a:lnTo>
                    <a:cubicBezTo>
                      <a:pt x="2153160" y="0"/>
                      <a:pt x="2198539" y="8855"/>
                      <a:pt x="2245948" y="34127"/>
                    </a:cubicBezTo>
                    <a:cubicBezTo>
                      <a:pt x="2288744" y="57001"/>
                      <a:pt x="2322687" y="90943"/>
                      <a:pt x="2345746" y="133925"/>
                    </a:cubicBezTo>
                    <a:cubicBezTo>
                      <a:pt x="2371018" y="181149"/>
                      <a:pt x="2379872" y="226713"/>
                      <a:pt x="2379872" y="321161"/>
                    </a:cubicBezTo>
                    <a:lnTo>
                      <a:pt x="2379872" y="4726289"/>
                    </a:lnTo>
                    <a:cubicBezTo>
                      <a:pt x="2379872" y="4820737"/>
                      <a:pt x="2371018" y="4866116"/>
                      <a:pt x="2345746" y="4913525"/>
                    </a:cubicBezTo>
                    <a:cubicBezTo>
                      <a:pt x="2322871" y="4956322"/>
                      <a:pt x="2288929" y="4990264"/>
                      <a:pt x="2245948" y="5013323"/>
                    </a:cubicBezTo>
                    <a:cubicBezTo>
                      <a:pt x="2198724" y="5038595"/>
                      <a:pt x="2153160" y="5047449"/>
                      <a:pt x="2058711" y="5047449"/>
                    </a:cubicBezTo>
                    <a:lnTo>
                      <a:pt x="321011" y="5047449"/>
                    </a:lnTo>
                    <a:cubicBezTo>
                      <a:pt x="226562" y="5047449"/>
                      <a:pt x="181183" y="5038595"/>
                      <a:pt x="133774" y="5013323"/>
                    </a:cubicBezTo>
                    <a:cubicBezTo>
                      <a:pt x="90977" y="4990449"/>
                      <a:pt x="57035" y="4956506"/>
                      <a:pt x="33976" y="4913525"/>
                    </a:cubicBezTo>
                    <a:cubicBezTo>
                      <a:pt x="8889" y="4865932"/>
                      <a:pt x="34" y="4820552"/>
                      <a:pt x="34" y="4726104"/>
                    </a:cubicBezTo>
                    <a:lnTo>
                      <a:pt x="34" y="320977"/>
                    </a:lnTo>
                    <a:cubicBezTo>
                      <a:pt x="34" y="226528"/>
                      <a:pt x="8889" y="181149"/>
                      <a:pt x="34161" y="133740"/>
                    </a:cubicBezTo>
                    <a:cubicBezTo>
                      <a:pt x="57035" y="90943"/>
                      <a:pt x="90977" y="57001"/>
                      <a:pt x="133959" y="33942"/>
                    </a:cubicBezTo>
                    <a:cubicBezTo>
                      <a:pt x="181183" y="8855"/>
                      <a:pt x="226562" y="0"/>
                      <a:pt x="321011" y="0"/>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4" name="组合 13">
                <a:extLst>
                  <a:ext uri="{FF2B5EF4-FFF2-40B4-BE49-F238E27FC236}">
                    <a16:creationId xmlns:a16="http://schemas.microsoft.com/office/drawing/2014/main" id="{8E550FD1-E9D5-47D1-99BC-648DDDE2C863}"/>
                  </a:ext>
                </a:extLst>
              </p:cNvPr>
              <p:cNvGrpSpPr/>
              <p:nvPr/>
            </p:nvGrpSpPr>
            <p:grpSpPr>
              <a:xfrm>
                <a:off x="4868357" y="1235423"/>
                <a:ext cx="2457112" cy="5037740"/>
                <a:chOff x="4868357" y="1235423"/>
                <a:chExt cx="2457112" cy="5037740"/>
              </a:xfrm>
            </p:grpSpPr>
            <p:grpSp>
              <p:nvGrpSpPr>
                <p:cNvPr id="47" name="组合 46">
                  <a:extLst>
                    <a:ext uri="{FF2B5EF4-FFF2-40B4-BE49-F238E27FC236}">
                      <a16:creationId xmlns:a16="http://schemas.microsoft.com/office/drawing/2014/main" id="{4F8455DB-98DC-4F99-A89E-EBB8CB140E98}"/>
                    </a:ext>
                  </a:extLst>
                </p:cNvPr>
                <p:cNvGrpSpPr/>
                <p:nvPr/>
              </p:nvGrpSpPr>
              <p:grpSpPr>
                <a:xfrm>
                  <a:off x="4868357" y="1235423"/>
                  <a:ext cx="152368" cy="5037740"/>
                  <a:chOff x="4868357" y="1235423"/>
                  <a:chExt cx="152368" cy="5037740"/>
                </a:xfrm>
              </p:grpSpPr>
              <p:sp>
                <p:nvSpPr>
                  <p:cNvPr id="51" name="任意多边形: 形状 50">
                    <a:extLst>
                      <a:ext uri="{FF2B5EF4-FFF2-40B4-BE49-F238E27FC236}">
                        <a16:creationId xmlns:a16="http://schemas.microsoft.com/office/drawing/2014/main" id="{DA9663A3-FCB4-4951-84AE-BC0BC5176AF7}"/>
                      </a:ext>
                    </a:extLst>
                  </p:cNvPr>
                  <p:cNvSpPr/>
                  <p:nvPr/>
                </p:nvSpPr>
                <p:spPr>
                  <a:xfrm>
                    <a:off x="4868357" y="1235423"/>
                    <a:ext cx="152368" cy="5037740"/>
                  </a:xfrm>
                  <a:custGeom>
                    <a:avLst/>
                    <a:gdLst>
                      <a:gd name="connsiteX0" fmla="*/ 152072 w 152368"/>
                      <a:gd name="connsiteY0" fmla="*/ 5037753 h 5037740"/>
                      <a:gd name="connsiteX1" fmla="*/ 38254 w 152368"/>
                      <a:gd name="connsiteY1" fmla="*/ 4924304 h 5037740"/>
                      <a:gd name="connsiteX2" fmla="*/ 69 w 152368"/>
                      <a:gd name="connsiteY2" fmla="*/ 4721573 h 5037740"/>
                      <a:gd name="connsiteX3" fmla="*/ 69 w 152368"/>
                      <a:gd name="connsiteY3" fmla="*/ 316445 h 5037740"/>
                      <a:gd name="connsiteX4" fmla="*/ 38254 w 152368"/>
                      <a:gd name="connsiteY4" fmla="*/ 113714 h 5037740"/>
                      <a:gd name="connsiteX5" fmla="*/ 152072 w 152368"/>
                      <a:gd name="connsiteY5" fmla="*/ 265 h 5037740"/>
                      <a:gd name="connsiteX6" fmla="*/ 36409 w 152368"/>
                      <a:gd name="connsiteY6" fmla="*/ 297998 h 5037740"/>
                      <a:gd name="connsiteX7" fmla="*/ 36409 w 152368"/>
                      <a:gd name="connsiteY7" fmla="*/ 4740020 h 5037740"/>
                      <a:gd name="connsiteX8" fmla="*/ 152072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72" y="5037753"/>
                        </a:moveTo>
                        <a:cubicBezTo>
                          <a:pt x="103187" y="5011743"/>
                          <a:pt x="64264" y="4973004"/>
                          <a:pt x="38254" y="4924304"/>
                        </a:cubicBezTo>
                        <a:cubicBezTo>
                          <a:pt x="9477" y="4870808"/>
                          <a:pt x="69" y="4819710"/>
                          <a:pt x="69" y="4721573"/>
                        </a:cubicBezTo>
                        <a:lnTo>
                          <a:pt x="69" y="316445"/>
                        </a:lnTo>
                        <a:cubicBezTo>
                          <a:pt x="69" y="218123"/>
                          <a:pt x="9477" y="167025"/>
                          <a:pt x="38254" y="113714"/>
                        </a:cubicBezTo>
                        <a:cubicBezTo>
                          <a:pt x="64449" y="65014"/>
                          <a:pt x="103187" y="26275"/>
                          <a:pt x="152072" y="265"/>
                        </a:cubicBezTo>
                        <a:cubicBezTo>
                          <a:pt x="160004" y="-3978"/>
                          <a:pt x="36409" y="55421"/>
                          <a:pt x="36409" y="297998"/>
                        </a:cubicBezTo>
                        <a:cubicBezTo>
                          <a:pt x="36409" y="1076274"/>
                          <a:pt x="36409" y="3508871"/>
                          <a:pt x="36409" y="4740020"/>
                        </a:cubicBezTo>
                        <a:cubicBezTo>
                          <a:pt x="36409" y="4973373"/>
                          <a:pt x="155761" y="5039782"/>
                          <a:pt x="152072"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2" name="任意多边形: 形状 51">
                    <a:extLst>
                      <a:ext uri="{FF2B5EF4-FFF2-40B4-BE49-F238E27FC236}">
                        <a16:creationId xmlns:a16="http://schemas.microsoft.com/office/drawing/2014/main" id="{A36E2378-89D2-4068-81A7-3D607D91AB30}"/>
                      </a:ext>
                    </a:extLst>
                  </p:cNvPr>
                  <p:cNvSpPr/>
                  <p:nvPr/>
                </p:nvSpPr>
                <p:spPr>
                  <a:xfrm>
                    <a:off x="4868357" y="1235423"/>
                    <a:ext cx="152368" cy="5037740"/>
                  </a:xfrm>
                  <a:custGeom>
                    <a:avLst/>
                    <a:gdLst>
                      <a:gd name="connsiteX0" fmla="*/ 152072 w 152368"/>
                      <a:gd name="connsiteY0" fmla="*/ 5037753 h 5037740"/>
                      <a:gd name="connsiteX1" fmla="*/ 38254 w 152368"/>
                      <a:gd name="connsiteY1" fmla="*/ 4924304 h 5037740"/>
                      <a:gd name="connsiteX2" fmla="*/ 69 w 152368"/>
                      <a:gd name="connsiteY2" fmla="*/ 4721573 h 5037740"/>
                      <a:gd name="connsiteX3" fmla="*/ 69 w 152368"/>
                      <a:gd name="connsiteY3" fmla="*/ 316445 h 5037740"/>
                      <a:gd name="connsiteX4" fmla="*/ 38254 w 152368"/>
                      <a:gd name="connsiteY4" fmla="*/ 113714 h 5037740"/>
                      <a:gd name="connsiteX5" fmla="*/ 152072 w 152368"/>
                      <a:gd name="connsiteY5" fmla="*/ 265 h 5037740"/>
                      <a:gd name="connsiteX6" fmla="*/ 36409 w 152368"/>
                      <a:gd name="connsiteY6" fmla="*/ 297998 h 5037740"/>
                      <a:gd name="connsiteX7" fmla="*/ 36409 w 152368"/>
                      <a:gd name="connsiteY7" fmla="*/ 4740020 h 5037740"/>
                      <a:gd name="connsiteX8" fmla="*/ 152072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72" y="5037753"/>
                        </a:moveTo>
                        <a:cubicBezTo>
                          <a:pt x="103187" y="5011743"/>
                          <a:pt x="64264" y="4973004"/>
                          <a:pt x="38254" y="4924304"/>
                        </a:cubicBezTo>
                        <a:cubicBezTo>
                          <a:pt x="9477" y="4870808"/>
                          <a:pt x="69" y="4819710"/>
                          <a:pt x="69" y="4721573"/>
                        </a:cubicBezTo>
                        <a:lnTo>
                          <a:pt x="69" y="316445"/>
                        </a:lnTo>
                        <a:cubicBezTo>
                          <a:pt x="69" y="218123"/>
                          <a:pt x="9477" y="167025"/>
                          <a:pt x="38254" y="113714"/>
                        </a:cubicBezTo>
                        <a:cubicBezTo>
                          <a:pt x="64449" y="65014"/>
                          <a:pt x="103187" y="26275"/>
                          <a:pt x="152072" y="265"/>
                        </a:cubicBezTo>
                        <a:cubicBezTo>
                          <a:pt x="160004" y="-3978"/>
                          <a:pt x="36409" y="55421"/>
                          <a:pt x="36409" y="297998"/>
                        </a:cubicBezTo>
                        <a:cubicBezTo>
                          <a:pt x="36409" y="1076274"/>
                          <a:pt x="36409" y="3508871"/>
                          <a:pt x="36409" y="4740020"/>
                        </a:cubicBezTo>
                        <a:cubicBezTo>
                          <a:pt x="36409" y="4973373"/>
                          <a:pt x="155761" y="5039782"/>
                          <a:pt x="152072"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48" name="组合 47">
                  <a:extLst>
                    <a:ext uri="{FF2B5EF4-FFF2-40B4-BE49-F238E27FC236}">
                      <a16:creationId xmlns:a16="http://schemas.microsoft.com/office/drawing/2014/main" id="{55768888-BD81-4198-A588-3CAFCBAEA135}"/>
                    </a:ext>
                  </a:extLst>
                </p:cNvPr>
                <p:cNvGrpSpPr/>
                <p:nvPr/>
              </p:nvGrpSpPr>
              <p:grpSpPr>
                <a:xfrm>
                  <a:off x="7173100" y="1235423"/>
                  <a:ext cx="152368" cy="5037740"/>
                  <a:chOff x="7173100" y="1235423"/>
                  <a:chExt cx="152368" cy="5037740"/>
                </a:xfrm>
              </p:grpSpPr>
              <p:sp>
                <p:nvSpPr>
                  <p:cNvPr id="49" name="任意多边形: 形状 48">
                    <a:extLst>
                      <a:ext uri="{FF2B5EF4-FFF2-40B4-BE49-F238E27FC236}">
                        <a16:creationId xmlns:a16="http://schemas.microsoft.com/office/drawing/2014/main" id="{FC34985D-6936-4EF8-9169-9D54B5015274}"/>
                      </a:ext>
                    </a:extLst>
                  </p:cNvPr>
                  <p:cNvSpPr/>
                  <p:nvPr/>
                </p:nvSpPr>
                <p:spPr>
                  <a:xfrm rot="10800000" flipV="1">
                    <a:off x="7173100" y="1235423"/>
                    <a:ext cx="152368" cy="5037740"/>
                  </a:xfrm>
                  <a:custGeom>
                    <a:avLst/>
                    <a:gdLst>
                      <a:gd name="connsiteX0" fmla="*/ 152016 w 152368"/>
                      <a:gd name="connsiteY0" fmla="*/ 5037753 h 5037740"/>
                      <a:gd name="connsiteX1" fmla="*/ 38198 w 152368"/>
                      <a:gd name="connsiteY1" fmla="*/ 4924304 h 5037740"/>
                      <a:gd name="connsiteX2" fmla="*/ 13 w 152368"/>
                      <a:gd name="connsiteY2" fmla="*/ 4721573 h 5037740"/>
                      <a:gd name="connsiteX3" fmla="*/ 13 w 152368"/>
                      <a:gd name="connsiteY3" fmla="*/ 316445 h 5037740"/>
                      <a:gd name="connsiteX4" fmla="*/ 38198 w 152368"/>
                      <a:gd name="connsiteY4" fmla="*/ 113714 h 5037740"/>
                      <a:gd name="connsiteX5" fmla="*/ 152016 w 152368"/>
                      <a:gd name="connsiteY5" fmla="*/ 265 h 5037740"/>
                      <a:gd name="connsiteX6" fmla="*/ 36353 w 152368"/>
                      <a:gd name="connsiteY6" fmla="*/ 297998 h 5037740"/>
                      <a:gd name="connsiteX7" fmla="*/ 36353 w 152368"/>
                      <a:gd name="connsiteY7" fmla="*/ 4740020 h 5037740"/>
                      <a:gd name="connsiteX8" fmla="*/ 152016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16" y="5037753"/>
                        </a:moveTo>
                        <a:cubicBezTo>
                          <a:pt x="103131" y="5011743"/>
                          <a:pt x="64208" y="4973004"/>
                          <a:pt x="38198" y="4924304"/>
                        </a:cubicBezTo>
                        <a:cubicBezTo>
                          <a:pt x="9421" y="4870808"/>
                          <a:pt x="13" y="4819710"/>
                          <a:pt x="13" y="4721573"/>
                        </a:cubicBezTo>
                        <a:lnTo>
                          <a:pt x="13" y="316445"/>
                        </a:lnTo>
                        <a:cubicBezTo>
                          <a:pt x="13" y="218123"/>
                          <a:pt x="9421" y="167025"/>
                          <a:pt x="38198" y="113714"/>
                        </a:cubicBezTo>
                        <a:cubicBezTo>
                          <a:pt x="64393" y="65014"/>
                          <a:pt x="103131" y="26460"/>
                          <a:pt x="152016" y="265"/>
                        </a:cubicBezTo>
                        <a:cubicBezTo>
                          <a:pt x="159948" y="-3978"/>
                          <a:pt x="36353" y="55421"/>
                          <a:pt x="36353" y="297998"/>
                        </a:cubicBezTo>
                        <a:cubicBezTo>
                          <a:pt x="36353" y="1076274"/>
                          <a:pt x="36353" y="3508871"/>
                          <a:pt x="36353" y="4740020"/>
                        </a:cubicBezTo>
                        <a:cubicBezTo>
                          <a:pt x="36353" y="4973373"/>
                          <a:pt x="155705" y="5039782"/>
                          <a:pt x="152016"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0" name="任意多边形: 形状 49">
                    <a:extLst>
                      <a:ext uri="{FF2B5EF4-FFF2-40B4-BE49-F238E27FC236}">
                        <a16:creationId xmlns:a16="http://schemas.microsoft.com/office/drawing/2014/main" id="{5340AE06-8618-4080-A178-C1D9792E04BA}"/>
                      </a:ext>
                    </a:extLst>
                  </p:cNvPr>
                  <p:cNvSpPr/>
                  <p:nvPr/>
                </p:nvSpPr>
                <p:spPr>
                  <a:xfrm rot="10800000" flipV="1">
                    <a:off x="7173100" y="1235423"/>
                    <a:ext cx="152368" cy="5037740"/>
                  </a:xfrm>
                  <a:custGeom>
                    <a:avLst/>
                    <a:gdLst>
                      <a:gd name="connsiteX0" fmla="*/ 152016 w 152368"/>
                      <a:gd name="connsiteY0" fmla="*/ 5037753 h 5037740"/>
                      <a:gd name="connsiteX1" fmla="*/ 38198 w 152368"/>
                      <a:gd name="connsiteY1" fmla="*/ 4924304 h 5037740"/>
                      <a:gd name="connsiteX2" fmla="*/ 13 w 152368"/>
                      <a:gd name="connsiteY2" fmla="*/ 4721573 h 5037740"/>
                      <a:gd name="connsiteX3" fmla="*/ 13 w 152368"/>
                      <a:gd name="connsiteY3" fmla="*/ 316445 h 5037740"/>
                      <a:gd name="connsiteX4" fmla="*/ 38198 w 152368"/>
                      <a:gd name="connsiteY4" fmla="*/ 113714 h 5037740"/>
                      <a:gd name="connsiteX5" fmla="*/ 152016 w 152368"/>
                      <a:gd name="connsiteY5" fmla="*/ 265 h 5037740"/>
                      <a:gd name="connsiteX6" fmla="*/ 36353 w 152368"/>
                      <a:gd name="connsiteY6" fmla="*/ 297998 h 5037740"/>
                      <a:gd name="connsiteX7" fmla="*/ 36353 w 152368"/>
                      <a:gd name="connsiteY7" fmla="*/ 4740020 h 5037740"/>
                      <a:gd name="connsiteX8" fmla="*/ 152016 w 152368"/>
                      <a:gd name="connsiteY8" fmla="*/ 5037753 h 503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68" h="5037740">
                        <a:moveTo>
                          <a:pt x="152016" y="5037753"/>
                        </a:moveTo>
                        <a:cubicBezTo>
                          <a:pt x="103131" y="5011743"/>
                          <a:pt x="64208" y="4973004"/>
                          <a:pt x="38198" y="4924304"/>
                        </a:cubicBezTo>
                        <a:cubicBezTo>
                          <a:pt x="9421" y="4870808"/>
                          <a:pt x="13" y="4819710"/>
                          <a:pt x="13" y="4721573"/>
                        </a:cubicBezTo>
                        <a:lnTo>
                          <a:pt x="13" y="316445"/>
                        </a:lnTo>
                        <a:cubicBezTo>
                          <a:pt x="13" y="218123"/>
                          <a:pt x="9421" y="167025"/>
                          <a:pt x="38198" y="113714"/>
                        </a:cubicBezTo>
                        <a:cubicBezTo>
                          <a:pt x="64393" y="65014"/>
                          <a:pt x="103131" y="26460"/>
                          <a:pt x="152016" y="265"/>
                        </a:cubicBezTo>
                        <a:cubicBezTo>
                          <a:pt x="159948" y="-3978"/>
                          <a:pt x="36353" y="55421"/>
                          <a:pt x="36353" y="297998"/>
                        </a:cubicBezTo>
                        <a:cubicBezTo>
                          <a:pt x="36353" y="1076274"/>
                          <a:pt x="36353" y="3508871"/>
                          <a:pt x="36353" y="4740020"/>
                        </a:cubicBezTo>
                        <a:cubicBezTo>
                          <a:pt x="36353" y="4973373"/>
                          <a:pt x="155705" y="5039782"/>
                          <a:pt x="152016" y="5037753"/>
                        </a:cubicBezTo>
                        <a:close/>
                      </a:path>
                    </a:pathLst>
                  </a:custGeom>
                  <a:gradFill>
                    <a:gsLst>
                      <a:gs pos="0">
                        <a:schemeClr val="tx1">
                          <a:lumMod val="65000"/>
                          <a:lumOff val="35000"/>
                        </a:schemeClr>
                      </a:gs>
                      <a:gs pos="39000">
                        <a:schemeClr val="bg1">
                          <a:lumMod val="75000"/>
                        </a:schemeClr>
                      </a:gs>
                      <a:gs pos="2000">
                        <a:schemeClr val="tx1">
                          <a:lumMod val="75000"/>
                          <a:lumOff val="25000"/>
                        </a:schemeClr>
                      </a:gs>
                      <a:gs pos="1000">
                        <a:schemeClr val="bg1">
                          <a:lumMod val="85000"/>
                        </a:schemeClr>
                      </a:gs>
                      <a:gs pos="100000">
                        <a:schemeClr val="tx1">
                          <a:lumMod val="75000"/>
                          <a:lumOff val="25000"/>
                        </a:schemeClr>
                      </a:gs>
                      <a:gs pos="98000">
                        <a:schemeClr val="tx1">
                          <a:lumMod val="75000"/>
                          <a:lumOff val="25000"/>
                        </a:schemeClr>
                      </a:gs>
                      <a:gs pos="99000">
                        <a:schemeClr val="bg1">
                          <a:lumMod val="75000"/>
                        </a:schemeClr>
                      </a:gs>
                    </a:gsLst>
                    <a:lin ang="0" scaled="0"/>
                  </a:gradFill>
                  <a:ln w="4833"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grpSp>
            <p:nvGrpSpPr>
              <p:cNvPr id="15" name="组合 14">
                <a:extLst>
                  <a:ext uri="{FF2B5EF4-FFF2-40B4-BE49-F238E27FC236}">
                    <a16:creationId xmlns:a16="http://schemas.microsoft.com/office/drawing/2014/main" id="{47AD9E07-F809-408D-BEB4-CFC0873EBEDD}"/>
                  </a:ext>
                </a:extLst>
              </p:cNvPr>
              <p:cNvGrpSpPr/>
              <p:nvPr/>
            </p:nvGrpSpPr>
            <p:grpSpPr>
              <a:xfrm>
                <a:off x="4803793" y="1130299"/>
                <a:ext cx="2578880" cy="5246307"/>
                <a:chOff x="4803793" y="1130299"/>
                <a:chExt cx="2578880" cy="5246307"/>
              </a:xfrm>
              <a:solidFill>
                <a:srgbClr val="000000"/>
              </a:solidFill>
            </p:grpSpPr>
            <p:sp>
              <p:nvSpPr>
                <p:cNvPr id="41" name="任意多边形: 形状 40">
                  <a:extLst>
                    <a:ext uri="{FF2B5EF4-FFF2-40B4-BE49-F238E27FC236}">
                      <a16:creationId xmlns:a16="http://schemas.microsoft.com/office/drawing/2014/main" id="{2DA04D1B-E347-47E0-804B-B58A92688EDF}"/>
                    </a:ext>
                  </a:extLst>
                </p:cNvPr>
                <p:cNvSpPr/>
                <p:nvPr/>
              </p:nvSpPr>
              <p:spPr>
                <a:xfrm>
                  <a:off x="4803793" y="1593316"/>
                  <a:ext cx="42427" cy="31359"/>
                </a:xfrm>
                <a:custGeom>
                  <a:avLst/>
                  <a:gdLst>
                    <a:gd name="connsiteX0" fmla="*/ 34 w 42427"/>
                    <a:gd name="connsiteY0" fmla="*/ 0 h 31359"/>
                    <a:gd name="connsiteX1" fmla="*/ 42462 w 42427"/>
                    <a:gd name="connsiteY1" fmla="*/ 0 h 31359"/>
                    <a:gd name="connsiteX2" fmla="*/ 42462 w 42427"/>
                    <a:gd name="connsiteY2" fmla="*/ 31360 h 31359"/>
                    <a:gd name="connsiteX3" fmla="*/ 34 w 42427"/>
                    <a:gd name="connsiteY3" fmla="*/ 31360 h 31359"/>
                  </a:gdLst>
                  <a:ahLst/>
                  <a:cxnLst>
                    <a:cxn ang="0">
                      <a:pos x="connsiteX0" y="connsiteY0"/>
                    </a:cxn>
                    <a:cxn ang="0">
                      <a:pos x="connsiteX1" y="connsiteY1"/>
                    </a:cxn>
                    <a:cxn ang="0">
                      <a:pos x="connsiteX2" y="connsiteY2"/>
                    </a:cxn>
                    <a:cxn ang="0">
                      <a:pos x="connsiteX3" y="connsiteY3"/>
                    </a:cxn>
                  </a:cxnLst>
                  <a:rect l="l" t="t" r="r" b="b"/>
                  <a:pathLst>
                    <a:path w="42427" h="31359">
                      <a:moveTo>
                        <a:pt x="34" y="0"/>
                      </a:moveTo>
                      <a:lnTo>
                        <a:pt x="42462" y="0"/>
                      </a:lnTo>
                      <a:lnTo>
                        <a:pt x="42462"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2" name="任意多边形: 形状 41">
                  <a:extLst>
                    <a:ext uri="{FF2B5EF4-FFF2-40B4-BE49-F238E27FC236}">
                      <a16:creationId xmlns:a16="http://schemas.microsoft.com/office/drawing/2014/main" id="{9CD4A28B-1F3A-4774-BA2E-180CF8775D6D}"/>
                    </a:ext>
                  </a:extLst>
                </p:cNvPr>
                <p:cNvSpPr/>
                <p:nvPr/>
              </p:nvSpPr>
              <p:spPr>
                <a:xfrm>
                  <a:off x="7347624" y="1593316"/>
                  <a:ext cx="35049" cy="31359"/>
                </a:xfrm>
                <a:custGeom>
                  <a:avLst/>
                  <a:gdLst>
                    <a:gd name="connsiteX0" fmla="*/ 34 w 35049"/>
                    <a:gd name="connsiteY0" fmla="*/ 0 h 31359"/>
                    <a:gd name="connsiteX1" fmla="*/ 35083 w 35049"/>
                    <a:gd name="connsiteY1" fmla="*/ 0 h 31359"/>
                    <a:gd name="connsiteX2" fmla="*/ 35083 w 35049"/>
                    <a:gd name="connsiteY2" fmla="*/ 31360 h 31359"/>
                    <a:gd name="connsiteX3" fmla="*/ 34 w 35049"/>
                    <a:gd name="connsiteY3" fmla="*/ 31360 h 31359"/>
                  </a:gdLst>
                  <a:ahLst/>
                  <a:cxnLst>
                    <a:cxn ang="0">
                      <a:pos x="connsiteX0" y="connsiteY0"/>
                    </a:cxn>
                    <a:cxn ang="0">
                      <a:pos x="connsiteX1" y="connsiteY1"/>
                    </a:cxn>
                    <a:cxn ang="0">
                      <a:pos x="connsiteX2" y="connsiteY2"/>
                    </a:cxn>
                    <a:cxn ang="0">
                      <a:pos x="connsiteX3" y="connsiteY3"/>
                    </a:cxn>
                  </a:cxnLst>
                  <a:rect l="l" t="t" r="r" b="b"/>
                  <a:pathLst>
                    <a:path w="35049" h="31359">
                      <a:moveTo>
                        <a:pt x="34" y="0"/>
                      </a:moveTo>
                      <a:lnTo>
                        <a:pt x="35083" y="0"/>
                      </a:lnTo>
                      <a:lnTo>
                        <a:pt x="35083"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3" name="任意多边形: 形状 42">
                  <a:extLst>
                    <a:ext uri="{FF2B5EF4-FFF2-40B4-BE49-F238E27FC236}">
                      <a16:creationId xmlns:a16="http://schemas.microsoft.com/office/drawing/2014/main" id="{6F744092-94F8-44B4-A105-92328C766018}"/>
                    </a:ext>
                  </a:extLst>
                </p:cNvPr>
                <p:cNvSpPr/>
                <p:nvPr/>
              </p:nvSpPr>
              <p:spPr>
                <a:xfrm>
                  <a:off x="4803793" y="5882228"/>
                  <a:ext cx="42427" cy="31359"/>
                </a:xfrm>
                <a:custGeom>
                  <a:avLst/>
                  <a:gdLst>
                    <a:gd name="connsiteX0" fmla="*/ 34 w 42427"/>
                    <a:gd name="connsiteY0" fmla="*/ 0 h 31359"/>
                    <a:gd name="connsiteX1" fmla="*/ 42462 w 42427"/>
                    <a:gd name="connsiteY1" fmla="*/ 0 h 31359"/>
                    <a:gd name="connsiteX2" fmla="*/ 42462 w 42427"/>
                    <a:gd name="connsiteY2" fmla="*/ 31360 h 31359"/>
                    <a:gd name="connsiteX3" fmla="*/ 34 w 42427"/>
                    <a:gd name="connsiteY3" fmla="*/ 31360 h 31359"/>
                  </a:gdLst>
                  <a:ahLst/>
                  <a:cxnLst>
                    <a:cxn ang="0">
                      <a:pos x="connsiteX0" y="connsiteY0"/>
                    </a:cxn>
                    <a:cxn ang="0">
                      <a:pos x="connsiteX1" y="connsiteY1"/>
                    </a:cxn>
                    <a:cxn ang="0">
                      <a:pos x="connsiteX2" y="connsiteY2"/>
                    </a:cxn>
                    <a:cxn ang="0">
                      <a:pos x="connsiteX3" y="connsiteY3"/>
                    </a:cxn>
                  </a:cxnLst>
                  <a:rect l="l" t="t" r="r" b="b"/>
                  <a:pathLst>
                    <a:path w="42427" h="31359">
                      <a:moveTo>
                        <a:pt x="34" y="0"/>
                      </a:moveTo>
                      <a:lnTo>
                        <a:pt x="42462" y="0"/>
                      </a:lnTo>
                      <a:lnTo>
                        <a:pt x="42462"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4" name="任意多边形: 形状 43">
                  <a:extLst>
                    <a:ext uri="{FF2B5EF4-FFF2-40B4-BE49-F238E27FC236}">
                      <a16:creationId xmlns:a16="http://schemas.microsoft.com/office/drawing/2014/main" id="{D1020116-F29B-4FB8-94E0-E5D28F2AFCA0}"/>
                    </a:ext>
                  </a:extLst>
                </p:cNvPr>
                <p:cNvSpPr/>
                <p:nvPr/>
              </p:nvSpPr>
              <p:spPr>
                <a:xfrm>
                  <a:off x="7347624" y="5882228"/>
                  <a:ext cx="35049" cy="31359"/>
                </a:xfrm>
                <a:custGeom>
                  <a:avLst/>
                  <a:gdLst>
                    <a:gd name="connsiteX0" fmla="*/ 34 w 35049"/>
                    <a:gd name="connsiteY0" fmla="*/ 0 h 31359"/>
                    <a:gd name="connsiteX1" fmla="*/ 35083 w 35049"/>
                    <a:gd name="connsiteY1" fmla="*/ 0 h 31359"/>
                    <a:gd name="connsiteX2" fmla="*/ 35083 w 35049"/>
                    <a:gd name="connsiteY2" fmla="*/ 31360 h 31359"/>
                    <a:gd name="connsiteX3" fmla="*/ 34 w 35049"/>
                    <a:gd name="connsiteY3" fmla="*/ 31360 h 31359"/>
                  </a:gdLst>
                  <a:ahLst/>
                  <a:cxnLst>
                    <a:cxn ang="0">
                      <a:pos x="connsiteX0" y="connsiteY0"/>
                    </a:cxn>
                    <a:cxn ang="0">
                      <a:pos x="connsiteX1" y="connsiteY1"/>
                    </a:cxn>
                    <a:cxn ang="0">
                      <a:pos x="connsiteX2" y="connsiteY2"/>
                    </a:cxn>
                    <a:cxn ang="0">
                      <a:pos x="connsiteX3" y="connsiteY3"/>
                    </a:cxn>
                  </a:cxnLst>
                  <a:rect l="l" t="t" r="r" b="b"/>
                  <a:pathLst>
                    <a:path w="35049" h="31359">
                      <a:moveTo>
                        <a:pt x="34" y="0"/>
                      </a:moveTo>
                      <a:lnTo>
                        <a:pt x="35083" y="0"/>
                      </a:lnTo>
                      <a:lnTo>
                        <a:pt x="35083" y="31360"/>
                      </a:lnTo>
                      <a:lnTo>
                        <a:pt x="34" y="31360"/>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5" name="任意多边形: 形状 44">
                  <a:extLst>
                    <a:ext uri="{FF2B5EF4-FFF2-40B4-BE49-F238E27FC236}">
                      <a16:creationId xmlns:a16="http://schemas.microsoft.com/office/drawing/2014/main" id="{BA413B32-5B3C-4CB0-BA36-35EE0F069342}"/>
                    </a:ext>
                  </a:extLst>
                </p:cNvPr>
                <p:cNvSpPr/>
                <p:nvPr/>
              </p:nvSpPr>
              <p:spPr>
                <a:xfrm>
                  <a:off x="6895674" y="1130299"/>
                  <a:ext cx="31359" cy="42427"/>
                </a:xfrm>
                <a:custGeom>
                  <a:avLst/>
                  <a:gdLst>
                    <a:gd name="connsiteX0" fmla="*/ 34 w 31359"/>
                    <a:gd name="connsiteY0" fmla="*/ 0 h 42427"/>
                    <a:gd name="connsiteX1" fmla="*/ 31394 w 31359"/>
                    <a:gd name="connsiteY1" fmla="*/ 0 h 42427"/>
                    <a:gd name="connsiteX2" fmla="*/ 31394 w 31359"/>
                    <a:gd name="connsiteY2" fmla="*/ 42428 h 42427"/>
                    <a:gd name="connsiteX3" fmla="*/ 34 w 31359"/>
                    <a:gd name="connsiteY3" fmla="*/ 42428 h 42427"/>
                  </a:gdLst>
                  <a:ahLst/>
                  <a:cxnLst>
                    <a:cxn ang="0">
                      <a:pos x="connsiteX0" y="connsiteY0"/>
                    </a:cxn>
                    <a:cxn ang="0">
                      <a:pos x="connsiteX1" y="connsiteY1"/>
                    </a:cxn>
                    <a:cxn ang="0">
                      <a:pos x="connsiteX2" y="connsiteY2"/>
                    </a:cxn>
                    <a:cxn ang="0">
                      <a:pos x="connsiteX3" y="connsiteY3"/>
                    </a:cxn>
                  </a:cxnLst>
                  <a:rect l="l" t="t" r="r" b="b"/>
                  <a:pathLst>
                    <a:path w="31359" h="42427">
                      <a:moveTo>
                        <a:pt x="34" y="0"/>
                      </a:moveTo>
                      <a:lnTo>
                        <a:pt x="31394" y="0"/>
                      </a:lnTo>
                      <a:lnTo>
                        <a:pt x="31394" y="42428"/>
                      </a:lnTo>
                      <a:lnTo>
                        <a:pt x="34" y="42428"/>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6" name="任意多边形: 形状 45">
                  <a:extLst>
                    <a:ext uri="{FF2B5EF4-FFF2-40B4-BE49-F238E27FC236}">
                      <a16:creationId xmlns:a16="http://schemas.microsoft.com/office/drawing/2014/main" id="{B45A797F-BB3A-45F1-8DC2-EEDB32EA5788}"/>
                    </a:ext>
                  </a:extLst>
                </p:cNvPr>
                <p:cNvSpPr/>
                <p:nvPr/>
              </p:nvSpPr>
              <p:spPr>
                <a:xfrm>
                  <a:off x="5266811" y="6334178"/>
                  <a:ext cx="31359" cy="42427"/>
                </a:xfrm>
                <a:custGeom>
                  <a:avLst/>
                  <a:gdLst>
                    <a:gd name="connsiteX0" fmla="*/ 34 w 31359"/>
                    <a:gd name="connsiteY0" fmla="*/ 0 h 42427"/>
                    <a:gd name="connsiteX1" fmla="*/ 31394 w 31359"/>
                    <a:gd name="connsiteY1" fmla="*/ 0 h 42427"/>
                    <a:gd name="connsiteX2" fmla="*/ 31394 w 31359"/>
                    <a:gd name="connsiteY2" fmla="*/ 42428 h 42427"/>
                    <a:gd name="connsiteX3" fmla="*/ 34 w 31359"/>
                    <a:gd name="connsiteY3" fmla="*/ 42428 h 42427"/>
                  </a:gdLst>
                  <a:ahLst/>
                  <a:cxnLst>
                    <a:cxn ang="0">
                      <a:pos x="connsiteX0" y="connsiteY0"/>
                    </a:cxn>
                    <a:cxn ang="0">
                      <a:pos x="connsiteX1" y="connsiteY1"/>
                    </a:cxn>
                    <a:cxn ang="0">
                      <a:pos x="connsiteX2" y="connsiteY2"/>
                    </a:cxn>
                    <a:cxn ang="0">
                      <a:pos x="connsiteX3" y="connsiteY3"/>
                    </a:cxn>
                  </a:cxnLst>
                  <a:rect l="l" t="t" r="r" b="b"/>
                  <a:pathLst>
                    <a:path w="31359" h="42427">
                      <a:moveTo>
                        <a:pt x="34" y="0"/>
                      </a:moveTo>
                      <a:lnTo>
                        <a:pt x="31394" y="0"/>
                      </a:lnTo>
                      <a:lnTo>
                        <a:pt x="31394" y="42428"/>
                      </a:lnTo>
                      <a:lnTo>
                        <a:pt x="34" y="42428"/>
                      </a:ln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6" name="组合 15">
                <a:extLst>
                  <a:ext uri="{FF2B5EF4-FFF2-40B4-BE49-F238E27FC236}">
                    <a16:creationId xmlns:a16="http://schemas.microsoft.com/office/drawing/2014/main" id="{C38C4753-61D8-4AC1-8AAF-17686B0708C1}"/>
                  </a:ext>
                </a:extLst>
              </p:cNvPr>
              <p:cNvGrpSpPr/>
              <p:nvPr/>
            </p:nvGrpSpPr>
            <p:grpSpPr>
              <a:xfrm>
                <a:off x="4792725" y="1779630"/>
                <a:ext cx="20373" cy="184469"/>
                <a:chOff x="4792725" y="1779630"/>
                <a:chExt cx="20373" cy="184469"/>
              </a:xfrm>
            </p:grpSpPr>
            <p:sp>
              <p:nvSpPr>
                <p:cNvPr id="39" name="任意多边形: 形状 38">
                  <a:extLst>
                    <a:ext uri="{FF2B5EF4-FFF2-40B4-BE49-F238E27FC236}">
                      <a16:creationId xmlns:a16="http://schemas.microsoft.com/office/drawing/2014/main" id="{ABA16DEE-BB51-41EB-A74E-B09212373744}"/>
                    </a:ext>
                  </a:extLst>
                </p:cNvPr>
                <p:cNvSpPr/>
                <p:nvPr/>
              </p:nvSpPr>
              <p:spPr>
                <a:xfrm>
                  <a:off x="4792725" y="1779630"/>
                  <a:ext cx="20373" cy="184469"/>
                </a:xfrm>
                <a:custGeom>
                  <a:avLst/>
                  <a:gdLst>
                    <a:gd name="connsiteX0" fmla="*/ 12941 w 20373"/>
                    <a:gd name="connsiteY0" fmla="*/ 352 h 184469"/>
                    <a:gd name="connsiteX1" fmla="*/ 28 w 20373"/>
                    <a:gd name="connsiteY1" fmla="*/ 13265 h 184469"/>
                    <a:gd name="connsiteX2" fmla="*/ 28 w 20373"/>
                    <a:gd name="connsiteY2" fmla="*/ 171908 h 184469"/>
                    <a:gd name="connsiteX3" fmla="*/ 12941 w 20373"/>
                    <a:gd name="connsiteY3" fmla="*/ 184821 h 184469"/>
                    <a:gd name="connsiteX4" fmla="*/ 20320 w 20373"/>
                    <a:gd name="connsiteY4" fmla="*/ 184821 h 184469"/>
                    <a:gd name="connsiteX5" fmla="*/ 20320 w 20373"/>
                    <a:gd name="connsiteY5" fmla="*/ 352 h 184469"/>
                    <a:gd name="connsiteX6" fmla="*/ 12941 w 20373"/>
                    <a:gd name="connsiteY6" fmla="*/ 352 h 18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3" h="184469">
                      <a:moveTo>
                        <a:pt x="12941" y="352"/>
                      </a:moveTo>
                      <a:cubicBezTo>
                        <a:pt x="5747" y="352"/>
                        <a:pt x="28" y="6071"/>
                        <a:pt x="28" y="13265"/>
                      </a:cubicBezTo>
                      <a:lnTo>
                        <a:pt x="28" y="171908"/>
                      </a:lnTo>
                      <a:cubicBezTo>
                        <a:pt x="28" y="179103"/>
                        <a:pt x="5747" y="184821"/>
                        <a:pt x="12941" y="184821"/>
                      </a:cubicBezTo>
                      <a:lnTo>
                        <a:pt x="20320" y="184821"/>
                      </a:lnTo>
                      <a:cubicBezTo>
                        <a:pt x="20320" y="175044"/>
                        <a:pt x="20504" y="9760"/>
                        <a:pt x="20320" y="352"/>
                      </a:cubicBezTo>
                      <a:lnTo>
                        <a:pt x="12941"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0" name="任意多边形: 形状 39">
                  <a:extLst>
                    <a:ext uri="{FF2B5EF4-FFF2-40B4-BE49-F238E27FC236}">
                      <a16:creationId xmlns:a16="http://schemas.microsoft.com/office/drawing/2014/main" id="{A8040FF2-B007-4212-871C-6BAFF0237569}"/>
                    </a:ext>
                  </a:extLst>
                </p:cNvPr>
                <p:cNvSpPr/>
                <p:nvPr/>
              </p:nvSpPr>
              <p:spPr>
                <a:xfrm>
                  <a:off x="4792725" y="1779630"/>
                  <a:ext cx="20373" cy="184469"/>
                </a:xfrm>
                <a:custGeom>
                  <a:avLst/>
                  <a:gdLst>
                    <a:gd name="connsiteX0" fmla="*/ 12941 w 20373"/>
                    <a:gd name="connsiteY0" fmla="*/ 352 h 184469"/>
                    <a:gd name="connsiteX1" fmla="*/ 28 w 20373"/>
                    <a:gd name="connsiteY1" fmla="*/ 13265 h 184469"/>
                    <a:gd name="connsiteX2" fmla="*/ 28 w 20373"/>
                    <a:gd name="connsiteY2" fmla="*/ 171908 h 184469"/>
                    <a:gd name="connsiteX3" fmla="*/ 12941 w 20373"/>
                    <a:gd name="connsiteY3" fmla="*/ 184821 h 184469"/>
                    <a:gd name="connsiteX4" fmla="*/ 20320 w 20373"/>
                    <a:gd name="connsiteY4" fmla="*/ 184821 h 184469"/>
                    <a:gd name="connsiteX5" fmla="*/ 20320 w 20373"/>
                    <a:gd name="connsiteY5" fmla="*/ 352 h 184469"/>
                    <a:gd name="connsiteX6" fmla="*/ 12941 w 20373"/>
                    <a:gd name="connsiteY6" fmla="*/ 352 h 18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73" h="184469">
                      <a:moveTo>
                        <a:pt x="12941" y="352"/>
                      </a:moveTo>
                      <a:cubicBezTo>
                        <a:pt x="5747" y="352"/>
                        <a:pt x="28" y="6071"/>
                        <a:pt x="28" y="13265"/>
                      </a:cubicBezTo>
                      <a:lnTo>
                        <a:pt x="28" y="171908"/>
                      </a:lnTo>
                      <a:cubicBezTo>
                        <a:pt x="28" y="179103"/>
                        <a:pt x="5747" y="184821"/>
                        <a:pt x="12941" y="184821"/>
                      </a:cubicBezTo>
                      <a:lnTo>
                        <a:pt x="20320" y="184821"/>
                      </a:lnTo>
                      <a:cubicBezTo>
                        <a:pt x="20320" y="175044"/>
                        <a:pt x="20504" y="9760"/>
                        <a:pt x="20320" y="352"/>
                      </a:cubicBezTo>
                      <a:lnTo>
                        <a:pt x="12941"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7" name="组合 16">
                <a:extLst>
                  <a:ext uri="{FF2B5EF4-FFF2-40B4-BE49-F238E27FC236}">
                    <a16:creationId xmlns:a16="http://schemas.microsoft.com/office/drawing/2014/main" id="{678DE301-7E58-40CA-890A-B65CD85B735A}"/>
                  </a:ext>
                </a:extLst>
              </p:cNvPr>
              <p:cNvGrpSpPr/>
              <p:nvPr/>
            </p:nvGrpSpPr>
            <p:grpSpPr>
              <a:xfrm>
                <a:off x="4792909" y="2117209"/>
                <a:ext cx="20189" cy="350491"/>
                <a:chOff x="4792909" y="2117209"/>
                <a:chExt cx="20189" cy="350491"/>
              </a:xfrm>
            </p:grpSpPr>
            <p:sp>
              <p:nvSpPr>
                <p:cNvPr id="37" name="任意多边形: 形状 36">
                  <a:extLst>
                    <a:ext uri="{FF2B5EF4-FFF2-40B4-BE49-F238E27FC236}">
                      <a16:creationId xmlns:a16="http://schemas.microsoft.com/office/drawing/2014/main" id="{6D79B9EC-A622-44CD-841B-D7143A7E0562}"/>
                    </a:ext>
                  </a:extLst>
                </p:cNvPr>
                <p:cNvSpPr/>
                <p:nvPr/>
              </p:nvSpPr>
              <p:spPr>
                <a:xfrm>
                  <a:off x="4792909" y="2117209"/>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8" name="任意多边形: 形状 37">
                  <a:extLst>
                    <a:ext uri="{FF2B5EF4-FFF2-40B4-BE49-F238E27FC236}">
                      <a16:creationId xmlns:a16="http://schemas.microsoft.com/office/drawing/2014/main" id="{D31DDA46-FEB0-4777-934C-C5FC1383A414}"/>
                    </a:ext>
                  </a:extLst>
                </p:cNvPr>
                <p:cNvSpPr/>
                <p:nvPr/>
              </p:nvSpPr>
              <p:spPr>
                <a:xfrm>
                  <a:off x="4792909" y="2117209"/>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18" name="组合 17">
                <a:extLst>
                  <a:ext uri="{FF2B5EF4-FFF2-40B4-BE49-F238E27FC236}">
                    <a16:creationId xmlns:a16="http://schemas.microsoft.com/office/drawing/2014/main" id="{36D4435E-70DC-4C47-8FF4-1D233EF40523}"/>
                  </a:ext>
                </a:extLst>
              </p:cNvPr>
              <p:cNvGrpSpPr/>
              <p:nvPr/>
            </p:nvGrpSpPr>
            <p:grpSpPr>
              <a:xfrm>
                <a:off x="4792909" y="2554402"/>
                <a:ext cx="20189" cy="350491"/>
                <a:chOff x="4792909" y="2554402"/>
                <a:chExt cx="20189" cy="350491"/>
              </a:xfrm>
            </p:grpSpPr>
            <p:sp>
              <p:nvSpPr>
                <p:cNvPr id="35" name="任意多边形: 形状 34">
                  <a:extLst>
                    <a:ext uri="{FF2B5EF4-FFF2-40B4-BE49-F238E27FC236}">
                      <a16:creationId xmlns:a16="http://schemas.microsoft.com/office/drawing/2014/main" id="{597FC8AF-8031-4A0C-9AC7-FCDA0588C273}"/>
                    </a:ext>
                  </a:extLst>
                </p:cNvPr>
                <p:cNvSpPr/>
                <p:nvPr/>
              </p:nvSpPr>
              <p:spPr>
                <a:xfrm>
                  <a:off x="4792909" y="2554402"/>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solidFill>
                  <a:srgbClr val="A5A5A5"/>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6" name="任意多边形: 形状 35">
                  <a:extLst>
                    <a:ext uri="{FF2B5EF4-FFF2-40B4-BE49-F238E27FC236}">
                      <a16:creationId xmlns:a16="http://schemas.microsoft.com/office/drawing/2014/main" id="{B6A9BCDE-F13D-4BE3-9A9D-7D4C3BFBB762}"/>
                    </a:ext>
                  </a:extLst>
                </p:cNvPr>
                <p:cNvSpPr/>
                <p:nvPr/>
              </p:nvSpPr>
              <p:spPr>
                <a:xfrm>
                  <a:off x="4792909" y="2554402"/>
                  <a:ext cx="20189" cy="350491"/>
                </a:xfrm>
                <a:custGeom>
                  <a:avLst/>
                  <a:gdLst>
                    <a:gd name="connsiteX0" fmla="*/ 12756 w 20189"/>
                    <a:gd name="connsiteY0" fmla="*/ 352 h 350491"/>
                    <a:gd name="connsiteX1" fmla="*/ 950 w 20189"/>
                    <a:gd name="connsiteY1" fmla="*/ 7731 h 350491"/>
                    <a:gd name="connsiteX2" fmla="*/ 28 w 20189"/>
                    <a:gd name="connsiteY2" fmla="*/ 11605 h 350491"/>
                    <a:gd name="connsiteX3" fmla="*/ 28 w 20189"/>
                    <a:gd name="connsiteY3" fmla="*/ 335533 h 350491"/>
                    <a:gd name="connsiteX4" fmla="*/ 950 w 20189"/>
                    <a:gd name="connsiteY4" fmla="*/ 341067 h 350491"/>
                    <a:gd name="connsiteX5" fmla="*/ 12756 w 20189"/>
                    <a:gd name="connsiteY5" fmla="*/ 350844 h 350491"/>
                    <a:gd name="connsiteX6" fmla="*/ 20135 w 20189"/>
                    <a:gd name="connsiteY6" fmla="*/ 350844 h 350491"/>
                    <a:gd name="connsiteX7" fmla="*/ 20135 w 20189"/>
                    <a:gd name="connsiteY7" fmla="*/ 352 h 350491"/>
                    <a:gd name="connsiteX8" fmla="*/ 12756 w 20189"/>
                    <a:gd name="connsiteY8" fmla="*/ 352 h 35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350491">
                      <a:moveTo>
                        <a:pt x="12756" y="352"/>
                      </a:moveTo>
                      <a:cubicBezTo>
                        <a:pt x="8514" y="1459"/>
                        <a:pt x="3533" y="4041"/>
                        <a:pt x="950" y="7731"/>
                      </a:cubicBezTo>
                      <a:cubicBezTo>
                        <a:pt x="397" y="8469"/>
                        <a:pt x="28" y="10867"/>
                        <a:pt x="28" y="11605"/>
                      </a:cubicBezTo>
                      <a:cubicBezTo>
                        <a:pt x="28" y="47023"/>
                        <a:pt x="28" y="155122"/>
                        <a:pt x="28" y="335533"/>
                      </a:cubicBezTo>
                      <a:cubicBezTo>
                        <a:pt x="28" y="336271"/>
                        <a:pt x="581" y="340145"/>
                        <a:pt x="950" y="341067"/>
                      </a:cubicBezTo>
                      <a:cubicBezTo>
                        <a:pt x="3164" y="346416"/>
                        <a:pt x="6853" y="347708"/>
                        <a:pt x="12756" y="350844"/>
                      </a:cubicBezTo>
                      <a:lnTo>
                        <a:pt x="20135" y="350844"/>
                      </a:lnTo>
                      <a:cubicBezTo>
                        <a:pt x="20135" y="341067"/>
                        <a:pt x="20320" y="9760"/>
                        <a:pt x="20135" y="352"/>
                      </a:cubicBezTo>
                      <a:lnTo>
                        <a:pt x="12756"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19" name="任意多边形: 形状 18">
                <a:extLst>
                  <a:ext uri="{FF2B5EF4-FFF2-40B4-BE49-F238E27FC236}">
                    <a16:creationId xmlns:a16="http://schemas.microsoft.com/office/drawing/2014/main" id="{0F06DF9F-214B-436D-B212-865D5C6694E5}"/>
                  </a:ext>
                </a:extLst>
              </p:cNvPr>
              <p:cNvSpPr/>
              <p:nvPr/>
            </p:nvSpPr>
            <p:spPr>
              <a:xfrm rot="10800000" flipV="1">
                <a:off x="7378902" y="2231580"/>
                <a:ext cx="20189" cy="557097"/>
              </a:xfrm>
              <a:custGeom>
                <a:avLst/>
                <a:gdLst>
                  <a:gd name="connsiteX0" fmla="*/ 12700 w 20189"/>
                  <a:gd name="connsiteY0" fmla="*/ 352 h 557097"/>
                  <a:gd name="connsiteX1" fmla="*/ 894 w 20189"/>
                  <a:gd name="connsiteY1" fmla="*/ 7731 h 557097"/>
                  <a:gd name="connsiteX2" fmla="*/ -28 w 20189"/>
                  <a:gd name="connsiteY2" fmla="*/ 11605 h 557097"/>
                  <a:gd name="connsiteX3" fmla="*/ -28 w 20189"/>
                  <a:gd name="connsiteY3" fmla="*/ 542138 h 557097"/>
                  <a:gd name="connsiteX4" fmla="*/ 894 w 20189"/>
                  <a:gd name="connsiteY4" fmla="*/ 547672 h 557097"/>
                  <a:gd name="connsiteX5" fmla="*/ 12700 w 20189"/>
                  <a:gd name="connsiteY5" fmla="*/ 557449 h 557097"/>
                  <a:gd name="connsiteX6" fmla="*/ 20079 w 20189"/>
                  <a:gd name="connsiteY6" fmla="*/ 557449 h 557097"/>
                  <a:gd name="connsiteX7" fmla="*/ 20079 w 20189"/>
                  <a:gd name="connsiteY7" fmla="*/ 352 h 557097"/>
                  <a:gd name="connsiteX8" fmla="*/ 12700 w 20189"/>
                  <a:gd name="connsiteY8" fmla="*/ 352 h 55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89" h="557097">
                    <a:moveTo>
                      <a:pt x="12700" y="352"/>
                    </a:moveTo>
                    <a:cubicBezTo>
                      <a:pt x="8457" y="1459"/>
                      <a:pt x="3477" y="4041"/>
                      <a:pt x="894" y="7731"/>
                    </a:cubicBezTo>
                    <a:cubicBezTo>
                      <a:pt x="341" y="8469"/>
                      <a:pt x="-28" y="10867"/>
                      <a:pt x="-28" y="11605"/>
                    </a:cubicBezTo>
                    <a:cubicBezTo>
                      <a:pt x="-28" y="47023"/>
                      <a:pt x="-28" y="361727"/>
                      <a:pt x="-28" y="542138"/>
                    </a:cubicBezTo>
                    <a:cubicBezTo>
                      <a:pt x="-28" y="542876"/>
                      <a:pt x="525" y="546750"/>
                      <a:pt x="894" y="547672"/>
                    </a:cubicBezTo>
                    <a:cubicBezTo>
                      <a:pt x="3108" y="553022"/>
                      <a:pt x="6797" y="554313"/>
                      <a:pt x="12700" y="557449"/>
                    </a:cubicBezTo>
                    <a:lnTo>
                      <a:pt x="20079" y="557449"/>
                    </a:lnTo>
                    <a:cubicBezTo>
                      <a:pt x="20079" y="547672"/>
                      <a:pt x="20263" y="9760"/>
                      <a:pt x="20079" y="352"/>
                    </a:cubicBezTo>
                    <a:lnTo>
                      <a:pt x="12700" y="352"/>
                    </a:lnTo>
                    <a:close/>
                  </a:path>
                </a:pathLst>
              </a:custGeom>
              <a:gradFill>
                <a:gsLst>
                  <a:gs pos="21000">
                    <a:schemeClr val="bg1">
                      <a:lumMod val="85000"/>
                    </a:schemeClr>
                  </a:gs>
                  <a:gs pos="2000">
                    <a:schemeClr val="bg2">
                      <a:lumMod val="25000"/>
                    </a:schemeClr>
                  </a:gs>
                  <a:gs pos="1000">
                    <a:schemeClr val="tx1">
                      <a:lumMod val="75000"/>
                      <a:lumOff val="25000"/>
                    </a:schemeClr>
                  </a:gs>
                  <a:gs pos="0">
                    <a:schemeClr val="bg2">
                      <a:lumMod val="25000"/>
                    </a:schemeClr>
                  </a:gs>
                  <a:gs pos="99000">
                    <a:schemeClr val="tx1">
                      <a:lumMod val="75000"/>
                      <a:lumOff val="25000"/>
                    </a:schemeClr>
                  </a:gs>
                  <a:gs pos="82000">
                    <a:schemeClr val="bg1">
                      <a:lumMod val="85000"/>
                    </a:schemeClr>
                  </a:gs>
                  <a:gs pos="98000">
                    <a:schemeClr val="bg2">
                      <a:lumMod val="25000"/>
                    </a:schemeClr>
                  </a:gs>
                  <a:gs pos="100000">
                    <a:schemeClr val="tx1">
                      <a:lumMod val="75000"/>
                      <a:lumOff val="25000"/>
                    </a:schemeClr>
                  </a:gs>
                </a:gsLst>
                <a:lin ang="5400000" scaled="0"/>
              </a:gradFill>
              <a:ln w="6098"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0" name="任意多边形: 形状 19">
                <a:extLst>
                  <a:ext uri="{FF2B5EF4-FFF2-40B4-BE49-F238E27FC236}">
                    <a16:creationId xmlns:a16="http://schemas.microsoft.com/office/drawing/2014/main" id="{F4145ED6-5024-457A-9B53-14C6853D1F5D}"/>
                  </a:ext>
                </a:extLst>
              </p:cNvPr>
              <p:cNvSpPr/>
              <p:nvPr/>
            </p:nvSpPr>
            <p:spPr>
              <a:xfrm>
                <a:off x="5953036" y="1311078"/>
                <a:ext cx="287772" cy="44272"/>
              </a:xfrm>
              <a:custGeom>
                <a:avLst/>
                <a:gdLst>
                  <a:gd name="connsiteX0" fmla="*/ 22793 w 287772"/>
                  <a:gd name="connsiteY0" fmla="*/ 98 h 44272"/>
                  <a:gd name="connsiteX1" fmla="*/ 266293 w 287772"/>
                  <a:gd name="connsiteY1" fmla="*/ 98 h 44272"/>
                  <a:gd name="connsiteX2" fmla="*/ 288429 w 287772"/>
                  <a:gd name="connsiteY2" fmla="*/ 22234 h 44272"/>
                  <a:gd name="connsiteX3" fmla="*/ 288429 w 287772"/>
                  <a:gd name="connsiteY3" fmla="*/ 22234 h 44272"/>
                  <a:gd name="connsiteX4" fmla="*/ 266293 w 287772"/>
                  <a:gd name="connsiteY4" fmla="*/ 44371 h 44272"/>
                  <a:gd name="connsiteX5" fmla="*/ 22793 w 287772"/>
                  <a:gd name="connsiteY5" fmla="*/ 44371 h 44272"/>
                  <a:gd name="connsiteX6" fmla="*/ 657 w 287772"/>
                  <a:gd name="connsiteY6" fmla="*/ 22234 h 44272"/>
                  <a:gd name="connsiteX7" fmla="*/ 657 w 287772"/>
                  <a:gd name="connsiteY7" fmla="*/ 22234 h 44272"/>
                  <a:gd name="connsiteX8" fmla="*/ 22793 w 287772"/>
                  <a:gd name="connsiteY8"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772" h="44272">
                    <a:moveTo>
                      <a:pt x="22793" y="98"/>
                    </a:moveTo>
                    <a:lnTo>
                      <a:pt x="266293" y="98"/>
                    </a:lnTo>
                    <a:cubicBezTo>
                      <a:pt x="278468" y="98"/>
                      <a:pt x="288429" y="10059"/>
                      <a:pt x="288429" y="22234"/>
                    </a:cubicBezTo>
                    <a:lnTo>
                      <a:pt x="288429" y="22234"/>
                    </a:lnTo>
                    <a:cubicBezTo>
                      <a:pt x="288429" y="34409"/>
                      <a:pt x="278468" y="44371"/>
                      <a:pt x="266293" y="44371"/>
                    </a:cubicBezTo>
                    <a:lnTo>
                      <a:pt x="22793" y="44371"/>
                    </a:lnTo>
                    <a:cubicBezTo>
                      <a:pt x="10618" y="44371"/>
                      <a:pt x="657" y="34409"/>
                      <a:pt x="657" y="22234"/>
                    </a:cubicBezTo>
                    <a:lnTo>
                      <a:pt x="657" y="22234"/>
                    </a:lnTo>
                    <a:cubicBezTo>
                      <a:pt x="657" y="10059"/>
                      <a:pt x="10618" y="98"/>
                      <a:pt x="22793" y="98"/>
                    </a:cubicBezTo>
                    <a:close/>
                  </a:path>
                </a:pathLst>
              </a:custGeom>
              <a:solidFill>
                <a:srgbClr val="1D1C1C">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1" name="任意多边形: 形状 20">
                <a:extLst>
                  <a:ext uri="{FF2B5EF4-FFF2-40B4-BE49-F238E27FC236}">
                    <a16:creationId xmlns:a16="http://schemas.microsoft.com/office/drawing/2014/main" id="{B7BA3C7F-4BA2-4E97-B4B5-9338A08413DC}"/>
                  </a:ext>
                </a:extLst>
              </p:cNvPr>
              <p:cNvSpPr/>
              <p:nvPr/>
            </p:nvSpPr>
            <p:spPr>
              <a:xfrm>
                <a:off x="5953036" y="1311078"/>
                <a:ext cx="287772" cy="38738"/>
              </a:xfrm>
              <a:custGeom>
                <a:avLst/>
                <a:gdLst>
                  <a:gd name="connsiteX0" fmla="*/ 288429 w 287772"/>
                  <a:gd name="connsiteY0" fmla="*/ 35701 h 38738"/>
                  <a:gd name="connsiteX1" fmla="*/ 288429 w 287772"/>
                  <a:gd name="connsiteY1" fmla="*/ 38837 h 38738"/>
                  <a:gd name="connsiteX2" fmla="*/ 657 w 287772"/>
                  <a:gd name="connsiteY2" fmla="*/ 38837 h 38738"/>
                  <a:gd name="connsiteX3" fmla="*/ 657 w 287772"/>
                  <a:gd name="connsiteY3" fmla="*/ 35516 h 38738"/>
                  <a:gd name="connsiteX4" fmla="*/ 288429 w 287772"/>
                  <a:gd name="connsiteY4" fmla="*/ 35516 h 38738"/>
                  <a:gd name="connsiteX5" fmla="*/ 288429 w 287772"/>
                  <a:gd name="connsiteY5" fmla="*/ 27584 h 38738"/>
                  <a:gd name="connsiteX6" fmla="*/ 288429 w 287772"/>
                  <a:gd name="connsiteY6" fmla="*/ 30904 h 38738"/>
                  <a:gd name="connsiteX7" fmla="*/ 657 w 287772"/>
                  <a:gd name="connsiteY7" fmla="*/ 30904 h 38738"/>
                  <a:gd name="connsiteX8" fmla="*/ 657 w 287772"/>
                  <a:gd name="connsiteY8" fmla="*/ 27584 h 38738"/>
                  <a:gd name="connsiteX9" fmla="*/ 288429 w 287772"/>
                  <a:gd name="connsiteY9" fmla="*/ 27584 h 38738"/>
                  <a:gd name="connsiteX10" fmla="*/ 288429 w 287772"/>
                  <a:gd name="connsiteY10" fmla="*/ 17807 h 38738"/>
                  <a:gd name="connsiteX11" fmla="*/ 288429 w 287772"/>
                  <a:gd name="connsiteY11" fmla="*/ 21128 h 38738"/>
                  <a:gd name="connsiteX12" fmla="*/ 657 w 287772"/>
                  <a:gd name="connsiteY12" fmla="*/ 21128 h 38738"/>
                  <a:gd name="connsiteX13" fmla="*/ 657 w 287772"/>
                  <a:gd name="connsiteY13" fmla="*/ 17807 h 38738"/>
                  <a:gd name="connsiteX14" fmla="*/ 288429 w 287772"/>
                  <a:gd name="connsiteY14" fmla="*/ 17807 h 38738"/>
                  <a:gd name="connsiteX15" fmla="*/ 288429 w 287772"/>
                  <a:gd name="connsiteY15" fmla="*/ 9875 h 38738"/>
                  <a:gd name="connsiteX16" fmla="*/ 288429 w 287772"/>
                  <a:gd name="connsiteY16" fmla="*/ 13011 h 38738"/>
                  <a:gd name="connsiteX17" fmla="*/ 657 w 287772"/>
                  <a:gd name="connsiteY17" fmla="*/ 13011 h 38738"/>
                  <a:gd name="connsiteX18" fmla="*/ 657 w 287772"/>
                  <a:gd name="connsiteY18" fmla="*/ 9875 h 38738"/>
                  <a:gd name="connsiteX19" fmla="*/ 288429 w 287772"/>
                  <a:gd name="connsiteY19" fmla="*/ 9875 h 38738"/>
                  <a:gd name="connsiteX20" fmla="*/ 288429 w 287772"/>
                  <a:gd name="connsiteY20" fmla="*/ 98 h 38738"/>
                  <a:gd name="connsiteX21" fmla="*/ 288429 w 287772"/>
                  <a:gd name="connsiteY21" fmla="*/ 3418 h 38738"/>
                  <a:gd name="connsiteX22" fmla="*/ 657 w 287772"/>
                  <a:gd name="connsiteY22" fmla="*/ 3418 h 38738"/>
                  <a:gd name="connsiteX23" fmla="*/ 657 w 287772"/>
                  <a:gd name="connsiteY23" fmla="*/ 98 h 38738"/>
                  <a:gd name="connsiteX24" fmla="*/ 288429 w 287772"/>
                  <a:gd name="connsiteY24" fmla="*/ 98 h 3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7772" h="38738">
                    <a:moveTo>
                      <a:pt x="288429" y="35701"/>
                    </a:moveTo>
                    <a:lnTo>
                      <a:pt x="288429" y="38837"/>
                    </a:lnTo>
                    <a:lnTo>
                      <a:pt x="657" y="38837"/>
                    </a:lnTo>
                    <a:lnTo>
                      <a:pt x="657" y="35516"/>
                    </a:lnTo>
                    <a:lnTo>
                      <a:pt x="288429" y="35516"/>
                    </a:lnTo>
                    <a:close/>
                    <a:moveTo>
                      <a:pt x="288429" y="27584"/>
                    </a:moveTo>
                    <a:lnTo>
                      <a:pt x="288429" y="30904"/>
                    </a:lnTo>
                    <a:lnTo>
                      <a:pt x="657" y="30904"/>
                    </a:lnTo>
                    <a:lnTo>
                      <a:pt x="657" y="27584"/>
                    </a:lnTo>
                    <a:lnTo>
                      <a:pt x="288429" y="27584"/>
                    </a:lnTo>
                    <a:close/>
                    <a:moveTo>
                      <a:pt x="288429" y="17807"/>
                    </a:moveTo>
                    <a:lnTo>
                      <a:pt x="288429" y="21128"/>
                    </a:lnTo>
                    <a:lnTo>
                      <a:pt x="657" y="21128"/>
                    </a:lnTo>
                    <a:lnTo>
                      <a:pt x="657" y="17807"/>
                    </a:lnTo>
                    <a:lnTo>
                      <a:pt x="288429" y="17807"/>
                    </a:lnTo>
                    <a:close/>
                    <a:moveTo>
                      <a:pt x="288429" y="9875"/>
                    </a:moveTo>
                    <a:lnTo>
                      <a:pt x="288429" y="13011"/>
                    </a:lnTo>
                    <a:lnTo>
                      <a:pt x="657" y="13011"/>
                    </a:lnTo>
                    <a:lnTo>
                      <a:pt x="657" y="9875"/>
                    </a:lnTo>
                    <a:lnTo>
                      <a:pt x="288429" y="9875"/>
                    </a:lnTo>
                    <a:close/>
                    <a:moveTo>
                      <a:pt x="288429" y="98"/>
                    </a:moveTo>
                    <a:lnTo>
                      <a:pt x="288429" y="3418"/>
                    </a:lnTo>
                    <a:lnTo>
                      <a:pt x="657" y="3418"/>
                    </a:lnTo>
                    <a:lnTo>
                      <a:pt x="657" y="98"/>
                    </a:lnTo>
                    <a:lnTo>
                      <a:pt x="288429" y="98"/>
                    </a:lnTo>
                    <a:close/>
                  </a:path>
                </a:pathLst>
              </a:custGeom>
              <a:solidFill>
                <a:srgbClr val="000000">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2" name="任意多边形: 形状 21">
                <a:extLst>
                  <a:ext uri="{FF2B5EF4-FFF2-40B4-BE49-F238E27FC236}">
                    <a16:creationId xmlns:a16="http://schemas.microsoft.com/office/drawing/2014/main" id="{5E013E8D-4586-4225-A477-26597044071A}"/>
                  </a:ext>
                </a:extLst>
              </p:cNvPr>
              <p:cNvSpPr/>
              <p:nvPr/>
            </p:nvSpPr>
            <p:spPr>
              <a:xfrm>
                <a:off x="5953036" y="1318457"/>
                <a:ext cx="287772" cy="38738"/>
              </a:xfrm>
              <a:custGeom>
                <a:avLst/>
                <a:gdLst>
                  <a:gd name="connsiteX0" fmla="*/ 288429 w 287772"/>
                  <a:gd name="connsiteY0" fmla="*/ 35701 h 38738"/>
                  <a:gd name="connsiteX1" fmla="*/ 288429 w 287772"/>
                  <a:gd name="connsiteY1" fmla="*/ 38837 h 38738"/>
                  <a:gd name="connsiteX2" fmla="*/ 657 w 287772"/>
                  <a:gd name="connsiteY2" fmla="*/ 38837 h 38738"/>
                  <a:gd name="connsiteX3" fmla="*/ 657 w 287772"/>
                  <a:gd name="connsiteY3" fmla="*/ 35516 h 38738"/>
                  <a:gd name="connsiteX4" fmla="*/ 288429 w 287772"/>
                  <a:gd name="connsiteY4" fmla="*/ 35516 h 38738"/>
                  <a:gd name="connsiteX5" fmla="*/ 288429 w 287772"/>
                  <a:gd name="connsiteY5" fmla="*/ 27584 h 38738"/>
                  <a:gd name="connsiteX6" fmla="*/ 288429 w 287772"/>
                  <a:gd name="connsiteY6" fmla="*/ 30904 h 38738"/>
                  <a:gd name="connsiteX7" fmla="*/ 657 w 287772"/>
                  <a:gd name="connsiteY7" fmla="*/ 30904 h 38738"/>
                  <a:gd name="connsiteX8" fmla="*/ 657 w 287772"/>
                  <a:gd name="connsiteY8" fmla="*/ 27584 h 38738"/>
                  <a:gd name="connsiteX9" fmla="*/ 288429 w 287772"/>
                  <a:gd name="connsiteY9" fmla="*/ 27584 h 38738"/>
                  <a:gd name="connsiteX10" fmla="*/ 288429 w 287772"/>
                  <a:gd name="connsiteY10" fmla="*/ 17807 h 38738"/>
                  <a:gd name="connsiteX11" fmla="*/ 288429 w 287772"/>
                  <a:gd name="connsiteY11" fmla="*/ 21128 h 38738"/>
                  <a:gd name="connsiteX12" fmla="*/ 657 w 287772"/>
                  <a:gd name="connsiteY12" fmla="*/ 21128 h 38738"/>
                  <a:gd name="connsiteX13" fmla="*/ 657 w 287772"/>
                  <a:gd name="connsiteY13" fmla="*/ 17807 h 38738"/>
                  <a:gd name="connsiteX14" fmla="*/ 288429 w 287772"/>
                  <a:gd name="connsiteY14" fmla="*/ 17807 h 38738"/>
                  <a:gd name="connsiteX15" fmla="*/ 288429 w 287772"/>
                  <a:gd name="connsiteY15" fmla="*/ 9875 h 38738"/>
                  <a:gd name="connsiteX16" fmla="*/ 288429 w 287772"/>
                  <a:gd name="connsiteY16" fmla="*/ 13011 h 38738"/>
                  <a:gd name="connsiteX17" fmla="*/ 657 w 287772"/>
                  <a:gd name="connsiteY17" fmla="*/ 13011 h 38738"/>
                  <a:gd name="connsiteX18" fmla="*/ 657 w 287772"/>
                  <a:gd name="connsiteY18" fmla="*/ 9875 h 38738"/>
                  <a:gd name="connsiteX19" fmla="*/ 288429 w 287772"/>
                  <a:gd name="connsiteY19" fmla="*/ 9875 h 38738"/>
                  <a:gd name="connsiteX20" fmla="*/ 288429 w 287772"/>
                  <a:gd name="connsiteY20" fmla="*/ 98 h 38738"/>
                  <a:gd name="connsiteX21" fmla="*/ 288429 w 287772"/>
                  <a:gd name="connsiteY21" fmla="*/ 3418 h 38738"/>
                  <a:gd name="connsiteX22" fmla="*/ 657 w 287772"/>
                  <a:gd name="connsiteY22" fmla="*/ 3418 h 38738"/>
                  <a:gd name="connsiteX23" fmla="*/ 657 w 287772"/>
                  <a:gd name="connsiteY23" fmla="*/ 98 h 38738"/>
                  <a:gd name="connsiteX24" fmla="*/ 288429 w 287772"/>
                  <a:gd name="connsiteY24" fmla="*/ 98 h 3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7772" h="38738">
                    <a:moveTo>
                      <a:pt x="288429" y="35701"/>
                    </a:moveTo>
                    <a:lnTo>
                      <a:pt x="288429" y="38837"/>
                    </a:lnTo>
                    <a:lnTo>
                      <a:pt x="657" y="38837"/>
                    </a:lnTo>
                    <a:lnTo>
                      <a:pt x="657" y="35516"/>
                    </a:lnTo>
                    <a:lnTo>
                      <a:pt x="288429" y="35516"/>
                    </a:lnTo>
                    <a:close/>
                    <a:moveTo>
                      <a:pt x="288429" y="27584"/>
                    </a:moveTo>
                    <a:lnTo>
                      <a:pt x="288429" y="30904"/>
                    </a:lnTo>
                    <a:lnTo>
                      <a:pt x="657" y="30904"/>
                    </a:lnTo>
                    <a:lnTo>
                      <a:pt x="657" y="27584"/>
                    </a:lnTo>
                    <a:lnTo>
                      <a:pt x="288429" y="27584"/>
                    </a:lnTo>
                    <a:close/>
                    <a:moveTo>
                      <a:pt x="288429" y="17807"/>
                    </a:moveTo>
                    <a:lnTo>
                      <a:pt x="288429" y="21128"/>
                    </a:lnTo>
                    <a:lnTo>
                      <a:pt x="657" y="21128"/>
                    </a:lnTo>
                    <a:lnTo>
                      <a:pt x="657" y="17807"/>
                    </a:lnTo>
                    <a:lnTo>
                      <a:pt x="288429" y="17807"/>
                    </a:lnTo>
                    <a:close/>
                    <a:moveTo>
                      <a:pt x="288429" y="9875"/>
                    </a:moveTo>
                    <a:lnTo>
                      <a:pt x="288429" y="13011"/>
                    </a:lnTo>
                    <a:lnTo>
                      <a:pt x="657" y="13011"/>
                    </a:lnTo>
                    <a:lnTo>
                      <a:pt x="657" y="9875"/>
                    </a:lnTo>
                    <a:lnTo>
                      <a:pt x="288429" y="9875"/>
                    </a:lnTo>
                    <a:close/>
                    <a:moveTo>
                      <a:pt x="288429" y="98"/>
                    </a:moveTo>
                    <a:lnTo>
                      <a:pt x="288429" y="3418"/>
                    </a:lnTo>
                    <a:lnTo>
                      <a:pt x="657" y="3418"/>
                    </a:lnTo>
                    <a:lnTo>
                      <a:pt x="657" y="98"/>
                    </a:lnTo>
                    <a:lnTo>
                      <a:pt x="288429" y="98"/>
                    </a:lnTo>
                    <a:close/>
                  </a:path>
                </a:pathLst>
              </a:custGeom>
              <a:solidFill>
                <a:srgbClr val="FFFFFF">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3" name="任意多边形: 形状 22">
                <a:extLst>
                  <a:ext uri="{FF2B5EF4-FFF2-40B4-BE49-F238E27FC236}">
                    <a16:creationId xmlns:a16="http://schemas.microsoft.com/office/drawing/2014/main" id="{783A8B85-035B-49BE-B94A-A140366142ED}"/>
                  </a:ext>
                </a:extLst>
              </p:cNvPr>
              <p:cNvSpPr/>
              <p:nvPr/>
            </p:nvSpPr>
            <p:spPr>
              <a:xfrm>
                <a:off x="5959493" y="1311078"/>
                <a:ext cx="274859" cy="44272"/>
              </a:xfrm>
              <a:custGeom>
                <a:avLst/>
                <a:gdLst>
                  <a:gd name="connsiteX0" fmla="*/ 3977 w 274859"/>
                  <a:gd name="connsiteY0" fmla="*/ 98 h 44272"/>
                  <a:gd name="connsiteX1" fmla="*/ 3977 w 274859"/>
                  <a:gd name="connsiteY1" fmla="*/ 44371 h 44272"/>
                  <a:gd name="connsiteX2" fmla="*/ 657 w 274859"/>
                  <a:gd name="connsiteY2" fmla="*/ 44371 h 44272"/>
                  <a:gd name="connsiteX3" fmla="*/ 657 w 274859"/>
                  <a:gd name="connsiteY3" fmla="*/ 98 h 44272"/>
                  <a:gd name="connsiteX4" fmla="*/ 3977 w 274859"/>
                  <a:gd name="connsiteY4" fmla="*/ 98 h 44272"/>
                  <a:gd name="connsiteX5" fmla="*/ 13754 w 274859"/>
                  <a:gd name="connsiteY5" fmla="*/ 98 h 44272"/>
                  <a:gd name="connsiteX6" fmla="*/ 13754 w 274859"/>
                  <a:gd name="connsiteY6" fmla="*/ 44371 h 44272"/>
                  <a:gd name="connsiteX7" fmla="*/ 10434 w 274859"/>
                  <a:gd name="connsiteY7" fmla="*/ 44371 h 44272"/>
                  <a:gd name="connsiteX8" fmla="*/ 10434 w 274859"/>
                  <a:gd name="connsiteY8" fmla="*/ 98 h 44272"/>
                  <a:gd name="connsiteX9" fmla="*/ 13754 w 274859"/>
                  <a:gd name="connsiteY9" fmla="*/ 98 h 44272"/>
                  <a:gd name="connsiteX10" fmla="*/ 21871 w 274859"/>
                  <a:gd name="connsiteY10" fmla="*/ 98 h 44272"/>
                  <a:gd name="connsiteX11" fmla="*/ 21871 w 274859"/>
                  <a:gd name="connsiteY11" fmla="*/ 44371 h 44272"/>
                  <a:gd name="connsiteX12" fmla="*/ 18551 w 274859"/>
                  <a:gd name="connsiteY12" fmla="*/ 44371 h 44272"/>
                  <a:gd name="connsiteX13" fmla="*/ 18551 w 274859"/>
                  <a:gd name="connsiteY13" fmla="*/ 98 h 44272"/>
                  <a:gd name="connsiteX14" fmla="*/ 21871 w 274859"/>
                  <a:gd name="connsiteY14" fmla="*/ 98 h 44272"/>
                  <a:gd name="connsiteX15" fmla="*/ 31832 w 274859"/>
                  <a:gd name="connsiteY15" fmla="*/ 98 h 44272"/>
                  <a:gd name="connsiteX16" fmla="*/ 31832 w 274859"/>
                  <a:gd name="connsiteY16" fmla="*/ 44371 h 44272"/>
                  <a:gd name="connsiteX17" fmla="*/ 28512 w 274859"/>
                  <a:gd name="connsiteY17" fmla="*/ 44371 h 44272"/>
                  <a:gd name="connsiteX18" fmla="*/ 28512 w 274859"/>
                  <a:gd name="connsiteY18" fmla="*/ 98 h 44272"/>
                  <a:gd name="connsiteX19" fmla="*/ 31832 w 274859"/>
                  <a:gd name="connsiteY19" fmla="*/ 98 h 44272"/>
                  <a:gd name="connsiteX20" fmla="*/ 39949 w 274859"/>
                  <a:gd name="connsiteY20" fmla="*/ 98 h 44272"/>
                  <a:gd name="connsiteX21" fmla="*/ 39949 w 274859"/>
                  <a:gd name="connsiteY21" fmla="*/ 44371 h 44272"/>
                  <a:gd name="connsiteX22" fmla="*/ 36629 w 274859"/>
                  <a:gd name="connsiteY22" fmla="*/ 44371 h 44272"/>
                  <a:gd name="connsiteX23" fmla="*/ 36629 w 274859"/>
                  <a:gd name="connsiteY23" fmla="*/ 98 h 44272"/>
                  <a:gd name="connsiteX24" fmla="*/ 39949 w 274859"/>
                  <a:gd name="connsiteY24" fmla="*/ 98 h 44272"/>
                  <a:gd name="connsiteX25" fmla="*/ 49726 w 274859"/>
                  <a:gd name="connsiteY25" fmla="*/ 98 h 44272"/>
                  <a:gd name="connsiteX26" fmla="*/ 49726 w 274859"/>
                  <a:gd name="connsiteY26" fmla="*/ 44371 h 44272"/>
                  <a:gd name="connsiteX27" fmla="*/ 46405 w 274859"/>
                  <a:gd name="connsiteY27" fmla="*/ 44371 h 44272"/>
                  <a:gd name="connsiteX28" fmla="*/ 46405 w 274859"/>
                  <a:gd name="connsiteY28" fmla="*/ 98 h 44272"/>
                  <a:gd name="connsiteX29" fmla="*/ 49726 w 274859"/>
                  <a:gd name="connsiteY29" fmla="*/ 98 h 44272"/>
                  <a:gd name="connsiteX30" fmla="*/ 57842 w 274859"/>
                  <a:gd name="connsiteY30" fmla="*/ 98 h 44272"/>
                  <a:gd name="connsiteX31" fmla="*/ 57842 w 274859"/>
                  <a:gd name="connsiteY31" fmla="*/ 44371 h 44272"/>
                  <a:gd name="connsiteX32" fmla="*/ 54707 w 274859"/>
                  <a:gd name="connsiteY32" fmla="*/ 44371 h 44272"/>
                  <a:gd name="connsiteX33" fmla="*/ 54707 w 274859"/>
                  <a:gd name="connsiteY33" fmla="*/ 98 h 44272"/>
                  <a:gd name="connsiteX34" fmla="*/ 57842 w 274859"/>
                  <a:gd name="connsiteY34" fmla="*/ 98 h 44272"/>
                  <a:gd name="connsiteX35" fmla="*/ 67804 w 274859"/>
                  <a:gd name="connsiteY35" fmla="*/ 98 h 44272"/>
                  <a:gd name="connsiteX36" fmla="*/ 67804 w 274859"/>
                  <a:gd name="connsiteY36" fmla="*/ 44371 h 44272"/>
                  <a:gd name="connsiteX37" fmla="*/ 64483 w 274859"/>
                  <a:gd name="connsiteY37" fmla="*/ 44371 h 44272"/>
                  <a:gd name="connsiteX38" fmla="*/ 64483 w 274859"/>
                  <a:gd name="connsiteY38" fmla="*/ 98 h 44272"/>
                  <a:gd name="connsiteX39" fmla="*/ 67804 w 274859"/>
                  <a:gd name="connsiteY39" fmla="*/ 98 h 44272"/>
                  <a:gd name="connsiteX40" fmla="*/ 75920 w 274859"/>
                  <a:gd name="connsiteY40" fmla="*/ 98 h 44272"/>
                  <a:gd name="connsiteX41" fmla="*/ 75920 w 274859"/>
                  <a:gd name="connsiteY41" fmla="*/ 44371 h 44272"/>
                  <a:gd name="connsiteX42" fmla="*/ 72600 w 274859"/>
                  <a:gd name="connsiteY42" fmla="*/ 44371 h 44272"/>
                  <a:gd name="connsiteX43" fmla="*/ 72600 w 274859"/>
                  <a:gd name="connsiteY43" fmla="*/ 98 h 44272"/>
                  <a:gd name="connsiteX44" fmla="*/ 75920 w 274859"/>
                  <a:gd name="connsiteY44" fmla="*/ 98 h 44272"/>
                  <a:gd name="connsiteX45" fmla="*/ 85697 w 274859"/>
                  <a:gd name="connsiteY45" fmla="*/ 98 h 44272"/>
                  <a:gd name="connsiteX46" fmla="*/ 85697 w 274859"/>
                  <a:gd name="connsiteY46" fmla="*/ 44371 h 44272"/>
                  <a:gd name="connsiteX47" fmla="*/ 82377 w 274859"/>
                  <a:gd name="connsiteY47" fmla="*/ 44371 h 44272"/>
                  <a:gd name="connsiteX48" fmla="*/ 82377 w 274859"/>
                  <a:gd name="connsiteY48" fmla="*/ 98 h 44272"/>
                  <a:gd name="connsiteX49" fmla="*/ 85697 w 274859"/>
                  <a:gd name="connsiteY49" fmla="*/ 98 h 44272"/>
                  <a:gd name="connsiteX50" fmla="*/ 93998 w 274859"/>
                  <a:gd name="connsiteY50" fmla="*/ 98 h 44272"/>
                  <a:gd name="connsiteX51" fmla="*/ 93998 w 274859"/>
                  <a:gd name="connsiteY51" fmla="*/ 44371 h 44272"/>
                  <a:gd name="connsiteX52" fmla="*/ 90678 w 274859"/>
                  <a:gd name="connsiteY52" fmla="*/ 44371 h 44272"/>
                  <a:gd name="connsiteX53" fmla="*/ 90678 w 274859"/>
                  <a:gd name="connsiteY53" fmla="*/ 98 h 44272"/>
                  <a:gd name="connsiteX54" fmla="*/ 93998 w 274859"/>
                  <a:gd name="connsiteY54" fmla="*/ 98 h 44272"/>
                  <a:gd name="connsiteX55" fmla="*/ 103775 w 274859"/>
                  <a:gd name="connsiteY55" fmla="*/ 98 h 44272"/>
                  <a:gd name="connsiteX56" fmla="*/ 103775 w 274859"/>
                  <a:gd name="connsiteY56" fmla="*/ 44371 h 44272"/>
                  <a:gd name="connsiteX57" fmla="*/ 100455 w 274859"/>
                  <a:gd name="connsiteY57" fmla="*/ 44371 h 44272"/>
                  <a:gd name="connsiteX58" fmla="*/ 100455 w 274859"/>
                  <a:gd name="connsiteY58" fmla="*/ 98 h 44272"/>
                  <a:gd name="connsiteX59" fmla="*/ 103775 w 274859"/>
                  <a:gd name="connsiteY59" fmla="*/ 98 h 44272"/>
                  <a:gd name="connsiteX60" fmla="*/ 111892 w 274859"/>
                  <a:gd name="connsiteY60" fmla="*/ 98 h 44272"/>
                  <a:gd name="connsiteX61" fmla="*/ 111892 w 274859"/>
                  <a:gd name="connsiteY61" fmla="*/ 44371 h 44272"/>
                  <a:gd name="connsiteX62" fmla="*/ 108572 w 274859"/>
                  <a:gd name="connsiteY62" fmla="*/ 44371 h 44272"/>
                  <a:gd name="connsiteX63" fmla="*/ 108572 w 274859"/>
                  <a:gd name="connsiteY63" fmla="*/ 98 h 44272"/>
                  <a:gd name="connsiteX64" fmla="*/ 111892 w 274859"/>
                  <a:gd name="connsiteY64" fmla="*/ 98 h 44272"/>
                  <a:gd name="connsiteX65" fmla="*/ 121669 w 274859"/>
                  <a:gd name="connsiteY65" fmla="*/ 98 h 44272"/>
                  <a:gd name="connsiteX66" fmla="*/ 121669 w 274859"/>
                  <a:gd name="connsiteY66" fmla="*/ 44371 h 44272"/>
                  <a:gd name="connsiteX67" fmla="*/ 118348 w 274859"/>
                  <a:gd name="connsiteY67" fmla="*/ 44371 h 44272"/>
                  <a:gd name="connsiteX68" fmla="*/ 118348 w 274859"/>
                  <a:gd name="connsiteY68" fmla="*/ 98 h 44272"/>
                  <a:gd name="connsiteX69" fmla="*/ 121669 w 274859"/>
                  <a:gd name="connsiteY69" fmla="*/ 98 h 44272"/>
                  <a:gd name="connsiteX70" fmla="*/ 131630 w 274859"/>
                  <a:gd name="connsiteY70" fmla="*/ 98 h 44272"/>
                  <a:gd name="connsiteX71" fmla="*/ 131630 w 274859"/>
                  <a:gd name="connsiteY71" fmla="*/ 44371 h 44272"/>
                  <a:gd name="connsiteX72" fmla="*/ 128310 w 274859"/>
                  <a:gd name="connsiteY72" fmla="*/ 44371 h 44272"/>
                  <a:gd name="connsiteX73" fmla="*/ 128310 w 274859"/>
                  <a:gd name="connsiteY73" fmla="*/ 98 h 44272"/>
                  <a:gd name="connsiteX74" fmla="*/ 131630 w 274859"/>
                  <a:gd name="connsiteY74" fmla="*/ 98 h 44272"/>
                  <a:gd name="connsiteX75" fmla="*/ 139747 w 274859"/>
                  <a:gd name="connsiteY75" fmla="*/ 98 h 44272"/>
                  <a:gd name="connsiteX76" fmla="*/ 139747 w 274859"/>
                  <a:gd name="connsiteY76" fmla="*/ 44371 h 44272"/>
                  <a:gd name="connsiteX77" fmla="*/ 136426 w 274859"/>
                  <a:gd name="connsiteY77" fmla="*/ 44371 h 44272"/>
                  <a:gd name="connsiteX78" fmla="*/ 136426 w 274859"/>
                  <a:gd name="connsiteY78" fmla="*/ 98 h 44272"/>
                  <a:gd name="connsiteX79" fmla="*/ 139747 w 274859"/>
                  <a:gd name="connsiteY79" fmla="*/ 98 h 44272"/>
                  <a:gd name="connsiteX80" fmla="*/ 149524 w 274859"/>
                  <a:gd name="connsiteY80" fmla="*/ 98 h 44272"/>
                  <a:gd name="connsiteX81" fmla="*/ 149524 w 274859"/>
                  <a:gd name="connsiteY81" fmla="*/ 44371 h 44272"/>
                  <a:gd name="connsiteX82" fmla="*/ 146203 w 274859"/>
                  <a:gd name="connsiteY82" fmla="*/ 44371 h 44272"/>
                  <a:gd name="connsiteX83" fmla="*/ 146203 w 274859"/>
                  <a:gd name="connsiteY83" fmla="*/ 98 h 44272"/>
                  <a:gd name="connsiteX84" fmla="*/ 149524 w 274859"/>
                  <a:gd name="connsiteY84" fmla="*/ 98 h 44272"/>
                  <a:gd name="connsiteX85" fmla="*/ 157640 w 274859"/>
                  <a:gd name="connsiteY85" fmla="*/ 98 h 44272"/>
                  <a:gd name="connsiteX86" fmla="*/ 157640 w 274859"/>
                  <a:gd name="connsiteY86" fmla="*/ 44371 h 44272"/>
                  <a:gd name="connsiteX87" fmla="*/ 154320 w 274859"/>
                  <a:gd name="connsiteY87" fmla="*/ 44371 h 44272"/>
                  <a:gd name="connsiteX88" fmla="*/ 154320 w 274859"/>
                  <a:gd name="connsiteY88" fmla="*/ 98 h 44272"/>
                  <a:gd name="connsiteX89" fmla="*/ 157640 w 274859"/>
                  <a:gd name="connsiteY89" fmla="*/ 98 h 44272"/>
                  <a:gd name="connsiteX90" fmla="*/ 167602 w 274859"/>
                  <a:gd name="connsiteY90" fmla="*/ 98 h 44272"/>
                  <a:gd name="connsiteX91" fmla="*/ 167602 w 274859"/>
                  <a:gd name="connsiteY91" fmla="*/ 44371 h 44272"/>
                  <a:gd name="connsiteX92" fmla="*/ 164281 w 274859"/>
                  <a:gd name="connsiteY92" fmla="*/ 44371 h 44272"/>
                  <a:gd name="connsiteX93" fmla="*/ 164281 w 274859"/>
                  <a:gd name="connsiteY93" fmla="*/ 98 h 44272"/>
                  <a:gd name="connsiteX94" fmla="*/ 167602 w 274859"/>
                  <a:gd name="connsiteY94" fmla="*/ 98 h 44272"/>
                  <a:gd name="connsiteX95" fmla="*/ 175718 w 274859"/>
                  <a:gd name="connsiteY95" fmla="*/ 98 h 44272"/>
                  <a:gd name="connsiteX96" fmla="*/ 175718 w 274859"/>
                  <a:gd name="connsiteY96" fmla="*/ 44371 h 44272"/>
                  <a:gd name="connsiteX97" fmla="*/ 172398 w 274859"/>
                  <a:gd name="connsiteY97" fmla="*/ 44371 h 44272"/>
                  <a:gd name="connsiteX98" fmla="*/ 172398 w 274859"/>
                  <a:gd name="connsiteY98" fmla="*/ 98 h 44272"/>
                  <a:gd name="connsiteX99" fmla="*/ 175718 w 274859"/>
                  <a:gd name="connsiteY99" fmla="*/ 98 h 44272"/>
                  <a:gd name="connsiteX100" fmla="*/ 185495 w 274859"/>
                  <a:gd name="connsiteY100" fmla="*/ 98 h 44272"/>
                  <a:gd name="connsiteX101" fmla="*/ 185495 w 274859"/>
                  <a:gd name="connsiteY101" fmla="*/ 44371 h 44272"/>
                  <a:gd name="connsiteX102" fmla="*/ 182175 w 274859"/>
                  <a:gd name="connsiteY102" fmla="*/ 44371 h 44272"/>
                  <a:gd name="connsiteX103" fmla="*/ 182175 w 274859"/>
                  <a:gd name="connsiteY103" fmla="*/ 98 h 44272"/>
                  <a:gd name="connsiteX104" fmla="*/ 185495 w 274859"/>
                  <a:gd name="connsiteY104" fmla="*/ 98 h 44272"/>
                  <a:gd name="connsiteX105" fmla="*/ 193796 w 274859"/>
                  <a:gd name="connsiteY105" fmla="*/ 98 h 44272"/>
                  <a:gd name="connsiteX106" fmla="*/ 193796 w 274859"/>
                  <a:gd name="connsiteY106" fmla="*/ 44371 h 44272"/>
                  <a:gd name="connsiteX107" fmla="*/ 190476 w 274859"/>
                  <a:gd name="connsiteY107" fmla="*/ 44371 h 44272"/>
                  <a:gd name="connsiteX108" fmla="*/ 190476 w 274859"/>
                  <a:gd name="connsiteY108" fmla="*/ 98 h 44272"/>
                  <a:gd name="connsiteX109" fmla="*/ 193796 w 274859"/>
                  <a:gd name="connsiteY109" fmla="*/ 98 h 44272"/>
                  <a:gd name="connsiteX110" fmla="*/ 203573 w 274859"/>
                  <a:gd name="connsiteY110" fmla="*/ 98 h 44272"/>
                  <a:gd name="connsiteX111" fmla="*/ 203573 w 274859"/>
                  <a:gd name="connsiteY111" fmla="*/ 44371 h 44272"/>
                  <a:gd name="connsiteX112" fmla="*/ 200253 w 274859"/>
                  <a:gd name="connsiteY112" fmla="*/ 44371 h 44272"/>
                  <a:gd name="connsiteX113" fmla="*/ 200253 w 274859"/>
                  <a:gd name="connsiteY113" fmla="*/ 98 h 44272"/>
                  <a:gd name="connsiteX114" fmla="*/ 203573 w 274859"/>
                  <a:gd name="connsiteY114" fmla="*/ 98 h 44272"/>
                  <a:gd name="connsiteX115" fmla="*/ 211690 w 274859"/>
                  <a:gd name="connsiteY115" fmla="*/ 98 h 44272"/>
                  <a:gd name="connsiteX116" fmla="*/ 211690 w 274859"/>
                  <a:gd name="connsiteY116" fmla="*/ 44371 h 44272"/>
                  <a:gd name="connsiteX117" fmla="*/ 208369 w 274859"/>
                  <a:gd name="connsiteY117" fmla="*/ 44371 h 44272"/>
                  <a:gd name="connsiteX118" fmla="*/ 208369 w 274859"/>
                  <a:gd name="connsiteY118" fmla="*/ 98 h 44272"/>
                  <a:gd name="connsiteX119" fmla="*/ 211690 w 274859"/>
                  <a:gd name="connsiteY119" fmla="*/ 98 h 44272"/>
                  <a:gd name="connsiteX120" fmla="*/ 221467 w 274859"/>
                  <a:gd name="connsiteY120" fmla="*/ 98 h 44272"/>
                  <a:gd name="connsiteX121" fmla="*/ 221467 w 274859"/>
                  <a:gd name="connsiteY121" fmla="*/ 44371 h 44272"/>
                  <a:gd name="connsiteX122" fmla="*/ 218146 w 274859"/>
                  <a:gd name="connsiteY122" fmla="*/ 44371 h 44272"/>
                  <a:gd name="connsiteX123" fmla="*/ 218146 w 274859"/>
                  <a:gd name="connsiteY123" fmla="*/ 98 h 44272"/>
                  <a:gd name="connsiteX124" fmla="*/ 221467 w 274859"/>
                  <a:gd name="connsiteY124" fmla="*/ 98 h 44272"/>
                  <a:gd name="connsiteX125" fmla="*/ 229768 w 274859"/>
                  <a:gd name="connsiteY125" fmla="*/ 98 h 44272"/>
                  <a:gd name="connsiteX126" fmla="*/ 229768 w 274859"/>
                  <a:gd name="connsiteY126" fmla="*/ 44371 h 44272"/>
                  <a:gd name="connsiteX127" fmla="*/ 226447 w 274859"/>
                  <a:gd name="connsiteY127" fmla="*/ 44371 h 44272"/>
                  <a:gd name="connsiteX128" fmla="*/ 226447 w 274859"/>
                  <a:gd name="connsiteY128" fmla="*/ 98 h 44272"/>
                  <a:gd name="connsiteX129" fmla="*/ 229768 w 274859"/>
                  <a:gd name="connsiteY129" fmla="*/ 98 h 44272"/>
                  <a:gd name="connsiteX130" fmla="*/ 239545 w 274859"/>
                  <a:gd name="connsiteY130" fmla="*/ 98 h 44272"/>
                  <a:gd name="connsiteX131" fmla="*/ 239545 w 274859"/>
                  <a:gd name="connsiteY131" fmla="*/ 44371 h 44272"/>
                  <a:gd name="connsiteX132" fmla="*/ 236224 w 274859"/>
                  <a:gd name="connsiteY132" fmla="*/ 44371 h 44272"/>
                  <a:gd name="connsiteX133" fmla="*/ 236224 w 274859"/>
                  <a:gd name="connsiteY133" fmla="*/ 98 h 44272"/>
                  <a:gd name="connsiteX134" fmla="*/ 239545 w 274859"/>
                  <a:gd name="connsiteY134" fmla="*/ 98 h 44272"/>
                  <a:gd name="connsiteX135" fmla="*/ 249322 w 274859"/>
                  <a:gd name="connsiteY135" fmla="*/ 98 h 44272"/>
                  <a:gd name="connsiteX136" fmla="*/ 249322 w 274859"/>
                  <a:gd name="connsiteY136" fmla="*/ 44371 h 44272"/>
                  <a:gd name="connsiteX137" fmla="*/ 246001 w 274859"/>
                  <a:gd name="connsiteY137" fmla="*/ 44371 h 44272"/>
                  <a:gd name="connsiteX138" fmla="*/ 246001 w 274859"/>
                  <a:gd name="connsiteY138" fmla="*/ 98 h 44272"/>
                  <a:gd name="connsiteX139" fmla="*/ 249322 w 274859"/>
                  <a:gd name="connsiteY139" fmla="*/ 98 h 44272"/>
                  <a:gd name="connsiteX140" fmla="*/ 257438 w 274859"/>
                  <a:gd name="connsiteY140" fmla="*/ 98 h 44272"/>
                  <a:gd name="connsiteX141" fmla="*/ 257438 w 274859"/>
                  <a:gd name="connsiteY141" fmla="*/ 44371 h 44272"/>
                  <a:gd name="connsiteX142" fmla="*/ 254302 w 274859"/>
                  <a:gd name="connsiteY142" fmla="*/ 44371 h 44272"/>
                  <a:gd name="connsiteX143" fmla="*/ 254302 w 274859"/>
                  <a:gd name="connsiteY143" fmla="*/ 98 h 44272"/>
                  <a:gd name="connsiteX144" fmla="*/ 257438 w 274859"/>
                  <a:gd name="connsiteY144" fmla="*/ 98 h 44272"/>
                  <a:gd name="connsiteX145" fmla="*/ 267400 w 274859"/>
                  <a:gd name="connsiteY145" fmla="*/ 98 h 44272"/>
                  <a:gd name="connsiteX146" fmla="*/ 267400 w 274859"/>
                  <a:gd name="connsiteY146" fmla="*/ 44371 h 44272"/>
                  <a:gd name="connsiteX147" fmla="*/ 264079 w 274859"/>
                  <a:gd name="connsiteY147" fmla="*/ 44371 h 44272"/>
                  <a:gd name="connsiteX148" fmla="*/ 264079 w 274859"/>
                  <a:gd name="connsiteY148" fmla="*/ 98 h 44272"/>
                  <a:gd name="connsiteX149" fmla="*/ 267400 w 274859"/>
                  <a:gd name="connsiteY149" fmla="*/ 98 h 44272"/>
                  <a:gd name="connsiteX150" fmla="*/ 275516 w 274859"/>
                  <a:gd name="connsiteY150" fmla="*/ 98 h 44272"/>
                  <a:gd name="connsiteX151" fmla="*/ 275516 w 274859"/>
                  <a:gd name="connsiteY151" fmla="*/ 44371 h 44272"/>
                  <a:gd name="connsiteX152" fmla="*/ 272196 w 274859"/>
                  <a:gd name="connsiteY152" fmla="*/ 44371 h 44272"/>
                  <a:gd name="connsiteX153" fmla="*/ 272196 w 274859"/>
                  <a:gd name="connsiteY153" fmla="*/ 98 h 44272"/>
                  <a:gd name="connsiteX154" fmla="*/ 275516 w 274859"/>
                  <a:gd name="connsiteY154"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74859" h="44272">
                    <a:moveTo>
                      <a:pt x="3977" y="98"/>
                    </a:moveTo>
                    <a:lnTo>
                      <a:pt x="3977" y="44371"/>
                    </a:lnTo>
                    <a:lnTo>
                      <a:pt x="657" y="44371"/>
                    </a:lnTo>
                    <a:lnTo>
                      <a:pt x="657" y="98"/>
                    </a:lnTo>
                    <a:lnTo>
                      <a:pt x="3977" y="98"/>
                    </a:lnTo>
                    <a:close/>
                    <a:moveTo>
                      <a:pt x="13754" y="98"/>
                    </a:moveTo>
                    <a:lnTo>
                      <a:pt x="13754" y="44371"/>
                    </a:lnTo>
                    <a:lnTo>
                      <a:pt x="10434" y="44371"/>
                    </a:lnTo>
                    <a:lnTo>
                      <a:pt x="10434" y="98"/>
                    </a:lnTo>
                    <a:lnTo>
                      <a:pt x="13754" y="98"/>
                    </a:lnTo>
                    <a:close/>
                    <a:moveTo>
                      <a:pt x="21871" y="98"/>
                    </a:moveTo>
                    <a:lnTo>
                      <a:pt x="21871" y="44371"/>
                    </a:lnTo>
                    <a:lnTo>
                      <a:pt x="18551" y="44371"/>
                    </a:lnTo>
                    <a:lnTo>
                      <a:pt x="18551" y="98"/>
                    </a:lnTo>
                    <a:lnTo>
                      <a:pt x="21871" y="98"/>
                    </a:lnTo>
                    <a:close/>
                    <a:moveTo>
                      <a:pt x="31832" y="98"/>
                    </a:moveTo>
                    <a:lnTo>
                      <a:pt x="31832" y="44371"/>
                    </a:lnTo>
                    <a:lnTo>
                      <a:pt x="28512" y="44371"/>
                    </a:lnTo>
                    <a:lnTo>
                      <a:pt x="28512" y="98"/>
                    </a:lnTo>
                    <a:lnTo>
                      <a:pt x="31832" y="98"/>
                    </a:lnTo>
                    <a:close/>
                    <a:moveTo>
                      <a:pt x="39949" y="98"/>
                    </a:moveTo>
                    <a:lnTo>
                      <a:pt x="39949" y="44371"/>
                    </a:lnTo>
                    <a:lnTo>
                      <a:pt x="36629" y="44371"/>
                    </a:lnTo>
                    <a:lnTo>
                      <a:pt x="36629" y="98"/>
                    </a:lnTo>
                    <a:lnTo>
                      <a:pt x="39949" y="98"/>
                    </a:lnTo>
                    <a:close/>
                    <a:moveTo>
                      <a:pt x="49726" y="98"/>
                    </a:moveTo>
                    <a:lnTo>
                      <a:pt x="49726" y="44371"/>
                    </a:lnTo>
                    <a:lnTo>
                      <a:pt x="46405" y="44371"/>
                    </a:lnTo>
                    <a:lnTo>
                      <a:pt x="46405" y="98"/>
                    </a:lnTo>
                    <a:lnTo>
                      <a:pt x="49726" y="98"/>
                    </a:lnTo>
                    <a:close/>
                    <a:moveTo>
                      <a:pt x="57842" y="98"/>
                    </a:moveTo>
                    <a:lnTo>
                      <a:pt x="57842" y="44371"/>
                    </a:lnTo>
                    <a:lnTo>
                      <a:pt x="54707" y="44371"/>
                    </a:lnTo>
                    <a:lnTo>
                      <a:pt x="54707" y="98"/>
                    </a:lnTo>
                    <a:lnTo>
                      <a:pt x="57842" y="98"/>
                    </a:lnTo>
                    <a:close/>
                    <a:moveTo>
                      <a:pt x="67804" y="98"/>
                    </a:moveTo>
                    <a:lnTo>
                      <a:pt x="67804" y="44371"/>
                    </a:lnTo>
                    <a:lnTo>
                      <a:pt x="64483" y="44371"/>
                    </a:lnTo>
                    <a:lnTo>
                      <a:pt x="64483" y="98"/>
                    </a:lnTo>
                    <a:lnTo>
                      <a:pt x="67804" y="98"/>
                    </a:lnTo>
                    <a:close/>
                    <a:moveTo>
                      <a:pt x="75920" y="98"/>
                    </a:moveTo>
                    <a:lnTo>
                      <a:pt x="75920" y="44371"/>
                    </a:lnTo>
                    <a:lnTo>
                      <a:pt x="72600" y="44371"/>
                    </a:lnTo>
                    <a:lnTo>
                      <a:pt x="72600" y="98"/>
                    </a:lnTo>
                    <a:lnTo>
                      <a:pt x="75920" y="98"/>
                    </a:lnTo>
                    <a:close/>
                    <a:moveTo>
                      <a:pt x="85697" y="98"/>
                    </a:moveTo>
                    <a:lnTo>
                      <a:pt x="85697" y="44371"/>
                    </a:lnTo>
                    <a:lnTo>
                      <a:pt x="82377" y="44371"/>
                    </a:lnTo>
                    <a:lnTo>
                      <a:pt x="82377" y="98"/>
                    </a:lnTo>
                    <a:lnTo>
                      <a:pt x="85697" y="98"/>
                    </a:lnTo>
                    <a:close/>
                    <a:moveTo>
                      <a:pt x="93998" y="98"/>
                    </a:moveTo>
                    <a:lnTo>
                      <a:pt x="93998" y="44371"/>
                    </a:lnTo>
                    <a:lnTo>
                      <a:pt x="90678" y="44371"/>
                    </a:lnTo>
                    <a:lnTo>
                      <a:pt x="90678" y="98"/>
                    </a:lnTo>
                    <a:lnTo>
                      <a:pt x="93998" y="98"/>
                    </a:lnTo>
                    <a:close/>
                    <a:moveTo>
                      <a:pt x="103775" y="98"/>
                    </a:moveTo>
                    <a:lnTo>
                      <a:pt x="103775" y="44371"/>
                    </a:lnTo>
                    <a:lnTo>
                      <a:pt x="100455" y="44371"/>
                    </a:lnTo>
                    <a:lnTo>
                      <a:pt x="100455" y="98"/>
                    </a:lnTo>
                    <a:lnTo>
                      <a:pt x="103775" y="98"/>
                    </a:lnTo>
                    <a:close/>
                    <a:moveTo>
                      <a:pt x="111892" y="98"/>
                    </a:moveTo>
                    <a:lnTo>
                      <a:pt x="111892" y="44371"/>
                    </a:lnTo>
                    <a:lnTo>
                      <a:pt x="108572" y="44371"/>
                    </a:lnTo>
                    <a:lnTo>
                      <a:pt x="108572" y="98"/>
                    </a:lnTo>
                    <a:lnTo>
                      <a:pt x="111892" y="98"/>
                    </a:lnTo>
                    <a:close/>
                    <a:moveTo>
                      <a:pt x="121669" y="98"/>
                    </a:moveTo>
                    <a:lnTo>
                      <a:pt x="121669" y="44371"/>
                    </a:lnTo>
                    <a:lnTo>
                      <a:pt x="118348" y="44371"/>
                    </a:lnTo>
                    <a:lnTo>
                      <a:pt x="118348" y="98"/>
                    </a:lnTo>
                    <a:lnTo>
                      <a:pt x="121669" y="98"/>
                    </a:lnTo>
                    <a:close/>
                    <a:moveTo>
                      <a:pt x="131630" y="98"/>
                    </a:moveTo>
                    <a:lnTo>
                      <a:pt x="131630" y="44371"/>
                    </a:lnTo>
                    <a:lnTo>
                      <a:pt x="128310" y="44371"/>
                    </a:lnTo>
                    <a:lnTo>
                      <a:pt x="128310" y="98"/>
                    </a:lnTo>
                    <a:lnTo>
                      <a:pt x="131630" y="98"/>
                    </a:lnTo>
                    <a:close/>
                    <a:moveTo>
                      <a:pt x="139747" y="98"/>
                    </a:moveTo>
                    <a:lnTo>
                      <a:pt x="139747" y="44371"/>
                    </a:lnTo>
                    <a:lnTo>
                      <a:pt x="136426" y="44371"/>
                    </a:lnTo>
                    <a:lnTo>
                      <a:pt x="136426" y="98"/>
                    </a:lnTo>
                    <a:lnTo>
                      <a:pt x="139747" y="98"/>
                    </a:lnTo>
                    <a:close/>
                    <a:moveTo>
                      <a:pt x="149524" y="98"/>
                    </a:moveTo>
                    <a:lnTo>
                      <a:pt x="149524" y="44371"/>
                    </a:lnTo>
                    <a:lnTo>
                      <a:pt x="146203" y="44371"/>
                    </a:lnTo>
                    <a:lnTo>
                      <a:pt x="146203" y="98"/>
                    </a:lnTo>
                    <a:lnTo>
                      <a:pt x="149524" y="98"/>
                    </a:lnTo>
                    <a:close/>
                    <a:moveTo>
                      <a:pt x="157640" y="98"/>
                    </a:moveTo>
                    <a:lnTo>
                      <a:pt x="157640" y="44371"/>
                    </a:lnTo>
                    <a:lnTo>
                      <a:pt x="154320" y="44371"/>
                    </a:lnTo>
                    <a:lnTo>
                      <a:pt x="154320" y="98"/>
                    </a:lnTo>
                    <a:lnTo>
                      <a:pt x="157640" y="98"/>
                    </a:lnTo>
                    <a:close/>
                    <a:moveTo>
                      <a:pt x="167602" y="98"/>
                    </a:moveTo>
                    <a:lnTo>
                      <a:pt x="167602" y="44371"/>
                    </a:lnTo>
                    <a:lnTo>
                      <a:pt x="164281" y="44371"/>
                    </a:lnTo>
                    <a:lnTo>
                      <a:pt x="164281" y="98"/>
                    </a:lnTo>
                    <a:lnTo>
                      <a:pt x="167602" y="98"/>
                    </a:lnTo>
                    <a:close/>
                    <a:moveTo>
                      <a:pt x="175718" y="98"/>
                    </a:moveTo>
                    <a:lnTo>
                      <a:pt x="175718" y="44371"/>
                    </a:lnTo>
                    <a:lnTo>
                      <a:pt x="172398" y="44371"/>
                    </a:lnTo>
                    <a:lnTo>
                      <a:pt x="172398" y="98"/>
                    </a:lnTo>
                    <a:lnTo>
                      <a:pt x="175718" y="98"/>
                    </a:lnTo>
                    <a:close/>
                    <a:moveTo>
                      <a:pt x="185495" y="98"/>
                    </a:moveTo>
                    <a:lnTo>
                      <a:pt x="185495" y="44371"/>
                    </a:lnTo>
                    <a:lnTo>
                      <a:pt x="182175" y="44371"/>
                    </a:lnTo>
                    <a:lnTo>
                      <a:pt x="182175" y="98"/>
                    </a:lnTo>
                    <a:lnTo>
                      <a:pt x="185495" y="98"/>
                    </a:lnTo>
                    <a:close/>
                    <a:moveTo>
                      <a:pt x="193796" y="98"/>
                    </a:moveTo>
                    <a:lnTo>
                      <a:pt x="193796" y="44371"/>
                    </a:lnTo>
                    <a:lnTo>
                      <a:pt x="190476" y="44371"/>
                    </a:lnTo>
                    <a:lnTo>
                      <a:pt x="190476" y="98"/>
                    </a:lnTo>
                    <a:lnTo>
                      <a:pt x="193796" y="98"/>
                    </a:lnTo>
                    <a:close/>
                    <a:moveTo>
                      <a:pt x="203573" y="98"/>
                    </a:moveTo>
                    <a:lnTo>
                      <a:pt x="203573" y="44371"/>
                    </a:lnTo>
                    <a:lnTo>
                      <a:pt x="200253" y="44371"/>
                    </a:lnTo>
                    <a:lnTo>
                      <a:pt x="200253" y="98"/>
                    </a:lnTo>
                    <a:lnTo>
                      <a:pt x="203573" y="98"/>
                    </a:lnTo>
                    <a:close/>
                    <a:moveTo>
                      <a:pt x="211690" y="98"/>
                    </a:moveTo>
                    <a:lnTo>
                      <a:pt x="211690" y="44371"/>
                    </a:lnTo>
                    <a:lnTo>
                      <a:pt x="208369" y="44371"/>
                    </a:lnTo>
                    <a:lnTo>
                      <a:pt x="208369" y="98"/>
                    </a:lnTo>
                    <a:lnTo>
                      <a:pt x="211690" y="98"/>
                    </a:lnTo>
                    <a:close/>
                    <a:moveTo>
                      <a:pt x="221467" y="98"/>
                    </a:moveTo>
                    <a:lnTo>
                      <a:pt x="221467" y="44371"/>
                    </a:lnTo>
                    <a:lnTo>
                      <a:pt x="218146" y="44371"/>
                    </a:lnTo>
                    <a:lnTo>
                      <a:pt x="218146" y="98"/>
                    </a:lnTo>
                    <a:lnTo>
                      <a:pt x="221467" y="98"/>
                    </a:lnTo>
                    <a:close/>
                    <a:moveTo>
                      <a:pt x="229768" y="98"/>
                    </a:moveTo>
                    <a:lnTo>
                      <a:pt x="229768" y="44371"/>
                    </a:lnTo>
                    <a:lnTo>
                      <a:pt x="226447" y="44371"/>
                    </a:lnTo>
                    <a:lnTo>
                      <a:pt x="226447" y="98"/>
                    </a:lnTo>
                    <a:lnTo>
                      <a:pt x="229768" y="98"/>
                    </a:lnTo>
                    <a:close/>
                    <a:moveTo>
                      <a:pt x="239545" y="98"/>
                    </a:moveTo>
                    <a:lnTo>
                      <a:pt x="239545" y="44371"/>
                    </a:lnTo>
                    <a:lnTo>
                      <a:pt x="236224" y="44371"/>
                    </a:lnTo>
                    <a:lnTo>
                      <a:pt x="236224" y="98"/>
                    </a:lnTo>
                    <a:lnTo>
                      <a:pt x="239545" y="98"/>
                    </a:lnTo>
                    <a:close/>
                    <a:moveTo>
                      <a:pt x="249322" y="98"/>
                    </a:moveTo>
                    <a:lnTo>
                      <a:pt x="249322" y="44371"/>
                    </a:lnTo>
                    <a:lnTo>
                      <a:pt x="246001" y="44371"/>
                    </a:lnTo>
                    <a:lnTo>
                      <a:pt x="246001" y="98"/>
                    </a:lnTo>
                    <a:lnTo>
                      <a:pt x="249322" y="98"/>
                    </a:lnTo>
                    <a:close/>
                    <a:moveTo>
                      <a:pt x="257438" y="98"/>
                    </a:moveTo>
                    <a:lnTo>
                      <a:pt x="257438" y="44371"/>
                    </a:lnTo>
                    <a:lnTo>
                      <a:pt x="254302" y="44371"/>
                    </a:lnTo>
                    <a:lnTo>
                      <a:pt x="254302" y="98"/>
                    </a:lnTo>
                    <a:lnTo>
                      <a:pt x="257438" y="98"/>
                    </a:lnTo>
                    <a:close/>
                    <a:moveTo>
                      <a:pt x="267400" y="98"/>
                    </a:moveTo>
                    <a:lnTo>
                      <a:pt x="267400" y="44371"/>
                    </a:lnTo>
                    <a:lnTo>
                      <a:pt x="264079" y="44371"/>
                    </a:lnTo>
                    <a:lnTo>
                      <a:pt x="264079" y="98"/>
                    </a:lnTo>
                    <a:lnTo>
                      <a:pt x="267400" y="98"/>
                    </a:lnTo>
                    <a:close/>
                    <a:moveTo>
                      <a:pt x="275516" y="98"/>
                    </a:moveTo>
                    <a:lnTo>
                      <a:pt x="275516" y="44371"/>
                    </a:lnTo>
                    <a:lnTo>
                      <a:pt x="272196" y="44371"/>
                    </a:lnTo>
                    <a:lnTo>
                      <a:pt x="272196" y="98"/>
                    </a:lnTo>
                    <a:lnTo>
                      <a:pt x="275516" y="98"/>
                    </a:lnTo>
                    <a:close/>
                  </a:path>
                </a:pathLst>
              </a:custGeom>
              <a:solidFill>
                <a:srgbClr val="000000">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4" name="任意多边形: 形状 23">
                <a:extLst>
                  <a:ext uri="{FF2B5EF4-FFF2-40B4-BE49-F238E27FC236}">
                    <a16:creationId xmlns:a16="http://schemas.microsoft.com/office/drawing/2014/main" id="{2EB00B07-7DCD-456F-A7BD-05414F29188D}"/>
                  </a:ext>
                </a:extLst>
              </p:cNvPr>
              <p:cNvSpPr/>
              <p:nvPr/>
            </p:nvSpPr>
            <p:spPr>
              <a:xfrm>
                <a:off x="5951929" y="1311078"/>
                <a:ext cx="274859" cy="44272"/>
              </a:xfrm>
              <a:custGeom>
                <a:avLst/>
                <a:gdLst>
                  <a:gd name="connsiteX0" fmla="*/ 3977 w 274859"/>
                  <a:gd name="connsiteY0" fmla="*/ 98 h 44272"/>
                  <a:gd name="connsiteX1" fmla="*/ 3977 w 274859"/>
                  <a:gd name="connsiteY1" fmla="*/ 44371 h 44272"/>
                  <a:gd name="connsiteX2" fmla="*/ 657 w 274859"/>
                  <a:gd name="connsiteY2" fmla="*/ 44371 h 44272"/>
                  <a:gd name="connsiteX3" fmla="*/ 657 w 274859"/>
                  <a:gd name="connsiteY3" fmla="*/ 98 h 44272"/>
                  <a:gd name="connsiteX4" fmla="*/ 3977 w 274859"/>
                  <a:gd name="connsiteY4" fmla="*/ 98 h 44272"/>
                  <a:gd name="connsiteX5" fmla="*/ 13754 w 274859"/>
                  <a:gd name="connsiteY5" fmla="*/ 98 h 44272"/>
                  <a:gd name="connsiteX6" fmla="*/ 13754 w 274859"/>
                  <a:gd name="connsiteY6" fmla="*/ 44371 h 44272"/>
                  <a:gd name="connsiteX7" fmla="*/ 10434 w 274859"/>
                  <a:gd name="connsiteY7" fmla="*/ 44371 h 44272"/>
                  <a:gd name="connsiteX8" fmla="*/ 10434 w 274859"/>
                  <a:gd name="connsiteY8" fmla="*/ 98 h 44272"/>
                  <a:gd name="connsiteX9" fmla="*/ 13754 w 274859"/>
                  <a:gd name="connsiteY9" fmla="*/ 98 h 44272"/>
                  <a:gd name="connsiteX10" fmla="*/ 22055 w 274859"/>
                  <a:gd name="connsiteY10" fmla="*/ 98 h 44272"/>
                  <a:gd name="connsiteX11" fmla="*/ 22055 w 274859"/>
                  <a:gd name="connsiteY11" fmla="*/ 44371 h 44272"/>
                  <a:gd name="connsiteX12" fmla="*/ 18735 w 274859"/>
                  <a:gd name="connsiteY12" fmla="*/ 44371 h 44272"/>
                  <a:gd name="connsiteX13" fmla="*/ 18735 w 274859"/>
                  <a:gd name="connsiteY13" fmla="*/ 98 h 44272"/>
                  <a:gd name="connsiteX14" fmla="*/ 22055 w 274859"/>
                  <a:gd name="connsiteY14" fmla="*/ 98 h 44272"/>
                  <a:gd name="connsiteX15" fmla="*/ 31832 w 274859"/>
                  <a:gd name="connsiteY15" fmla="*/ 98 h 44272"/>
                  <a:gd name="connsiteX16" fmla="*/ 31832 w 274859"/>
                  <a:gd name="connsiteY16" fmla="*/ 44371 h 44272"/>
                  <a:gd name="connsiteX17" fmla="*/ 28512 w 274859"/>
                  <a:gd name="connsiteY17" fmla="*/ 44371 h 44272"/>
                  <a:gd name="connsiteX18" fmla="*/ 28512 w 274859"/>
                  <a:gd name="connsiteY18" fmla="*/ 98 h 44272"/>
                  <a:gd name="connsiteX19" fmla="*/ 31832 w 274859"/>
                  <a:gd name="connsiteY19" fmla="*/ 98 h 44272"/>
                  <a:gd name="connsiteX20" fmla="*/ 39949 w 274859"/>
                  <a:gd name="connsiteY20" fmla="*/ 98 h 44272"/>
                  <a:gd name="connsiteX21" fmla="*/ 39949 w 274859"/>
                  <a:gd name="connsiteY21" fmla="*/ 44371 h 44272"/>
                  <a:gd name="connsiteX22" fmla="*/ 36629 w 274859"/>
                  <a:gd name="connsiteY22" fmla="*/ 44371 h 44272"/>
                  <a:gd name="connsiteX23" fmla="*/ 36629 w 274859"/>
                  <a:gd name="connsiteY23" fmla="*/ 98 h 44272"/>
                  <a:gd name="connsiteX24" fmla="*/ 39949 w 274859"/>
                  <a:gd name="connsiteY24" fmla="*/ 98 h 44272"/>
                  <a:gd name="connsiteX25" fmla="*/ 49726 w 274859"/>
                  <a:gd name="connsiteY25" fmla="*/ 98 h 44272"/>
                  <a:gd name="connsiteX26" fmla="*/ 49726 w 274859"/>
                  <a:gd name="connsiteY26" fmla="*/ 44371 h 44272"/>
                  <a:gd name="connsiteX27" fmla="*/ 46405 w 274859"/>
                  <a:gd name="connsiteY27" fmla="*/ 44371 h 44272"/>
                  <a:gd name="connsiteX28" fmla="*/ 46405 w 274859"/>
                  <a:gd name="connsiteY28" fmla="*/ 98 h 44272"/>
                  <a:gd name="connsiteX29" fmla="*/ 49726 w 274859"/>
                  <a:gd name="connsiteY29" fmla="*/ 98 h 44272"/>
                  <a:gd name="connsiteX30" fmla="*/ 58027 w 274859"/>
                  <a:gd name="connsiteY30" fmla="*/ 98 h 44272"/>
                  <a:gd name="connsiteX31" fmla="*/ 58027 w 274859"/>
                  <a:gd name="connsiteY31" fmla="*/ 44371 h 44272"/>
                  <a:gd name="connsiteX32" fmla="*/ 54707 w 274859"/>
                  <a:gd name="connsiteY32" fmla="*/ 44371 h 44272"/>
                  <a:gd name="connsiteX33" fmla="*/ 54707 w 274859"/>
                  <a:gd name="connsiteY33" fmla="*/ 98 h 44272"/>
                  <a:gd name="connsiteX34" fmla="*/ 58027 w 274859"/>
                  <a:gd name="connsiteY34" fmla="*/ 98 h 44272"/>
                  <a:gd name="connsiteX35" fmla="*/ 67804 w 274859"/>
                  <a:gd name="connsiteY35" fmla="*/ 98 h 44272"/>
                  <a:gd name="connsiteX36" fmla="*/ 67804 w 274859"/>
                  <a:gd name="connsiteY36" fmla="*/ 44371 h 44272"/>
                  <a:gd name="connsiteX37" fmla="*/ 64483 w 274859"/>
                  <a:gd name="connsiteY37" fmla="*/ 44371 h 44272"/>
                  <a:gd name="connsiteX38" fmla="*/ 64483 w 274859"/>
                  <a:gd name="connsiteY38" fmla="*/ 98 h 44272"/>
                  <a:gd name="connsiteX39" fmla="*/ 67804 w 274859"/>
                  <a:gd name="connsiteY39" fmla="*/ 98 h 44272"/>
                  <a:gd name="connsiteX40" fmla="*/ 75920 w 274859"/>
                  <a:gd name="connsiteY40" fmla="*/ 98 h 44272"/>
                  <a:gd name="connsiteX41" fmla="*/ 75920 w 274859"/>
                  <a:gd name="connsiteY41" fmla="*/ 44371 h 44272"/>
                  <a:gd name="connsiteX42" fmla="*/ 72600 w 274859"/>
                  <a:gd name="connsiteY42" fmla="*/ 44371 h 44272"/>
                  <a:gd name="connsiteX43" fmla="*/ 72600 w 274859"/>
                  <a:gd name="connsiteY43" fmla="*/ 98 h 44272"/>
                  <a:gd name="connsiteX44" fmla="*/ 75920 w 274859"/>
                  <a:gd name="connsiteY44" fmla="*/ 98 h 44272"/>
                  <a:gd name="connsiteX45" fmla="*/ 85697 w 274859"/>
                  <a:gd name="connsiteY45" fmla="*/ 98 h 44272"/>
                  <a:gd name="connsiteX46" fmla="*/ 85697 w 274859"/>
                  <a:gd name="connsiteY46" fmla="*/ 44371 h 44272"/>
                  <a:gd name="connsiteX47" fmla="*/ 82377 w 274859"/>
                  <a:gd name="connsiteY47" fmla="*/ 44371 h 44272"/>
                  <a:gd name="connsiteX48" fmla="*/ 82377 w 274859"/>
                  <a:gd name="connsiteY48" fmla="*/ 98 h 44272"/>
                  <a:gd name="connsiteX49" fmla="*/ 85697 w 274859"/>
                  <a:gd name="connsiteY49" fmla="*/ 98 h 44272"/>
                  <a:gd name="connsiteX50" fmla="*/ 93998 w 274859"/>
                  <a:gd name="connsiteY50" fmla="*/ 98 h 44272"/>
                  <a:gd name="connsiteX51" fmla="*/ 93998 w 274859"/>
                  <a:gd name="connsiteY51" fmla="*/ 44371 h 44272"/>
                  <a:gd name="connsiteX52" fmla="*/ 90678 w 274859"/>
                  <a:gd name="connsiteY52" fmla="*/ 44371 h 44272"/>
                  <a:gd name="connsiteX53" fmla="*/ 90678 w 274859"/>
                  <a:gd name="connsiteY53" fmla="*/ 98 h 44272"/>
                  <a:gd name="connsiteX54" fmla="*/ 93998 w 274859"/>
                  <a:gd name="connsiteY54" fmla="*/ 98 h 44272"/>
                  <a:gd name="connsiteX55" fmla="*/ 103775 w 274859"/>
                  <a:gd name="connsiteY55" fmla="*/ 98 h 44272"/>
                  <a:gd name="connsiteX56" fmla="*/ 103775 w 274859"/>
                  <a:gd name="connsiteY56" fmla="*/ 44371 h 44272"/>
                  <a:gd name="connsiteX57" fmla="*/ 100455 w 274859"/>
                  <a:gd name="connsiteY57" fmla="*/ 44371 h 44272"/>
                  <a:gd name="connsiteX58" fmla="*/ 100455 w 274859"/>
                  <a:gd name="connsiteY58" fmla="*/ 98 h 44272"/>
                  <a:gd name="connsiteX59" fmla="*/ 103775 w 274859"/>
                  <a:gd name="connsiteY59" fmla="*/ 98 h 44272"/>
                  <a:gd name="connsiteX60" fmla="*/ 111892 w 274859"/>
                  <a:gd name="connsiteY60" fmla="*/ 98 h 44272"/>
                  <a:gd name="connsiteX61" fmla="*/ 111892 w 274859"/>
                  <a:gd name="connsiteY61" fmla="*/ 44371 h 44272"/>
                  <a:gd name="connsiteX62" fmla="*/ 108756 w 274859"/>
                  <a:gd name="connsiteY62" fmla="*/ 44371 h 44272"/>
                  <a:gd name="connsiteX63" fmla="*/ 108756 w 274859"/>
                  <a:gd name="connsiteY63" fmla="*/ 98 h 44272"/>
                  <a:gd name="connsiteX64" fmla="*/ 111892 w 274859"/>
                  <a:gd name="connsiteY64" fmla="*/ 98 h 44272"/>
                  <a:gd name="connsiteX65" fmla="*/ 121853 w 274859"/>
                  <a:gd name="connsiteY65" fmla="*/ 98 h 44272"/>
                  <a:gd name="connsiteX66" fmla="*/ 121853 w 274859"/>
                  <a:gd name="connsiteY66" fmla="*/ 44371 h 44272"/>
                  <a:gd name="connsiteX67" fmla="*/ 118533 w 274859"/>
                  <a:gd name="connsiteY67" fmla="*/ 44371 h 44272"/>
                  <a:gd name="connsiteX68" fmla="*/ 118533 w 274859"/>
                  <a:gd name="connsiteY68" fmla="*/ 98 h 44272"/>
                  <a:gd name="connsiteX69" fmla="*/ 121853 w 274859"/>
                  <a:gd name="connsiteY69" fmla="*/ 98 h 44272"/>
                  <a:gd name="connsiteX70" fmla="*/ 131630 w 274859"/>
                  <a:gd name="connsiteY70" fmla="*/ 98 h 44272"/>
                  <a:gd name="connsiteX71" fmla="*/ 131630 w 274859"/>
                  <a:gd name="connsiteY71" fmla="*/ 44371 h 44272"/>
                  <a:gd name="connsiteX72" fmla="*/ 128310 w 274859"/>
                  <a:gd name="connsiteY72" fmla="*/ 44371 h 44272"/>
                  <a:gd name="connsiteX73" fmla="*/ 128310 w 274859"/>
                  <a:gd name="connsiteY73" fmla="*/ 98 h 44272"/>
                  <a:gd name="connsiteX74" fmla="*/ 131630 w 274859"/>
                  <a:gd name="connsiteY74" fmla="*/ 98 h 44272"/>
                  <a:gd name="connsiteX75" fmla="*/ 139747 w 274859"/>
                  <a:gd name="connsiteY75" fmla="*/ 98 h 44272"/>
                  <a:gd name="connsiteX76" fmla="*/ 139747 w 274859"/>
                  <a:gd name="connsiteY76" fmla="*/ 44371 h 44272"/>
                  <a:gd name="connsiteX77" fmla="*/ 136426 w 274859"/>
                  <a:gd name="connsiteY77" fmla="*/ 44371 h 44272"/>
                  <a:gd name="connsiteX78" fmla="*/ 136426 w 274859"/>
                  <a:gd name="connsiteY78" fmla="*/ 98 h 44272"/>
                  <a:gd name="connsiteX79" fmla="*/ 139747 w 274859"/>
                  <a:gd name="connsiteY79" fmla="*/ 98 h 44272"/>
                  <a:gd name="connsiteX80" fmla="*/ 149524 w 274859"/>
                  <a:gd name="connsiteY80" fmla="*/ 98 h 44272"/>
                  <a:gd name="connsiteX81" fmla="*/ 149524 w 274859"/>
                  <a:gd name="connsiteY81" fmla="*/ 44371 h 44272"/>
                  <a:gd name="connsiteX82" fmla="*/ 146203 w 274859"/>
                  <a:gd name="connsiteY82" fmla="*/ 44371 h 44272"/>
                  <a:gd name="connsiteX83" fmla="*/ 146203 w 274859"/>
                  <a:gd name="connsiteY83" fmla="*/ 98 h 44272"/>
                  <a:gd name="connsiteX84" fmla="*/ 149524 w 274859"/>
                  <a:gd name="connsiteY84" fmla="*/ 98 h 44272"/>
                  <a:gd name="connsiteX85" fmla="*/ 157825 w 274859"/>
                  <a:gd name="connsiteY85" fmla="*/ 98 h 44272"/>
                  <a:gd name="connsiteX86" fmla="*/ 157825 w 274859"/>
                  <a:gd name="connsiteY86" fmla="*/ 44371 h 44272"/>
                  <a:gd name="connsiteX87" fmla="*/ 154504 w 274859"/>
                  <a:gd name="connsiteY87" fmla="*/ 44371 h 44272"/>
                  <a:gd name="connsiteX88" fmla="*/ 154504 w 274859"/>
                  <a:gd name="connsiteY88" fmla="*/ 98 h 44272"/>
                  <a:gd name="connsiteX89" fmla="*/ 157825 w 274859"/>
                  <a:gd name="connsiteY89" fmla="*/ 98 h 44272"/>
                  <a:gd name="connsiteX90" fmla="*/ 167602 w 274859"/>
                  <a:gd name="connsiteY90" fmla="*/ 98 h 44272"/>
                  <a:gd name="connsiteX91" fmla="*/ 167602 w 274859"/>
                  <a:gd name="connsiteY91" fmla="*/ 44371 h 44272"/>
                  <a:gd name="connsiteX92" fmla="*/ 164281 w 274859"/>
                  <a:gd name="connsiteY92" fmla="*/ 44371 h 44272"/>
                  <a:gd name="connsiteX93" fmla="*/ 164281 w 274859"/>
                  <a:gd name="connsiteY93" fmla="*/ 98 h 44272"/>
                  <a:gd name="connsiteX94" fmla="*/ 167602 w 274859"/>
                  <a:gd name="connsiteY94" fmla="*/ 98 h 44272"/>
                  <a:gd name="connsiteX95" fmla="*/ 175718 w 274859"/>
                  <a:gd name="connsiteY95" fmla="*/ 98 h 44272"/>
                  <a:gd name="connsiteX96" fmla="*/ 175718 w 274859"/>
                  <a:gd name="connsiteY96" fmla="*/ 44371 h 44272"/>
                  <a:gd name="connsiteX97" fmla="*/ 172398 w 274859"/>
                  <a:gd name="connsiteY97" fmla="*/ 44371 h 44272"/>
                  <a:gd name="connsiteX98" fmla="*/ 172398 w 274859"/>
                  <a:gd name="connsiteY98" fmla="*/ 98 h 44272"/>
                  <a:gd name="connsiteX99" fmla="*/ 175718 w 274859"/>
                  <a:gd name="connsiteY99" fmla="*/ 98 h 44272"/>
                  <a:gd name="connsiteX100" fmla="*/ 185495 w 274859"/>
                  <a:gd name="connsiteY100" fmla="*/ 98 h 44272"/>
                  <a:gd name="connsiteX101" fmla="*/ 185495 w 274859"/>
                  <a:gd name="connsiteY101" fmla="*/ 44371 h 44272"/>
                  <a:gd name="connsiteX102" fmla="*/ 182175 w 274859"/>
                  <a:gd name="connsiteY102" fmla="*/ 44371 h 44272"/>
                  <a:gd name="connsiteX103" fmla="*/ 182175 w 274859"/>
                  <a:gd name="connsiteY103" fmla="*/ 98 h 44272"/>
                  <a:gd name="connsiteX104" fmla="*/ 185495 w 274859"/>
                  <a:gd name="connsiteY104" fmla="*/ 98 h 44272"/>
                  <a:gd name="connsiteX105" fmla="*/ 193796 w 274859"/>
                  <a:gd name="connsiteY105" fmla="*/ 98 h 44272"/>
                  <a:gd name="connsiteX106" fmla="*/ 193796 w 274859"/>
                  <a:gd name="connsiteY106" fmla="*/ 44371 h 44272"/>
                  <a:gd name="connsiteX107" fmla="*/ 190476 w 274859"/>
                  <a:gd name="connsiteY107" fmla="*/ 44371 h 44272"/>
                  <a:gd name="connsiteX108" fmla="*/ 190476 w 274859"/>
                  <a:gd name="connsiteY108" fmla="*/ 98 h 44272"/>
                  <a:gd name="connsiteX109" fmla="*/ 193796 w 274859"/>
                  <a:gd name="connsiteY109" fmla="*/ 98 h 44272"/>
                  <a:gd name="connsiteX110" fmla="*/ 203573 w 274859"/>
                  <a:gd name="connsiteY110" fmla="*/ 98 h 44272"/>
                  <a:gd name="connsiteX111" fmla="*/ 203573 w 274859"/>
                  <a:gd name="connsiteY111" fmla="*/ 44371 h 44272"/>
                  <a:gd name="connsiteX112" fmla="*/ 200253 w 274859"/>
                  <a:gd name="connsiteY112" fmla="*/ 44371 h 44272"/>
                  <a:gd name="connsiteX113" fmla="*/ 200253 w 274859"/>
                  <a:gd name="connsiteY113" fmla="*/ 98 h 44272"/>
                  <a:gd name="connsiteX114" fmla="*/ 203573 w 274859"/>
                  <a:gd name="connsiteY114" fmla="*/ 98 h 44272"/>
                  <a:gd name="connsiteX115" fmla="*/ 211690 w 274859"/>
                  <a:gd name="connsiteY115" fmla="*/ 98 h 44272"/>
                  <a:gd name="connsiteX116" fmla="*/ 211690 w 274859"/>
                  <a:gd name="connsiteY116" fmla="*/ 44371 h 44272"/>
                  <a:gd name="connsiteX117" fmla="*/ 208369 w 274859"/>
                  <a:gd name="connsiteY117" fmla="*/ 44371 h 44272"/>
                  <a:gd name="connsiteX118" fmla="*/ 208369 w 274859"/>
                  <a:gd name="connsiteY118" fmla="*/ 98 h 44272"/>
                  <a:gd name="connsiteX119" fmla="*/ 211690 w 274859"/>
                  <a:gd name="connsiteY119" fmla="*/ 98 h 44272"/>
                  <a:gd name="connsiteX120" fmla="*/ 221651 w 274859"/>
                  <a:gd name="connsiteY120" fmla="*/ 98 h 44272"/>
                  <a:gd name="connsiteX121" fmla="*/ 221651 w 274859"/>
                  <a:gd name="connsiteY121" fmla="*/ 44371 h 44272"/>
                  <a:gd name="connsiteX122" fmla="*/ 218331 w 274859"/>
                  <a:gd name="connsiteY122" fmla="*/ 44371 h 44272"/>
                  <a:gd name="connsiteX123" fmla="*/ 218331 w 274859"/>
                  <a:gd name="connsiteY123" fmla="*/ 98 h 44272"/>
                  <a:gd name="connsiteX124" fmla="*/ 221651 w 274859"/>
                  <a:gd name="connsiteY124" fmla="*/ 98 h 44272"/>
                  <a:gd name="connsiteX125" fmla="*/ 229768 w 274859"/>
                  <a:gd name="connsiteY125" fmla="*/ 98 h 44272"/>
                  <a:gd name="connsiteX126" fmla="*/ 229768 w 274859"/>
                  <a:gd name="connsiteY126" fmla="*/ 44371 h 44272"/>
                  <a:gd name="connsiteX127" fmla="*/ 226447 w 274859"/>
                  <a:gd name="connsiteY127" fmla="*/ 44371 h 44272"/>
                  <a:gd name="connsiteX128" fmla="*/ 226447 w 274859"/>
                  <a:gd name="connsiteY128" fmla="*/ 98 h 44272"/>
                  <a:gd name="connsiteX129" fmla="*/ 229768 w 274859"/>
                  <a:gd name="connsiteY129" fmla="*/ 98 h 44272"/>
                  <a:gd name="connsiteX130" fmla="*/ 239545 w 274859"/>
                  <a:gd name="connsiteY130" fmla="*/ 98 h 44272"/>
                  <a:gd name="connsiteX131" fmla="*/ 239545 w 274859"/>
                  <a:gd name="connsiteY131" fmla="*/ 44371 h 44272"/>
                  <a:gd name="connsiteX132" fmla="*/ 236224 w 274859"/>
                  <a:gd name="connsiteY132" fmla="*/ 44371 h 44272"/>
                  <a:gd name="connsiteX133" fmla="*/ 236224 w 274859"/>
                  <a:gd name="connsiteY133" fmla="*/ 98 h 44272"/>
                  <a:gd name="connsiteX134" fmla="*/ 239545 w 274859"/>
                  <a:gd name="connsiteY134" fmla="*/ 98 h 44272"/>
                  <a:gd name="connsiteX135" fmla="*/ 249322 w 274859"/>
                  <a:gd name="connsiteY135" fmla="*/ 98 h 44272"/>
                  <a:gd name="connsiteX136" fmla="*/ 249322 w 274859"/>
                  <a:gd name="connsiteY136" fmla="*/ 44371 h 44272"/>
                  <a:gd name="connsiteX137" fmla="*/ 246001 w 274859"/>
                  <a:gd name="connsiteY137" fmla="*/ 44371 h 44272"/>
                  <a:gd name="connsiteX138" fmla="*/ 246001 w 274859"/>
                  <a:gd name="connsiteY138" fmla="*/ 98 h 44272"/>
                  <a:gd name="connsiteX139" fmla="*/ 249322 w 274859"/>
                  <a:gd name="connsiteY139" fmla="*/ 98 h 44272"/>
                  <a:gd name="connsiteX140" fmla="*/ 257623 w 274859"/>
                  <a:gd name="connsiteY140" fmla="*/ 98 h 44272"/>
                  <a:gd name="connsiteX141" fmla="*/ 257623 w 274859"/>
                  <a:gd name="connsiteY141" fmla="*/ 44371 h 44272"/>
                  <a:gd name="connsiteX142" fmla="*/ 254302 w 274859"/>
                  <a:gd name="connsiteY142" fmla="*/ 44371 h 44272"/>
                  <a:gd name="connsiteX143" fmla="*/ 254302 w 274859"/>
                  <a:gd name="connsiteY143" fmla="*/ 98 h 44272"/>
                  <a:gd name="connsiteX144" fmla="*/ 257623 w 274859"/>
                  <a:gd name="connsiteY144" fmla="*/ 98 h 44272"/>
                  <a:gd name="connsiteX145" fmla="*/ 267400 w 274859"/>
                  <a:gd name="connsiteY145" fmla="*/ 98 h 44272"/>
                  <a:gd name="connsiteX146" fmla="*/ 267400 w 274859"/>
                  <a:gd name="connsiteY146" fmla="*/ 44371 h 44272"/>
                  <a:gd name="connsiteX147" fmla="*/ 264079 w 274859"/>
                  <a:gd name="connsiteY147" fmla="*/ 44371 h 44272"/>
                  <a:gd name="connsiteX148" fmla="*/ 264079 w 274859"/>
                  <a:gd name="connsiteY148" fmla="*/ 98 h 44272"/>
                  <a:gd name="connsiteX149" fmla="*/ 267400 w 274859"/>
                  <a:gd name="connsiteY149" fmla="*/ 98 h 44272"/>
                  <a:gd name="connsiteX150" fmla="*/ 275516 w 274859"/>
                  <a:gd name="connsiteY150" fmla="*/ 98 h 44272"/>
                  <a:gd name="connsiteX151" fmla="*/ 275516 w 274859"/>
                  <a:gd name="connsiteY151" fmla="*/ 44371 h 44272"/>
                  <a:gd name="connsiteX152" fmla="*/ 272196 w 274859"/>
                  <a:gd name="connsiteY152" fmla="*/ 44371 h 44272"/>
                  <a:gd name="connsiteX153" fmla="*/ 272196 w 274859"/>
                  <a:gd name="connsiteY153" fmla="*/ 98 h 44272"/>
                  <a:gd name="connsiteX154" fmla="*/ 275516 w 274859"/>
                  <a:gd name="connsiteY154"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74859" h="44272">
                    <a:moveTo>
                      <a:pt x="3977" y="98"/>
                    </a:moveTo>
                    <a:lnTo>
                      <a:pt x="3977" y="44371"/>
                    </a:lnTo>
                    <a:lnTo>
                      <a:pt x="657" y="44371"/>
                    </a:lnTo>
                    <a:lnTo>
                      <a:pt x="657" y="98"/>
                    </a:lnTo>
                    <a:lnTo>
                      <a:pt x="3977" y="98"/>
                    </a:lnTo>
                    <a:close/>
                    <a:moveTo>
                      <a:pt x="13754" y="98"/>
                    </a:moveTo>
                    <a:lnTo>
                      <a:pt x="13754" y="44371"/>
                    </a:lnTo>
                    <a:lnTo>
                      <a:pt x="10434" y="44371"/>
                    </a:lnTo>
                    <a:lnTo>
                      <a:pt x="10434" y="98"/>
                    </a:lnTo>
                    <a:lnTo>
                      <a:pt x="13754" y="98"/>
                    </a:lnTo>
                    <a:close/>
                    <a:moveTo>
                      <a:pt x="22055" y="98"/>
                    </a:moveTo>
                    <a:lnTo>
                      <a:pt x="22055" y="44371"/>
                    </a:lnTo>
                    <a:lnTo>
                      <a:pt x="18735" y="44371"/>
                    </a:lnTo>
                    <a:lnTo>
                      <a:pt x="18735" y="98"/>
                    </a:lnTo>
                    <a:lnTo>
                      <a:pt x="22055" y="98"/>
                    </a:lnTo>
                    <a:close/>
                    <a:moveTo>
                      <a:pt x="31832" y="98"/>
                    </a:moveTo>
                    <a:lnTo>
                      <a:pt x="31832" y="44371"/>
                    </a:lnTo>
                    <a:lnTo>
                      <a:pt x="28512" y="44371"/>
                    </a:lnTo>
                    <a:lnTo>
                      <a:pt x="28512" y="98"/>
                    </a:lnTo>
                    <a:lnTo>
                      <a:pt x="31832" y="98"/>
                    </a:lnTo>
                    <a:close/>
                    <a:moveTo>
                      <a:pt x="39949" y="98"/>
                    </a:moveTo>
                    <a:lnTo>
                      <a:pt x="39949" y="44371"/>
                    </a:lnTo>
                    <a:lnTo>
                      <a:pt x="36629" y="44371"/>
                    </a:lnTo>
                    <a:lnTo>
                      <a:pt x="36629" y="98"/>
                    </a:lnTo>
                    <a:lnTo>
                      <a:pt x="39949" y="98"/>
                    </a:lnTo>
                    <a:close/>
                    <a:moveTo>
                      <a:pt x="49726" y="98"/>
                    </a:moveTo>
                    <a:lnTo>
                      <a:pt x="49726" y="44371"/>
                    </a:lnTo>
                    <a:lnTo>
                      <a:pt x="46405" y="44371"/>
                    </a:lnTo>
                    <a:lnTo>
                      <a:pt x="46405" y="98"/>
                    </a:lnTo>
                    <a:lnTo>
                      <a:pt x="49726" y="98"/>
                    </a:lnTo>
                    <a:close/>
                    <a:moveTo>
                      <a:pt x="58027" y="98"/>
                    </a:moveTo>
                    <a:lnTo>
                      <a:pt x="58027" y="44371"/>
                    </a:lnTo>
                    <a:lnTo>
                      <a:pt x="54707" y="44371"/>
                    </a:lnTo>
                    <a:lnTo>
                      <a:pt x="54707" y="98"/>
                    </a:lnTo>
                    <a:lnTo>
                      <a:pt x="58027" y="98"/>
                    </a:lnTo>
                    <a:close/>
                    <a:moveTo>
                      <a:pt x="67804" y="98"/>
                    </a:moveTo>
                    <a:lnTo>
                      <a:pt x="67804" y="44371"/>
                    </a:lnTo>
                    <a:lnTo>
                      <a:pt x="64483" y="44371"/>
                    </a:lnTo>
                    <a:lnTo>
                      <a:pt x="64483" y="98"/>
                    </a:lnTo>
                    <a:lnTo>
                      <a:pt x="67804" y="98"/>
                    </a:lnTo>
                    <a:close/>
                    <a:moveTo>
                      <a:pt x="75920" y="98"/>
                    </a:moveTo>
                    <a:lnTo>
                      <a:pt x="75920" y="44371"/>
                    </a:lnTo>
                    <a:lnTo>
                      <a:pt x="72600" y="44371"/>
                    </a:lnTo>
                    <a:lnTo>
                      <a:pt x="72600" y="98"/>
                    </a:lnTo>
                    <a:lnTo>
                      <a:pt x="75920" y="98"/>
                    </a:lnTo>
                    <a:close/>
                    <a:moveTo>
                      <a:pt x="85697" y="98"/>
                    </a:moveTo>
                    <a:lnTo>
                      <a:pt x="85697" y="44371"/>
                    </a:lnTo>
                    <a:lnTo>
                      <a:pt x="82377" y="44371"/>
                    </a:lnTo>
                    <a:lnTo>
                      <a:pt x="82377" y="98"/>
                    </a:lnTo>
                    <a:lnTo>
                      <a:pt x="85697" y="98"/>
                    </a:lnTo>
                    <a:close/>
                    <a:moveTo>
                      <a:pt x="93998" y="98"/>
                    </a:moveTo>
                    <a:lnTo>
                      <a:pt x="93998" y="44371"/>
                    </a:lnTo>
                    <a:lnTo>
                      <a:pt x="90678" y="44371"/>
                    </a:lnTo>
                    <a:lnTo>
                      <a:pt x="90678" y="98"/>
                    </a:lnTo>
                    <a:lnTo>
                      <a:pt x="93998" y="98"/>
                    </a:lnTo>
                    <a:close/>
                    <a:moveTo>
                      <a:pt x="103775" y="98"/>
                    </a:moveTo>
                    <a:lnTo>
                      <a:pt x="103775" y="44371"/>
                    </a:lnTo>
                    <a:lnTo>
                      <a:pt x="100455" y="44371"/>
                    </a:lnTo>
                    <a:lnTo>
                      <a:pt x="100455" y="98"/>
                    </a:lnTo>
                    <a:lnTo>
                      <a:pt x="103775" y="98"/>
                    </a:lnTo>
                    <a:close/>
                    <a:moveTo>
                      <a:pt x="111892" y="98"/>
                    </a:moveTo>
                    <a:lnTo>
                      <a:pt x="111892" y="44371"/>
                    </a:lnTo>
                    <a:lnTo>
                      <a:pt x="108756" y="44371"/>
                    </a:lnTo>
                    <a:lnTo>
                      <a:pt x="108756" y="98"/>
                    </a:lnTo>
                    <a:lnTo>
                      <a:pt x="111892" y="98"/>
                    </a:lnTo>
                    <a:close/>
                    <a:moveTo>
                      <a:pt x="121853" y="98"/>
                    </a:moveTo>
                    <a:lnTo>
                      <a:pt x="121853" y="44371"/>
                    </a:lnTo>
                    <a:lnTo>
                      <a:pt x="118533" y="44371"/>
                    </a:lnTo>
                    <a:lnTo>
                      <a:pt x="118533" y="98"/>
                    </a:lnTo>
                    <a:lnTo>
                      <a:pt x="121853" y="98"/>
                    </a:lnTo>
                    <a:close/>
                    <a:moveTo>
                      <a:pt x="131630" y="98"/>
                    </a:moveTo>
                    <a:lnTo>
                      <a:pt x="131630" y="44371"/>
                    </a:lnTo>
                    <a:lnTo>
                      <a:pt x="128310" y="44371"/>
                    </a:lnTo>
                    <a:lnTo>
                      <a:pt x="128310" y="98"/>
                    </a:lnTo>
                    <a:lnTo>
                      <a:pt x="131630" y="98"/>
                    </a:lnTo>
                    <a:close/>
                    <a:moveTo>
                      <a:pt x="139747" y="98"/>
                    </a:moveTo>
                    <a:lnTo>
                      <a:pt x="139747" y="44371"/>
                    </a:lnTo>
                    <a:lnTo>
                      <a:pt x="136426" y="44371"/>
                    </a:lnTo>
                    <a:lnTo>
                      <a:pt x="136426" y="98"/>
                    </a:lnTo>
                    <a:lnTo>
                      <a:pt x="139747" y="98"/>
                    </a:lnTo>
                    <a:close/>
                    <a:moveTo>
                      <a:pt x="149524" y="98"/>
                    </a:moveTo>
                    <a:lnTo>
                      <a:pt x="149524" y="44371"/>
                    </a:lnTo>
                    <a:lnTo>
                      <a:pt x="146203" y="44371"/>
                    </a:lnTo>
                    <a:lnTo>
                      <a:pt x="146203" y="98"/>
                    </a:lnTo>
                    <a:lnTo>
                      <a:pt x="149524" y="98"/>
                    </a:lnTo>
                    <a:close/>
                    <a:moveTo>
                      <a:pt x="157825" y="98"/>
                    </a:moveTo>
                    <a:lnTo>
                      <a:pt x="157825" y="44371"/>
                    </a:lnTo>
                    <a:lnTo>
                      <a:pt x="154504" y="44371"/>
                    </a:lnTo>
                    <a:lnTo>
                      <a:pt x="154504" y="98"/>
                    </a:lnTo>
                    <a:lnTo>
                      <a:pt x="157825" y="98"/>
                    </a:lnTo>
                    <a:close/>
                    <a:moveTo>
                      <a:pt x="167602" y="98"/>
                    </a:moveTo>
                    <a:lnTo>
                      <a:pt x="167602" y="44371"/>
                    </a:lnTo>
                    <a:lnTo>
                      <a:pt x="164281" y="44371"/>
                    </a:lnTo>
                    <a:lnTo>
                      <a:pt x="164281" y="98"/>
                    </a:lnTo>
                    <a:lnTo>
                      <a:pt x="167602" y="98"/>
                    </a:lnTo>
                    <a:close/>
                    <a:moveTo>
                      <a:pt x="175718" y="98"/>
                    </a:moveTo>
                    <a:lnTo>
                      <a:pt x="175718" y="44371"/>
                    </a:lnTo>
                    <a:lnTo>
                      <a:pt x="172398" y="44371"/>
                    </a:lnTo>
                    <a:lnTo>
                      <a:pt x="172398" y="98"/>
                    </a:lnTo>
                    <a:lnTo>
                      <a:pt x="175718" y="98"/>
                    </a:lnTo>
                    <a:close/>
                    <a:moveTo>
                      <a:pt x="185495" y="98"/>
                    </a:moveTo>
                    <a:lnTo>
                      <a:pt x="185495" y="44371"/>
                    </a:lnTo>
                    <a:lnTo>
                      <a:pt x="182175" y="44371"/>
                    </a:lnTo>
                    <a:lnTo>
                      <a:pt x="182175" y="98"/>
                    </a:lnTo>
                    <a:lnTo>
                      <a:pt x="185495" y="98"/>
                    </a:lnTo>
                    <a:close/>
                    <a:moveTo>
                      <a:pt x="193796" y="98"/>
                    </a:moveTo>
                    <a:lnTo>
                      <a:pt x="193796" y="44371"/>
                    </a:lnTo>
                    <a:lnTo>
                      <a:pt x="190476" y="44371"/>
                    </a:lnTo>
                    <a:lnTo>
                      <a:pt x="190476" y="98"/>
                    </a:lnTo>
                    <a:lnTo>
                      <a:pt x="193796" y="98"/>
                    </a:lnTo>
                    <a:close/>
                    <a:moveTo>
                      <a:pt x="203573" y="98"/>
                    </a:moveTo>
                    <a:lnTo>
                      <a:pt x="203573" y="44371"/>
                    </a:lnTo>
                    <a:lnTo>
                      <a:pt x="200253" y="44371"/>
                    </a:lnTo>
                    <a:lnTo>
                      <a:pt x="200253" y="98"/>
                    </a:lnTo>
                    <a:lnTo>
                      <a:pt x="203573" y="98"/>
                    </a:lnTo>
                    <a:close/>
                    <a:moveTo>
                      <a:pt x="211690" y="98"/>
                    </a:moveTo>
                    <a:lnTo>
                      <a:pt x="211690" y="44371"/>
                    </a:lnTo>
                    <a:lnTo>
                      <a:pt x="208369" y="44371"/>
                    </a:lnTo>
                    <a:lnTo>
                      <a:pt x="208369" y="98"/>
                    </a:lnTo>
                    <a:lnTo>
                      <a:pt x="211690" y="98"/>
                    </a:lnTo>
                    <a:close/>
                    <a:moveTo>
                      <a:pt x="221651" y="98"/>
                    </a:moveTo>
                    <a:lnTo>
                      <a:pt x="221651" y="44371"/>
                    </a:lnTo>
                    <a:lnTo>
                      <a:pt x="218331" y="44371"/>
                    </a:lnTo>
                    <a:lnTo>
                      <a:pt x="218331" y="98"/>
                    </a:lnTo>
                    <a:lnTo>
                      <a:pt x="221651" y="98"/>
                    </a:lnTo>
                    <a:close/>
                    <a:moveTo>
                      <a:pt x="229768" y="98"/>
                    </a:moveTo>
                    <a:lnTo>
                      <a:pt x="229768" y="44371"/>
                    </a:lnTo>
                    <a:lnTo>
                      <a:pt x="226447" y="44371"/>
                    </a:lnTo>
                    <a:lnTo>
                      <a:pt x="226447" y="98"/>
                    </a:lnTo>
                    <a:lnTo>
                      <a:pt x="229768" y="98"/>
                    </a:lnTo>
                    <a:close/>
                    <a:moveTo>
                      <a:pt x="239545" y="98"/>
                    </a:moveTo>
                    <a:lnTo>
                      <a:pt x="239545" y="44371"/>
                    </a:lnTo>
                    <a:lnTo>
                      <a:pt x="236224" y="44371"/>
                    </a:lnTo>
                    <a:lnTo>
                      <a:pt x="236224" y="98"/>
                    </a:lnTo>
                    <a:lnTo>
                      <a:pt x="239545" y="98"/>
                    </a:lnTo>
                    <a:close/>
                    <a:moveTo>
                      <a:pt x="249322" y="98"/>
                    </a:moveTo>
                    <a:lnTo>
                      <a:pt x="249322" y="44371"/>
                    </a:lnTo>
                    <a:lnTo>
                      <a:pt x="246001" y="44371"/>
                    </a:lnTo>
                    <a:lnTo>
                      <a:pt x="246001" y="98"/>
                    </a:lnTo>
                    <a:lnTo>
                      <a:pt x="249322" y="98"/>
                    </a:lnTo>
                    <a:close/>
                    <a:moveTo>
                      <a:pt x="257623" y="98"/>
                    </a:moveTo>
                    <a:lnTo>
                      <a:pt x="257623" y="44371"/>
                    </a:lnTo>
                    <a:lnTo>
                      <a:pt x="254302" y="44371"/>
                    </a:lnTo>
                    <a:lnTo>
                      <a:pt x="254302" y="98"/>
                    </a:lnTo>
                    <a:lnTo>
                      <a:pt x="257623" y="98"/>
                    </a:lnTo>
                    <a:close/>
                    <a:moveTo>
                      <a:pt x="267400" y="98"/>
                    </a:moveTo>
                    <a:lnTo>
                      <a:pt x="267400" y="44371"/>
                    </a:lnTo>
                    <a:lnTo>
                      <a:pt x="264079" y="44371"/>
                    </a:lnTo>
                    <a:lnTo>
                      <a:pt x="264079" y="98"/>
                    </a:lnTo>
                    <a:lnTo>
                      <a:pt x="267400" y="98"/>
                    </a:lnTo>
                    <a:close/>
                    <a:moveTo>
                      <a:pt x="275516" y="98"/>
                    </a:moveTo>
                    <a:lnTo>
                      <a:pt x="275516" y="44371"/>
                    </a:lnTo>
                    <a:lnTo>
                      <a:pt x="272196" y="44371"/>
                    </a:lnTo>
                    <a:lnTo>
                      <a:pt x="272196" y="98"/>
                    </a:lnTo>
                    <a:lnTo>
                      <a:pt x="275516" y="98"/>
                    </a:lnTo>
                    <a:close/>
                  </a:path>
                </a:pathLst>
              </a:custGeom>
              <a:solidFill>
                <a:srgbClr val="FFFFFF">
                  <a:alpha val="1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5" name="任意多边形: 形状 24">
                <a:extLst>
                  <a:ext uri="{FF2B5EF4-FFF2-40B4-BE49-F238E27FC236}">
                    <a16:creationId xmlns:a16="http://schemas.microsoft.com/office/drawing/2014/main" id="{A9B31293-01B5-487F-8347-A9C92461FEFA}"/>
                  </a:ext>
                </a:extLst>
              </p:cNvPr>
              <p:cNvSpPr/>
              <p:nvPr/>
            </p:nvSpPr>
            <p:spPr>
              <a:xfrm>
                <a:off x="5953036" y="1311078"/>
                <a:ext cx="287772" cy="44272"/>
              </a:xfrm>
              <a:custGeom>
                <a:avLst/>
                <a:gdLst>
                  <a:gd name="connsiteX0" fmla="*/ 22793 w 287772"/>
                  <a:gd name="connsiteY0" fmla="*/ 98 h 44272"/>
                  <a:gd name="connsiteX1" fmla="*/ 266293 w 287772"/>
                  <a:gd name="connsiteY1" fmla="*/ 98 h 44272"/>
                  <a:gd name="connsiteX2" fmla="*/ 288429 w 287772"/>
                  <a:gd name="connsiteY2" fmla="*/ 22234 h 44272"/>
                  <a:gd name="connsiteX3" fmla="*/ 288429 w 287772"/>
                  <a:gd name="connsiteY3" fmla="*/ 22234 h 44272"/>
                  <a:gd name="connsiteX4" fmla="*/ 266293 w 287772"/>
                  <a:gd name="connsiteY4" fmla="*/ 44371 h 44272"/>
                  <a:gd name="connsiteX5" fmla="*/ 22793 w 287772"/>
                  <a:gd name="connsiteY5" fmla="*/ 44371 h 44272"/>
                  <a:gd name="connsiteX6" fmla="*/ 657 w 287772"/>
                  <a:gd name="connsiteY6" fmla="*/ 22234 h 44272"/>
                  <a:gd name="connsiteX7" fmla="*/ 657 w 287772"/>
                  <a:gd name="connsiteY7" fmla="*/ 22234 h 44272"/>
                  <a:gd name="connsiteX8" fmla="*/ 22793 w 287772"/>
                  <a:gd name="connsiteY8" fmla="*/ 98 h 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772" h="44272">
                    <a:moveTo>
                      <a:pt x="22793" y="98"/>
                    </a:moveTo>
                    <a:lnTo>
                      <a:pt x="266293" y="98"/>
                    </a:lnTo>
                    <a:cubicBezTo>
                      <a:pt x="278468" y="98"/>
                      <a:pt x="288429" y="10059"/>
                      <a:pt x="288429" y="22234"/>
                    </a:cubicBezTo>
                    <a:lnTo>
                      <a:pt x="288429" y="22234"/>
                    </a:lnTo>
                    <a:cubicBezTo>
                      <a:pt x="288429" y="34409"/>
                      <a:pt x="278468" y="44371"/>
                      <a:pt x="266293" y="44371"/>
                    </a:cubicBezTo>
                    <a:lnTo>
                      <a:pt x="22793" y="44371"/>
                    </a:lnTo>
                    <a:cubicBezTo>
                      <a:pt x="10618" y="44371"/>
                      <a:pt x="657" y="34409"/>
                      <a:pt x="657" y="22234"/>
                    </a:cubicBezTo>
                    <a:lnTo>
                      <a:pt x="657" y="22234"/>
                    </a:lnTo>
                    <a:cubicBezTo>
                      <a:pt x="657" y="10059"/>
                      <a:pt x="10618" y="98"/>
                      <a:pt x="22793" y="98"/>
                    </a:cubicBezTo>
                    <a:close/>
                  </a:path>
                </a:pathLst>
              </a:custGeom>
              <a:solidFill>
                <a:srgbClr val="000000">
                  <a:alpha val="40000"/>
                </a:srgbClr>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26" name="组合 25">
                <a:extLst>
                  <a:ext uri="{FF2B5EF4-FFF2-40B4-BE49-F238E27FC236}">
                    <a16:creationId xmlns:a16="http://schemas.microsoft.com/office/drawing/2014/main" id="{1CF11273-5F2B-4B09-AE9A-D4EA7758A674}"/>
                  </a:ext>
                </a:extLst>
              </p:cNvPr>
              <p:cNvGrpSpPr/>
              <p:nvPr/>
            </p:nvGrpSpPr>
            <p:grpSpPr>
              <a:xfrm>
                <a:off x="6312751" y="1290787"/>
                <a:ext cx="77477" cy="77477"/>
                <a:chOff x="6312751" y="1290787"/>
                <a:chExt cx="77477" cy="77477"/>
              </a:xfrm>
            </p:grpSpPr>
            <p:sp>
              <p:nvSpPr>
                <p:cNvPr id="28" name="任意多边形: 形状 27">
                  <a:extLst>
                    <a:ext uri="{FF2B5EF4-FFF2-40B4-BE49-F238E27FC236}">
                      <a16:creationId xmlns:a16="http://schemas.microsoft.com/office/drawing/2014/main" id="{D5A6F6A8-269A-4BB0-96C4-E60A1B0433DB}"/>
                    </a:ext>
                  </a:extLst>
                </p:cNvPr>
                <p:cNvSpPr/>
                <p:nvPr/>
              </p:nvSpPr>
              <p:spPr>
                <a:xfrm>
                  <a:off x="6312751" y="1290787"/>
                  <a:ext cx="77477" cy="77477"/>
                </a:xfrm>
                <a:custGeom>
                  <a:avLst/>
                  <a:gdLst>
                    <a:gd name="connsiteX0" fmla="*/ 78329 w 77477"/>
                    <a:gd name="connsiteY0" fmla="*/ 38826 h 77477"/>
                    <a:gd name="connsiteX1" fmla="*/ 39591 w 77477"/>
                    <a:gd name="connsiteY1" fmla="*/ 77564 h 77477"/>
                    <a:gd name="connsiteX2" fmla="*/ 852 w 77477"/>
                    <a:gd name="connsiteY2" fmla="*/ 38826 h 77477"/>
                    <a:gd name="connsiteX3" fmla="*/ 39591 w 77477"/>
                    <a:gd name="connsiteY3" fmla="*/ 87 h 77477"/>
                    <a:gd name="connsiteX4" fmla="*/ 78329 w 77477"/>
                    <a:gd name="connsiteY4" fmla="*/ 38826 h 77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7" h="77477">
                      <a:moveTo>
                        <a:pt x="78329" y="38826"/>
                      </a:moveTo>
                      <a:cubicBezTo>
                        <a:pt x="78329" y="60220"/>
                        <a:pt x="60985" y="77564"/>
                        <a:pt x="39591" y="77564"/>
                      </a:cubicBezTo>
                      <a:cubicBezTo>
                        <a:pt x="18196" y="77564"/>
                        <a:pt x="852" y="60220"/>
                        <a:pt x="852" y="38826"/>
                      </a:cubicBezTo>
                      <a:cubicBezTo>
                        <a:pt x="852" y="17431"/>
                        <a:pt x="18196" y="87"/>
                        <a:pt x="39591" y="87"/>
                      </a:cubicBezTo>
                      <a:cubicBezTo>
                        <a:pt x="60985" y="87"/>
                        <a:pt x="78329" y="17431"/>
                        <a:pt x="78329" y="38826"/>
                      </a:cubicBezTo>
                      <a:close/>
                    </a:path>
                  </a:pathLst>
                </a:custGeom>
                <a:solidFill>
                  <a:srgbClr val="434343"/>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29" name="组合 28">
                  <a:extLst>
                    <a:ext uri="{FF2B5EF4-FFF2-40B4-BE49-F238E27FC236}">
                      <a16:creationId xmlns:a16="http://schemas.microsoft.com/office/drawing/2014/main" id="{71BC11C5-F866-4FFF-B6E5-7356E06DB49E}"/>
                    </a:ext>
                  </a:extLst>
                </p:cNvPr>
                <p:cNvGrpSpPr/>
                <p:nvPr/>
              </p:nvGrpSpPr>
              <p:grpSpPr>
                <a:xfrm>
                  <a:off x="6331198" y="1309234"/>
                  <a:ext cx="40583" cy="40583"/>
                  <a:chOff x="6331198" y="1309234"/>
                  <a:chExt cx="40583" cy="40583"/>
                </a:xfrm>
              </p:grpSpPr>
              <p:sp>
                <p:nvSpPr>
                  <p:cNvPr id="33" name="任意多边形: 形状 32">
                    <a:extLst>
                      <a:ext uri="{FF2B5EF4-FFF2-40B4-BE49-F238E27FC236}">
                        <a16:creationId xmlns:a16="http://schemas.microsoft.com/office/drawing/2014/main" id="{6CABD112-EDAE-45A8-A050-5E55914D81F5}"/>
                      </a:ext>
                    </a:extLst>
                  </p:cNvPr>
                  <p:cNvSpPr/>
                  <p:nvPr/>
                </p:nvSpPr>
                <p:spPr>
                  <a:xfrm>
                    <a:off x="6331198" y="1309234"/>
                    <a:ext cx="40583" cy="40583"/>
                  </a:xfrm>
                  <a:custGeom>
                    <a:avLst/>
                    <a:gdLst>
                      <a:gd name="connsiteX0" fmla="*/ 41435 w 40583"/>
                      <a:gd name="connsiteY0" fmla="*/ 20379 h 40583"/>
                      <a:gd name="connsiteX1" fmla="*/ 21144 w 40583"/>
                      <a:gd name="connsiteY1" fmla="*/ 40670 h 40583"/>
                      <a:gd name="connsiteX2" fmla="*/ 852 w 40583"/>
                      <a:gd name="connsiteY2" fmla="*/ 20379 h 40583"/>
                      <a:gd name="connsiteX3" fmla="*/ 21144 w 40583"/>
                      <a:gd name="connsiteY3" fmla="*/ 87 h 40583"/>
                      <a:gd name="connsiteX4" fmla="*/ 41435 w 40583"/>
                      <a:gd name="connsiteY4" fmla="*/ 20379 h 40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83" h="40583">
                        <a:moveTo>
                          <a:pt x="41435" y="20379"/>
                        </a:moveTo>
                        <a:cubicBezTo>
                          <a:pt x="41435" y="31585"/>
                          <a:pt x="32350" y="40670"/>
                          <a:pt x="21144" y="40670"/>
                        </a:cubicBezTo>
                        <a:cubicBezTo>
                          <a:pt x="9937" y="40670"/>
                          <a:pt x="852" y="31585"/>
                          <a:pt x="852" y="20379"/>
                        </a:cubicBezTo>
                        <a:cubicBezTo>
                          <a:pt x="852" y="9172"/>
                          <a:pt x="9937" y="87"/>
                          <a:pt x="21144" y="87"/>
                        </a:cubicBezTo>
                        <a:cubicBezTo>
                          <a:pt x="32350" y="87"/>
                          <a:pt x="41435" y="9172"/>
                          <a:pt x="41435" y="20379"/>
                        </a:cubicBezTo>
                        <a:close/>
                      </a:path>
                    </a:pathLst>
                  </a:custGeom>
                  <a:solidFill>
                    <a:srgbClr val="000000"/>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4" name="任意多边形: 形状 33">
                    <a:extLst>
                      <a:ext uri="{FF2B5EF4-FFF2-40B4-BE49-F238E27FC236}">
                        <a16:creationId xmlns:a16="http://schemas.microsoft.com/office/drawing/2014/main" id="{B941EBEC-488A-41C5-8967-8F8DDAE034C6}"/>
                      </a:ext>
                    </a:extLst>
                  </p:cNvPr>
                  <p:cNvSpPr/>
                  <p:nvPr/>
                </p:nvSpPr>
                <p:spPr>
                  <a:xfrm>
                    <a:off x="6331198" y="1309234"/>
                    <a:ext cx="40583" cy="40583"/>
                  </a:xfrm>
                  <a:custGeom>
                    <a:avLst/>
                    <a:gdLst>
                      <a:gd name="connsiteX0" fmla="*/ 41435 w 40583"/>
                      <a:gd name="connsiteY0" fmla="*/ 20379 h 40583"/>
                      <a:gd name="connsiteX1" fmla="*/ 21144 w 40583"/>
                      <a:gd name="connsiteY1" fmla="*/ 40670 h 40583"/>
                      <a:gd name="connsiteX2" fmla="*/ 852 w 40583"/>
                      <a:gd name="connsiteY2" fmla="*/ 20379 h 40583"/>
                      <a:gd name="connsiteX3" fmla="*/ 21144 w 40583"/>
                      <a:gd name="connsiteY3" fmla="*/ 87 h 40583"/>
                      <a:gd name="connsiteX4" fmla="*/ 41435 w 40583"/>
                      <a:gd name="connsiteY4" fmla="*/ 20379 h 40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83" h="40583">
                        <a:moveTo>
                          <a:pt x="41435" y="20379"/>
                        </a:moveTo>
                        <a:cubicBezTo>
                          <a:pt x="41435" y="31585"/>
                          <a:pt x="32350" y="40670"/>
                          <a:pt x="21144" y="40670"/>
                        </a:cubicBezTo>
                        <a:cubicBezTo>
                          <a:pt x="9937" y="40670"/>
                          <a:pt x="852" y="31585"/>
                          <a:pt x="852" y="20379"/>
                        </a:cubicBezTo>
                        <a:cubicBezTo>
                          <a:pt x="852" y="9172"/>
                          <a:pt x="9937" y="87"/>
                          <a:pt x="21144" y="87"/>
                        </a:cubicBezTo>
                        <a:cubicBezTo>
                          <a:pt x="32350" y="87"/>
                          <a:pt x="41435" y="9172"/>
                          <a:pt x="41435" y="20379"/>
                        </a:cubicBezTo>
                        <a:close/>
                      </a:path>
                    </a:pathLst>
                  </a:custGeom>
                  <a:solidFill>
                    <a:srgbClr val="2A4893"/>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30" name="任意多边形: 形状 29">
                  <a:extLst>
                    <a:ext uri="{FF2B5EF4-FFF2-40B4-BE49-F238E27FC236}">
                      <a16:creationId xmlns:a16="http://schemas.microsoft.com/office/drawing/2014/main" id="{5E311382-8F74-4D65-A35F-E74DABB09578}"/>
                    </a:ext>
                  </a:extLst>
                </p:cNvPr>
                <p:cNvSpPr/>
                <p:nvPr/>
              </p:nvSpPr>
              <p:spPr>
                <a:xfrm>
                  <a:off x="6328425" y="1309261"/>
                  <a:ext cx="13877" cy="33223"/>
                </a:xfrm>
                <a:custGeom>
                  <a:avLst/>
                  <a:gdLst>
                    <a:gd name="connsiteX0" fmla="*/ 10266 w 13877"/>
                    <a:gd name="connsiteY0" fmla="*/ 14079 h 33223"/>
                    <a:gd name="connsiteX1" fmla="*/ 13402 w 13877"/>
                    <a:gd name="connsiteY1" fmla="*/ 428 h 33223"/>
                    <a:gd name="connsiteX2" fmla="*/ 3072 w 13877"/>
                    <a:gd name="connsiteY2" fmla="*/ 13157 h 33223"/>
                    <a:gd name="connsiteX3" fmla="*/ 7499 w 13877"/>
                    <a:gd name="connsiteY3" fmla="*/ 33264 h 33223"/>
                    <a:gd name="connsiteX4" fmla="*/ 10266 w 13877"/>
                    <a:gd name="connsiteY4" fmla="*/ 14079 h 3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7" h="33223">
                      <a:moveTo>
                        <a:pt x="10266" y="14079"/>
                      </a:moveTo>
                      <a:cubicBezTo>
                        <a:pt x="12111" y="6885"/>
                        <a:pt x="17092" y="1351"/>
                        <a:pt x="13402" y="428"/>
                      </a:cubicBezTo>
                      <a:cubicBezTo>
                        <a:pt x="9713" y="-494"/>
                        <a:pt x="8606" y="-494"/>
                        <a:pt x="3072" y="13157"/>
                      </a:cubicBezTo>
                      <a:cubicBezTo>
                        <a:pt x="-2462" y="26807"/>
                        <a:pt x="3626" y="32342"/>
                        <a:pt x="7499" y="33264"/>
                      </a:cubicBezTo>
                      <a:cubicBezTo>
                        <a:pt x="11373" y="34186"/>
                        <a:pt x="8422" y="21273"/>
                        <a:pt x="10266" y="14079"/>
                      </a:cubicBezTo>
                      <a:close/>
                    </a:path>
                  </a:pathLst>
                </a:custGeom>
                <a:solidFill>
                  <a:srgbClr val="3E89CC"/>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1" name="任意多边形: 形状 30">
                  <a:extLst>
                    <a:ext uri="{FF2B5EF4-FFF2-40B4-BE49-F238E27FC236}">
                      <a16:creationId xmlns:a16="http://schemas.microsoft.com/office/drawing/2014/main" id="{D3B3F758-0F57-466A-8214-A9E9354B78CE}"/>
                    </a:ext>
                  </a:extLst>
                </p:cNvPr>
                <p:cNvSpPr/>
                <p:nvPr/>
              </p:nvSpPr>
              <p:spPr>
                <a:xfrm>
                  <a:off x="6355179" y="1309234"/>
                  <a:ext cx="23981" cy="31359"/>
                </a:xfrm>
                <a:custGeom>
                  <a:avLst/>
                  <a:gdLst>
                    <a:gd name="connsiteX0" fmla="*/ 24833 w 23981"/>
                    <a:gd name="connsiteY0" fmla="*/ 15767 h 31359"/>
                    <a:gd name="connsiteX1" fmla="*/ 12843 w 23981"/>
                    <a:gd name="connsiteY1" fmla="*/ 31447 h 31359"/>
                    <a:gd name="connsiteX2" fmla="*/ 852 w 23981"/>
                    <a:gd name="connsiteY2" fmla="*/ 15767 h 31359"/>
                    <a:gd name="connsiteX3" fmla="*/ 12843 w 23981"/>
                    <a:gd name="connsiteY3" fmla="*/ 87 h 31359"/>
                    <a:gd name="connsiteX4" fmla="*/ 24833 w 23981"/>
                    <a:gd name="connsiteY4" fmla="*/ 15767 h 31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81" h="31359">
                      <a:moveTo>
                        <a:pt x="24833" y="15767"/>
                      </a:moveTo>
                      <a:cubicBezTo>
                        <a:pt x="24833" y="24427"/>
                        <a:pt x="19465" y="31447"/>
                        <a:pt x="12843" y="31447"/>
                      </a:cubicBezTo>
                      <a:cubicBezTo>
                        <a:pt x="6220" y="31447"/>
                        <a:pt x="852" y="24427"/>
                        <a:pt x="852" y="15767"/>
                      </a:cubicBezTo>
                      <a:cubicBezTo>
                        <a:pt x="852" y="7107"/>
                        <a:pt x="6220" y="87"/>
                        <a:pt x="12843" y="87"/>
                      </a:cubicBezTo>
                      <a:cubicBezTo>
                        <a:pt x="19465" y="87"/>
                        <a:pt x="24833" y="7107"/>
                        <a:pt x="24833" y="15767"/>
                      </a:cubicBezTo>
                      <a:close/>
                    </a:path>
                  </a:pathLst>
                </a:custGeom>
                <a:solidFill>
                  <a:srgbClr val="1C5894"/>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2" name="任意多边形: 形状 31">
                  <a:extLst>
                    <a:ext uri="{FF2B5EF4-FFF2-40B4-BE49-F238E27FC236}">
                      <a16:creationId xmlns:a16="http://schemas.microsoft.com/office/drawing/2014/main" id="{2C97A2C3-9818-496F-8444-97637DA19C1E}"/>
                    </a:ext>
                  </a:extLst>
                </p:cNvPr>
                <p:cNvSpPr/>
                <p:nvPr/>
              </p:nvSpPr>
              <p:spPr>
                <a:xfrm rot="-959840">
                  <a:off x="6337479" y="1334149"/>
                  <a:ext cx="36156" cy="23612"/>
                </a:xfrm>
                <a:custGeom>
                  <a:avLst/>
                  <a:gdLst>
                    <a:gd name="connsiteX0" fmla="*/ 37009 w 36156"/>
                    <a:gd name="connsiteY0" fmla="*/ 11893 h 23612"/>
                    <a:gd name="connsiteX1" fmla="*/ 18930 w 36156"/>
                    <a:gd name="connsiteY1" fmla="*/ 23700 h 23612"/>
                    <a:gd name="connsiteX2" fmla="*/ 852 w 36156"/>
                    <a:gd name="connsiteY2" fmla="*/ 11893 h 23612"/>
                    <a:gd name="connsiteX3" fmla="*/ 18930 w 36156"/>
                    <a:gd name="connsiteY3" fmla="*/ 87 h 23612"/>
                    <a:gd name="connsiteX4" fmla="*/ 37009 w 36156"/>
                    <a:gd name="connsiteY4" fmla="*/ 11893 h 23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56" h="23612">
                      <a:moveTo>
                        <a:pt x="37009" y="11893"/>
                      </a:moveTo>
                      <a:cubicBezTo>
                        <a:pt x="37009" y="18414"/>
                        <a:pt x="28915" y="23700"/>
                        <a:pt x="18930" y="23700"/>
                      </a:cubicBezTo>
                      <a:cubicBezTo>
                        <a:pt x="8946" y="23700"/>
                        <a:pt x="852" y="18414"/>
                        <a:pt x="852" y="11893"/>
                      </a:cubicBezTo>
                      <a:cubicBezTo>
                        <a:pt x="852" y="5373"/>
                        <a:pt x="8946" y="87"/>
                        <a:pt x="18930" y="87"/>
                      </a:cubicBezTo>
                      <a:cubicBezTo>
                        <a:pt x="28915" y="87"/>
                        <a:pt x="37009" y="5373"/>
                        <a:pt x="37009" y="11893"/>
                      </a:cubicBezTo>
                      <a:close/>
                    </a:path>
                  </a:pathLst>
                </a:custGeom>
                <a:solidFill>
                  <a:srgbClr val="0A152B"/>
                </a:solidFill>
                <a:ln w="184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
            <p:nvSpPr>
              <p:cNvPr id="27" name="椭圆 26">
                <a:extLst>
                  <a:ext uri="{FF2B5EF4-FFF2-40B4-BE49-F238E27FC236}">
                    <a16:creationId xmlns:a16="http://schemas.microsoft.com/office/drawing/2014/main" id="{22935525-533E-4318-BFC4-73F14D6D0095}"/>
                  </a:ext>
                </a:extLst>
              </p:cNvPr>
              <p:cNvSpPr/>
              <p:nvPr/>
            </p:nvSpPr>
            <p:spPr>
              <a:xfrm>
                <a:off x="4120979" y="6276559"/>
                <a:ext cx="3950043" cy="206381"/>
              </a:xfrm>
              <a:prstGeom prst="ellipse">
                <a:avLst/>
              </a:prstGeom>
              <a:solidFill>
                <a:schemeClr val="tx1">
                  <a:lumMod val="90000"/>
                  <a:lumOff val="10000"/>
                  <a:alpha val="50000"/>
                </a:schemeClr>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5" name="任意多边形: 形状 4">
              <a:extLst>
                <a:ext uri="{FF2B5EF4-FFF2-40B4-BE49-F238E27FC236}">
                  <a16:creationId xmlns:a16="http://schemas.microsoft.com/office/drawing/2014/main" id="{6BDF0457-03B1-4F9F-8313-E98CF823D233}"/>
                </a:ext>
              </a:extLst>
            </p:cNvPr>
            <p:cNvSpPr/>
            <p:nvPr/>
          </p:nvSpPr>
          <p:spPr>
            <a:xfrm>
              <a:off x="4951553" y="1274185"/>
              <a:ext cx="2290370" cy="4958166"/>
            </a:xfrm>
            <a:custGeom>
              <a:avLst/>
              <a:gdLst>
                <a:gd name="connsiteX0" fmla="*/ 531201 w 2290370"/>
                <a:gd name="connsiteY0" fmla="*/ 78 h 4958166"/>
                <a:gd name="connsiteX1" fmla="*/ 564406 w 2290370"/>
                <a:gd name="connsiteY1" fmla="*/ 33282 h 4958166"/>
                <a:gd name="connsiteX2" fmla="*/ 580639 w 2290370"/>
                <a:gd name="connsiteY2" fmla="*/ 107439 h 4958166"/>
                <a:gd name="connsiteX3" fmla="*/ 626572 w 2290370"/>
                <a:gd name="connsiteY3" fmla="*/ 153372 h 4958166"/>
                <a:gd name="connsiteX4" fmla="*/ 711981 w 2290370"/>
                <a:gd name="connsiteY4" fmla="*/ 169605 h 4958166"/>
                <a:gd name="connsiteX5" fmla="*/ 711981 w 2290370"/>
                <a:gd name="connsiteY5" fmla="*/ 169605 h 4958166"/>
                <a:gd name="connsiteX6" fmla="*/ 1578618 w 2290370"/>
                <a:gd name="connsiteY6" fmla="*/ 169605 h 4958166"/>
                <a:gd name="connsiteX7" fmla="*/ 1664027 w 2290370"/>
                <a:gd name="connsiteY7" fmla="*/ 153372 h 4958166"/>
                <a:gd name="connsiteX8" fmla="*/ 1709960 w 2290370"/>
                <a:gd name="connsiteY8" fmla="*/ 107439 h 4958166"/>
                <a:gd name="connsiteX9" fmla="*/ 1726193 w 2290370"/>
                <a:gd name="connsiteY9" fmla="*/ 33282 h 4958166"/>
                <a:gd name="connsiteX10" fmla="*/ 1759398 w 2290370"/>
                <a:gd name="connsiteY10" fmla="*/ 78 h 4958166"/>
                <a:gd name="connsiteX11" fmla="*/ 1759398 w 2290370"/>
                <a:gd name="connsiteY11" fmla="*/ 78 h 4958166"/>
                <a:gd name="connsiteX12" fmla="*/ 2013965 w 2290370"/>
                <a:gd name="connsiteY12" fmla="*/ 78 h 4958166"/>
                <a:gd name="connsiteX13" fmla="*/ 2180172 w 2290370"/>
                <a:gd name="connsiteY13" fmla="*/ 28855 h 4958166"/>
                <a:gd name="connsiteX14" fmla="*/ 2261708 w 2290370"/>
                <a:gd name="connsiteY14" fmla="*/ 110391 h 4958166"/>
                <a:gd name="connsiteX15" fmla="*/ 2290485 w 2290370"/>
                <a:gd name="connsiteY15" fmla="*/ 276597 h 4958166"/>
                <a:gd name="connsiteX16" fmla="*/ 2290485 w 2290370"/>
                <a:gd name="connsiteY16" fmla="*/ 4681725 h 4958166"/>
                <a:gd name="connsiteX17" fmla="*/ 2261708 w 2290370"/>
                <a:gd name="connsiteY17" fmla="*/ 4847932 h 4958166"/>
                <a:gd name="connsiteX18" fmla="*/ 2180172 w 2290370"/>
                <a:gd name="connsiteY18" fmla="*/ 4929467 h 4958166"/>
                <a:gd name="connsiteX19" fmla="*/ 2013965 w 2290370"/>
                <a:gd name="connsiteY19" fmla="*/ 4958244 h 4958166"/>
                <a:gd name="connsiteX20" fmla="*/ 276633 w 2290370"/>
                <a:gd name="connsiteY20" fmla="*/ 4958244 h 4958166"/>
                <a:gd name="connsiteX21" fmla="*/ 110427 w 2290370"/>
                <a:gd name="connsiteY21" fmla="*/ 4929467 h 4958166"/>
                <a:gd name="connsiteX22" fmla="*/ 28891 w 2290370"/>
                <a:gd name="connsiteY22" fmla="*/ 4847932 h 4958166"/>
                <a:gd name="connsiteX23" fmla="*/ 114 w 2290370"/>
                <a:gd name="connsiteY23" fmla="*/ 4681725 h 4958166"/>
                <a:gd name="connsiteX24" fmla="*/ 114 w 2290370"/>
                <a:gd name="connsiteY24" fmla="*/ 276782 h 4958166"/>
                <a:gd name="connsiteX25" fmla="*/ 28891 w 2290370"/>
                <a:gd name="connsiteY25" fmla="*/ 110575 h 4958166"/>
                <a:gd name="connsiteX26" fmla="*/ 110427 w 2290370"/>
                <a:gd name="connsiteY26" fmla="*/ 29040 h 4958166"/>
                <a:gd name="connsiteX27" fmla="*/ 276633 w 2290370"/>
                <a:gd name="connsiteY27" fmla="*/ 78 h 4958166"/>
                <a:gd name="connsiteX28" fmla="*/ 531201 w 2290370"/>
                <a:gd name="connsiteY28" fmla="*/ 78 h 495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90370" h="4958166">
                  <a:moveTo>
                    <a:pt x="531201" y="78"/>
                  </a:moveTo>
                  <a:cubicBezTo>
                    <a:pt x="549464" y="78"/>
                    <a:pt x="563852" y="15020"/>
                    <a:pt x="564406" y="33282"/>
                  </a:cubicBezTo>
                  <a:cubicBezTo>
                    <a:pt x="565328" y="69992"/>
                    <a:pt x="571046" y="89361"/>
                    <a:pt x="580639" y="107439"/>
                  </a:cubicBezTo>
                  <a:cubicBezTo>
                    <a:pt x="591338" y="127362"/>
                    <a:pt x="606834" y="142857"/>
                    <a:pt x="626572" y="153372"/>
                  </a:cubicBezTo>
                  <a:cubicBezTo>
                    <a:pt x="646494" y="164071"/>
                    <a:pt x="667708" y="169605"/>
                    <a:pt x="711981" y="169605"/>
                  </a:cubicBezTo>
                  <a:lnTo>
                    <a:pt x="711981" y="169605"/>
                  </a:lnTo>
                  <a:lnTo>
                    <a:pt x="1578618" y="169605"/>
                  </a:lnTo>
                  <a:cubicBezTo>
                    <a:pt x="1622890" y="169605"/>
                    <a:pt x="1644289" y="163887"/>
                    <a:pt x="1664027" y="153372"/>
                  </a:cubicBezTo>
                  <a:cubicBezTo>
                    <a:pt x="1683950" y="142673"/>
                    <a:pt x="1699445" y="127177"/>
                    <a:pt x="1709960" y="107439"/>
                  </a:cubicBezTo>
                  <a:cubicBezTo>
                    <a:pt x="1719552" y="89361"/>
                    <a:pt x="1725086" y="69992"/>
                    <a:pt x="1726193" y="33282"/>
                  </a:cubicBezTo>
                  <a:cubicBezTo>
                    <a:pt x="1726747" y="15020"/>
                    <a:pt x="1741135" y="78"/>
                    <a:pt x="1759398" y="78"/>
                  </a:cubicBezTo>
                  <a:lnTo>
                    <a:pt x="1759398" y="78"/>
                  </a:lnTo>
                  <a:lnTo>
                    <a:pt x="2013965" y="78"/>
                  </a:lnTo>
                  <a:cubicBezTo>
                    <a:pt x="2110258" y="78"/>
                    <a:pt x="2145123" y="10039"/>
                    <a:pt x="2180172" y="28855"/>
                  </a:cubicBezTo>
                  <a:cubicBezTo>
                    <a:pt x="2215221" y="47671"/>
                    <a:pt x="2242892" y="75341"/>
                    <a:pt x="2261708" y="110391"/>
                  </a:cubicBezTo>
                  <a:cubicBezTo>
                    <a:pt x="2280524" y="145624"/>
                    <a:pt x="2290485" y="180489"/>
                    <a:pt x="2290485" y="276597"/>
                  </a:cubicBezTo>
                  <a:lnTo>
                    <a:pt x="2290485" y="4681725"/>
                  </a:lnTo>
                  <a:cubicBezTo>
                    <a:pt x="2290485" y="4778018"/>
                    <a:pt x="2280524" y="4812883"/>
                    <a:pt x="2261708" y="4847932"/>
                  </a:cubicBezTo>
                  <a:cubicBezTo>
                    <a:pt x="2242892" y="4883165"/>
                    <a:pt x="2215221" y="4910651"/>
                    <a:pt x="2180172" y="4929467"/>
                  </a:cubicBezTo>
                  <a:cubicBezTo>
                    <a:pt x="2144939" y="4948283"/>
                    <a:pt x="2110074" y="4958244"/>
                    <a:pt x="2013965" y="4958244"/>
                  </a:cubicBezTo>
                  <a:lnTo>
                    <a:pt x="276633" y="4958244"/>
                  </a:lnTo>
                  <a:cubicBezTo>
                    <a:pt x="180341" y="4958244"/>
                    <a:pt x="145476" y="4948283"/>
                    <a:pt x="110427" y="4929467"/>
                  </a:cubicBezTo>
                  <a:cubicBezTo>
                    <a:pt x="75193" y="4910651"/>
                    <a:pt x="47707" y="4882981"/>
                    <a:pt x="28891" y="4847932"/>
                  </a:cubicBezTo>
                  <a:cubicBezTo>
                    <a:pt x="10075" y="4812883"/>
                    <a:pt x="114" y="4777833"/>
                    <a:pt x="114" y="4681725"/>
                  </a:cubicBezTo>
                  <a:lnTo>
                    <a:pt x="114" y="276782"/>
                  </a:lnTo>
                  <a:cubicBezTo>
                    <a:pt x="114" y="180489"/>
                    <a:pt x="10075" y="145624"/>
                    <a:pt x="28891" y="110575"/>
                  </a:cubicBezTo>
                  <a:cubicBezTo>
                    <a:pt x="47707" y="75526"/>
                    <a:pt x="75377" y="47856"/>
                    <a:pt x="110427" y="29040"/>
                  </a:cubicBezTo>
                  <a:cubicBezTo>
                    <a:pt x="145476" y="10224"/>
                    <a:pt x="180341" y="78"/>
                    <a:pt x="276633" y="78"/>
                  </a:cubicBezTo>
                  <a:lnTo>
                    <a:pt x="531201" y="78"/>
                  </a:lnTo>
                  <a:close/>
                </a:path>
              </a:pathLst>
            </a:custGeom>
            <a:blipFill dpi="0" rotWithShape="1">
              <a:blip r:embed="rId8">
                <a:extLst>
                  <a:ext uri="{28A0092B-C50C-407E-A947-70E740481C1C}">
                    <a14:useLocalDpi xmlns:a14="http://schemas.microsoft.com/office/drawing/2010/main" val="0"/>
                  </a:ext>
                </a:extLst>
              </a:blip>
              <a:srcRect/>
              <a:stretch>
                <a:fillRect/>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grpSp>
        <p:nvGrpSpPr>
          <p:cNvPr id="64" name="Group 11">
            <a:extLst>
              <a:ext uri="{FF2B5EF4-FFF2-40B4-BE49-F238E27FC236}">
                <a16:creationId xmlns:a16="http://schemas.microsoft.com/office/drawing/2014/main" id="{158FE562-E930-E972-FC35-40B0744E5529}"/>
              </a:ext>
            </a:extLst>
          </p:cNvPr>
          <p:cNvGrpSpPr/>
          <p:nvPr/>
        </p:nvGrpSpPr>
        <p:grpSpPr>
          <a:xfrm>
            <a:off x="3532569" y="500316"/>
            <a:ext cx="8675360" cy="1053474"/>
            <a:chOff x="1751970" y="1146383"/>
            <a:chExt cx="8675360" cy="1053474"/>
          </a:xfrm>
        </p:grpSpPr>
      </p:grpSp>
      <p:grpSp>
        <p:nvGrpSpPr>
          <p:cNvPr id="65" name="Group 4">
            <a:extLst>
              <a:ext uri="{FF2B5EF4-FFF2-40B4-BE49-F238E27FC236}">
                <a16:creationId xmlns:a16="http://schemas.microsoft.com/office/drawing/2014/main" id="{E6238A90-FF76-78ED-EEC2-8DE8E67E07ED}"/>
              </a:ext>
            </a:extLst>
          </p:cNvPr>
          <p:cNvGrpSpPr/>
          <p:nvPr/>
        </p:nvGrpSpPr>
        <p:grpSpPr>
          <a:xfrm>
            <a:off x="4583603" y="1240842"/>
            <a:ext cx="4140486" cy="2250116"/>
            <a:chOff x="1807868" y="2805866"/>
            <a:chExt cx="4099597" cy="3325868"/>
          </a:xfrm>
        </p:grpSpPr>
        <p:sp>
          <p:nvSpPr>
            <p:cNvPr id="72" name="1">
              <a:extLst>
                <a:ext uri="{FF2B5EF4-FFF2-40B4-BE49-F238E27FC236}">
                  <a16:creationId xmlns:a16="http://schemas.microsoft.com/office/drawing/2014/main" id="{01E7BED7-913F-7E30-E32D-600B3C19A817}"/>
                </a:ext>
              </a:extLst>
            </p:cNvPr>
            <p:cNvSpPr/>
            <p:nvPr/>
          </p:nvSpPr>
          <p:spPr>
            <a:xfrm>
              <a:off x="1843601" y="2805866"/>
              <a:ext cx="4023573" cy="3325865"/>
            </a:xfrm>
            <a:prstGeom prst="roundRect">
              <a:avLst>
                <a:gd name="adj" fmla="val 6000"/>
              </a:avLst>
            </a:pr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73" name="Index-1">
              <a:extLst>
                <a:ext uri="{FF2B5EF4-FFF2-40B4-BE49-F238E27FC236}">
                  <a16:creationId xmlns:a16="http://schemas.microsoft.com/office/drawing/2014/main" id="{4F300805-7EE7-6F38-8CBA-667ED176B529}"/>
                </a:ext>
              </a:extLst>
            </p:cNvPr>
            <p:cNvSpPr txBox="1"/>
            <p:nvPr>
              <p:custDataLst>
                <p:tags r:id="rId3"/>
              </p:custDataLst>
            </p:nvPr>
          </p:nvSpPr>
          <p:spPr>
            <a:xfrm>
              <a:off x="3417246" y="3024091"/>
              <a:ext cx="2490219" cy="864349"/>
            </a:xfrm>
            <a:prstGeom prst="rect">
              <a:avLst/>
            </a:prstGeom>
            <a:noFill/>
            <a:ln>
              <a:noFill/>
            </a:ln>
          </p:spPr>
          <p:txBody>
            <a:bodyPr wrap="square" lIns="91440" tIns="45720" rIns="91440" bIns="45720" anchor="ctr" anchorCtr="0">
              <a:spAutoFit/>
            </a:body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en-US" altLang="zh-CN" sz="3200" b="1" i="0" u="none" strike="noStrike" kern="1200" cap="none" spc="0" normalizeH="0" baseline="0" noProof="0" dirty="0">
                  <a:ln>
                    <a:noFill/>
                  </a:ln>
                  <a:gradFill>
                    <a:gsLst>
                      <a:gs pos="0">
                        <a:srgbClr val="4F81BD">
                          <a:lumMod val="60000"/>
                          <a:lumOff val="40000"/>
                        </a:srgbClr>
                      </a:gs>
                      <a:gs pos="60000">
                        <a:srgbClr val="4F81BD"/>
                      </a:gs>
                    </a:gsLst>
                    <a:lin ang="2700000" scaled="0"/>
                  </a:gradFill>
                  <a:effectLst/>
                  <a:uLnTx/>
                  <a:uFillTx/>
                  <a:latin typeface="Calibri"/>
                  <a:ea typeface="宋体" panose="02010600030101010101" pitchFamily="2" charset="-122"/>
                  <a:cs typeface="+mn-cs"/>
                </a:rPr>
                <a:t>Background</a:t>
              </a:r>
            </a:p>
          </p:txBody>
        </p:sp>
        <p:sp>
          <p:nvSpPr>
            <p:cNvPr id="74" name="Title-1">
              <a:extLst>
                <a:ext uri="{FF2B5EF4-FFF2-40B4-BE49-F238E27FC236}">
                  <a16:creationId xmlns:a16="http://schemas.microsoft.com/office/drawing/2014/main" id="{29665D1C-4ABA-552D-0FE9-268E0E5E200C}"/>
                </a:ext>
              </a:extLst>
            </p:cNvPr>
            <p:cNvSpPr txBox="1"/>
            <p:nvPr>
              <p:custDataLst>
                <p:tags r:id="rId4"/>
              </p:custDataLst>
            </p:nvPr>
          </p:nvSpPr>
          <p:spPr>
            <a:xfrm>
              <a:off x="1843601" y="3888439"/>
              <a:ext cx="4063863" cy="2243295"/>
            </a:xfrm>
            <a:prstGeom prst="rect">
              <a:avLst/>
            </a:prstGeom>
            <a:noFill/>
            <a:ln>
              <a:noFill/>
            </a:ln>
          </p:spPr>
          <p:txBody>
            <a:bodyPr wrap="square" lIns="91440" tIns="45720" rIns="91440" bIns="45720" anchor="ctr" anchorCtr="0">
              <a:noAutofit/>
            </a:bodyPr>
            <a:lstStyle/>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IoMT enables continuous healthcare monitoring and supports modern medical services.</a:t>
              </a:r>
            </a:p>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However, the increasing number of connected devices significantly expands the attack surface.</a:t>
              </a:r>
            </a:p>
          </p:txBody>
        </p:sp>
        <p:sp>
          <p:nvSpPr>
            <p:cNvPr id="84" name="1">
              <a:extLst>
                <a:ext uri="{FF2B5EF4-FFF2-40B4-BE49-F238E27FC236}">
                  <a16:creationId xmlns:a16="http://schemas.microsoft.com/office/drawing/2014/main" id="{D26BFBFE-7B4C-762A-80C3-ED98F89B0632}"/>
                </a:ext>
              </a:extLst>
            </p:cNvPr>
            <p:cNvSpPr/>
            <p:nvPr/>
          </p:nvSpPr>
          <p:spPr>
            <a:xfrm>
              <a:off x="1807868" y="3290622"/>
              <a:ext cx="71925" cy="822726"/>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grpSp>
        <p:nvGrpSpPr>
          <p:cNvPr id="89" name="组合 88">
            <a:extLst>
              <a:ext uri="{FF2B5EF4-FFF2-40B4-BE49-F238E27FC236}">
                <a16:creationId xmlns:a16="http://schemas.microsoft.com/office/drawing/2014/main" id="{223BEC87-9418-49C2-CE0F-F60376C0B396}"/>
              </a:ext>
            </a:extLst>
          </p:cNvPr>
          <p:cNvGrpSpPr/>
          <p:nvPr/>
        </p:nvGrpSpPr>
        <p:grpSpPr>
          <a:xfrm>
            <a:off x="4588134" y="3703836"/>
            <a:ext cx="4099792" cy="2427658"/>
            <a:chOff x="4515493" y="3169578"/>
            <a:chExt cx="4099792" cy="2427658"/>
          </a:xfrm>
        </p:grpSpPr>
        <p:grpSp>
          <p:nvGrpSpPr>
            <p:cNvPr id="66" name="Group 6">
              <a:extLst>
                <a:ext uri="{FF2B5EF4-FFF2-40B4-BE49-F238E27FC236}">
                  <a16:creationId xmlns:a16="http://schemas.microsoft.com/office/drawing/2014/main" id="{C087DDFF-CC40-191C-6319-08E8EF0ADEFF}"/>
                </a:ext>
              </a:extLst>
            </p:cNvPr>
            <p:cNvGrpSpPr/>
            <p:nvPr/>
          </p:nvGrpSpPr>
          <p:grpSpPr>
            <a:xfrm>
              <a:off x="4515493" y="3169578"/>
              <a:ext cx="4099792" cy="2427658"/>
              <a:chOff x="6320787" y="2805866"/>
              <a:chExt cx="4099827" cy="3325865"/>
            </a:xfrm>
          </p:grpSpPr>
          <p:sp>
            <p:nvSpPr>
              <p:cNvPr id="67" name="2">
                <a:extLst>
                  <a:ext uri="{FF2B5EF4-FFF2-40B4-BE49-F238E27FC236}">
                    <a16:creationId xmlns:a16="http://schemas.microsoft.com/office/drawing/2014/main" id="{7C72C197-87AD-DA82-C65A-B86BCFBD481C}"/>
                  </a:ext>
                </a:extLst>
              </p:cNvPr>
              <p:cNvSpPr/>
              <p:nvPr/>
            </p:nvSpPr>
            <p:spPr>
              <a:xfrm>
                <a:off x="6356750" y="2805866"/>
                <a:ext cx="4023573" cy="3325865"/>
              </a:xfrm>
              <a:prstGeom prst="roundRect">
                <a:avLst>
                  <a:gd name="adj" fmla="val 6000"/>
                </a:avLst>
              </a:pr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68" name="Index-2">
                <a:extLst>
                  <a:ext uri="{FF2B5EF4-FFF2-40B4-BE49-F238E27FC236}">
                    <a16:creationId xmlns:a16="http://schemas.microsoft.com/office/drawing/2014/main" id="{FD4B49BF-7EC7-2E05-BEFE-67B26A0C1B68}"/>
                  </a:ext>
                </a:extLst>
              </p:cNvPr>
              <p:cNvSpPr txBox="1"/>
              <p:nvPr>
                <p:custDataLst>
                  <p:tags r:id="rId2"/>
                </p:custDataLst>
              </p:nvPr>
            </p:nvSpPr>
            <p:spPr>
              <a:xfrm>
                <a:off x="8047970" y="2850707"/>
                <a:ext cx="2372644" cy="801135"/>
              </a:xfrm>
              <a:prstGeom prst="rect">
                <a:avLst/>
              </a:prstGeom>
              <a:noFill/>
              <a:ln>
                <a:noFill/>
              </a:ln>
            </p:spPr>
            <p:txBody>
              <a:bodyPr wrap="square" lIns="91440" tIns="45720" rIns="91440" bIns="45720" anchor="ctr" anchorCtr="0">
                <a:spAutoFit/>
              </a:body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en-US" altLang="zh-CN" sz="3200" b="1" i="0" u="none" strike="noStrike" kern="1200" cap="none" spc="0" normalizeH="0" baseline="0" noProof="0" dirty="0">
                    <a:ln>
                      <a:noFill/>
                    </a:ln>
                    <a:gradFill>
                      <a:gsLst>
                        <a:gs pos="0">
                          <a:srgbClr val="C0504D">
                            <a:lumMod val="60000"/>
                            <a:lumOff val="40000"/>
                          </a:srgbClr>
                        </a:gs>
                        <a:gs pos="60000">
                          <a:srgbClr val="C0504D"/>
                        </a:gs>
                      </a:gsLst>
                      <a:lin ang="2700000" scaled="0"/>
                    </a:gradFill>
                    <a:effectLst/>
                    <a:uLnTx/>
                    <a:uFillTx/>
                    <a:latin typeface="Calibri"/>
                    <a:ea typeface="宋体" panose="02010600030101010101" pitchFamily="2" charset="-122"/>
                    <a:cs typeface="+mn-cs"/>
                  </a:rPr>
                  <a:t>Motivation</a:t>
                </a:r>
              </a:p>
            </p:txBody>
          </p:sp>
          <p:sp>
            <p:nvSpPr>
              <p:cNvPr id="71" name="2">
                <a:extLst>
                  <a:ext uri="{FF2B5EF4-FFF2-40B4-BE49-F238E27FC236}">
                    <a16:creationId xmlns:a16="http://schemas.microsoft.com/office/drawing/2014/main" id="{80311254-FD85-8236-0B55-D2D864868BE3}"/>
                  </a:ext>
                </a:extLst>
              </p:cNvPr>
              <p:cNvSpPr/>
              <p:nvPr/>
            </p:nvSpPr>
            <p:spPr>
              <a:xfrm>
                <a:off x="6320787" y="3290622"/>
                <a:ext cx="71925" cy="822726"/>
              </a:xfrm>
              <a:prstGeom prst="roundRect">
                <a:avLst>
                  <a:gd name="adj" fmla="val 50000"/>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sp>
          <p:nvSpPr>
            <p:cNvPr id="86" name="Title-1">
              <a:extLst>
                <a:ext uri="{FF2B5EF4-FFF2-40B4-BE49-F238E27FC236}">
                  <a16:creationId xmlns:a16="http://schemas.microsoft.com/office/drawing/2014/main" id="{351D1363-6271-A0FB-6357-4C67067AECED}"/>
                </a:ext>
              </a:extLst>
            </p:cNvPr>
            <p:cNvSpPr txBox="1"/>
            <p:nvPr>
              <p:custDataLst>
                <p:tags r:id="rId1"/>
              </p:custDataLst>
            </p:nvPr>
          </p:nvSpPr>
          <p:spPr>
            <a:xfrm>
              <a:off x="4583605" y="3871487"/>
              <a:ext cx="3991390" cy="1623021"/>
            </a:xfrm>
            <a:prstGeom prst="rect">
              <a:avLst/>
            </a:prstGeom>
            <a:noFill/>
            <a:ln>
              <a:noFill/>
            </a:ln>
          </p:spPr>
          <p:txBody>
            <a:bodyPr wrap="square" lIns="91440" tIns="45720" rIns="91440" bIns="45720" anchor="ctr" anchorCtr="0">
              <a:noAutofit/>
            </a:bodyPr>
            <a:lstStyle/>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Although AI-based IDS can strengthen security, limited computation, memory, storage, and bandwidth make direct deployment on IoMT edge devices challenging.</a:t>
              </a:r>
            </a:p>
            <a:p>
              <a:pPr marL="285750" marR="0" lvl="0" indent="-285750" algn="l" defTabSz="457200" rtl="0" eaLnBrk="1" fontAlgn="auto" latinLnBrk="0" hangingPunct="1">
                <a:lnSpc>
                  <a:spcPct val="100000"/>
                </a:lnSpc>
                <a:spcBef>
                  <a:spcPts val="0"/>
                </a:spcBef>
                <a:spcAft>
                  <a:spcPts val="0"/>
                </a:spcAft>
                <a:buClrTx/>
                <a:buSzPct val="4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Cloud-based and hybrid AI-based IDS may introduce significant communication overhead, making efficient deployment strategies and feature processing methods important to study.</a:t>
              </a:r>
            </a:p>
          </p:txBody>
        </p:sp>
      </p:grpSp>
      <p:sp>
        <p:nvSpPr>
          <p:cNvPr id="90" name="文本框 89">
            <a:extLst>
              <a:ext uri="{FF2B5EF4-FFF2-40B4-BE49-F238E27FC236}">
                <a16:creationId xmlns:a16="http://schemas.microsoft.com/office/drawing/2014/main" id="{17FE5CBB-5618-4B15-982E-D74D76BA24F8}"/>
              </a:ext>
            </a:extLst>
          </p:cNvPr>
          <p:cNvSpPr txBox="1"/>
          <p:nvPr/>
        </p:nvSpPr>
        <p:spPr>
          <a:xfrm>
            <a:off x="883567" y="191692"/>
            <a:ext cx="2570730"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Introduction</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7672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CF36AD3-C2B4-6A1F-CE2E-839AE40D523C}"/>
              </a:ext>
            </a:extLst>
          </p:cNvPr>
          <p:cNvPicPr/>
          <p:nvPr/>
        </p:nvPicPr>
        <p:blipFill>
          <a:blip r:embed="rId17"/>
          <a:stretch>
            <a:fillRect/>
          </a:stretch>
        </p:blipFill>
        <p:spPr>
          <a:xfrm>
            <a:off x="0" y="267"/>
            <a:ext cx="9144000" cy="1027698"/>
          </a:xfrm>
          <a:prstGeom prst="rect">
            <a:avLst/>
          </a:prstGeom>
        </p:spPr>
      </p:pic>
      <p:sp>
        <p:nvSpPr>
          <p:cNvPr id="3" name="文本框 2">
            <a:extLst>
              <a:ext uri="{FF2B5EF4-FFF2-40B4-BE49-F238E27FC236}">
                <a16:creationId xmlns:a16="http://schemas.microsoft.com/office/drawing/2014/main" id="{0F17F28B-FCCB-6978-A713-41B7DD6536D7}"/>
              </a:ext>
            </a:extLst>
          </p:cNvPr>
          <p:cNvSpPr txBox="1"/>
          <p:nvPr/>
        </p:nvSpPr>
        <p:spPr>
          <a:xfrm>
            <a:off x="421229" y="191692"/>
            <a:ext cx="735630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Research Gaps</a:t>
            </a:r>
            <a:r>
              <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 </a:t>
            </a: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and</a:t>
            </a:r>
            <a:r>
              <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 </a:t>
            </a: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Contributions</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4" name="组合 3">
            <a:extLst>
              <a:ext uri="{FF2B5EF4-FFF2-40B4-BE49-F238E27FC236}">
                <a16:creationId xmlns:a16="http://schemas.microsoft.com/office/drawing/2014/main" id="{2A3A18F0-4D57-17FD-AD5B-ACFA3C264A07}"/>
              </a:ext>
            </a:extLst>
          </p:cNvPr>
          <p:cNvGrpSpPr>
            <a:grpSpLocks noChangeAspect="1"/>
          </p:cNvGrpSpPr>
          <p:nvPr>
            <p:custDataLst>
              <p:tags r:id="rId1"/>
            </p:custDataLst>
          </p:nvPr>
        </p:nvGrpSpPr>
        <p:grpSpPr>
          <a:xfrm>
            <a:off x="1006" y="1129491"/>
            <a:ext cx="8900891" cy="2325463"/>
            <a:chOff x="1025525" y="1218570"/>
            <a:chExt cx="9626600" cy="2515062"/>
          </a:xfrm>
        </p:grpSpPr>
        <p:grpSp>
          <p:nvGrpSpPr>
            <p:cNvPr id="5" name="组合 4">
              <a:extLst>
                <a:ext uri="{FF2B5EF4-FFF2-40B4-BE49-F238E27FC236}">
                  <a16:creationId xmlns:a16="http://schemas.microsoft.com/office/drawing/2014/main" id="{96DEED06-BFDA-2C0F-C37F-0262DF34AA96}"/>
                </a:ext>
              </a:extLst>
            </p:cNvPr>
            <p:cNvGrpSpPr/>
            <p:nvPr/>
          </p:nvGrpSpPr>
          <p:grpSpPr>
            <a:xfrm>
              <a:off x="1025525" y="1218570"/>
              <a:ext cx="5071564" cy="2514630"/>
              <a:chOff x="666750" y="1218570"/>
              <a:chExt cx="5071564" cy="2514630"/>
            </a:xfrm>
          </p:grpSpPr>
          <p:sp>
            <p:nvSpPr>
              <p:cNvPr id="11" name="Index-1">
                <a:extLst>
                  <a:ext uri="{FF2B5EF4-FFF2-40B4-BE49-F238E27FC236}">
                    <a16:creationId xmlns:a16="http://schemas.microsoft.com/office/drawing/2014/main" id="{E36CD284-C5E3-CA0B-E5AE-0DC7AEB4FD1B}"/>
                  </a:ext>
                </a:extLst>
              </p:cNvPr>
              <p:cNvSpPr/>
              <p:nvPr>
                <p:custDataLst>
                  <p:tags r:id="rId12"/>
                </p:custDataLst>
              </p:nvPr>
            </p:nvSpPr>
            <p:spPr bwMode="auto">
              <a:xfrm>
                <a:off x="666750" y="3124800"/>
                <a:ext cx="5071564" cy="608400"/>
              </a:xfrm>
              <a:custGeom>
                <a:avLst/>
                <a:gdLst>
                  <a:gd name="T0" fmla="*/ 930 w 1122"/>
                  <a:gd name="T1" fmla="*/ 434 h 434"/>
                  <a:gd name="T2" fmla="*/ 0 w 1122"/>
                  <a:gd name="T3" fmla="*/ 434 h 434"/>
                  <a:gd name="T4" fmla="*/ 0 w 1122"/>
                  <a:gd name="T5" fmla="*/ 0 h 434"/>
                  <a:gd name="T6" fmla="*/ 930 w 1122"/>
                  <a:gd name="T7" fmla="*/ 0 h 434"/>
                  <a:gd name="T8" fmla="*/ 1122 w 1122"/>
                  <a:gd name="T9" fmla="*/ 217 h 434"/>
                  <a:gd name="T10" fmla="*/ 930 w 1122"/>
                  <a:gd name="T11" fmla="*/ 434 h 434"/>
                </a:gdLst>
                <a:ahLst/>
                <a:cxnLst>
                  <a:cxn ang="0">
                    <a:pos x="T0" y="T1"/>
                  </a:cxn>
                  <a:cxn ang="0">
                    <a:pos x="T2" y="T3"/>
                  </a:cxn>
                  <a:cxn ang="0">
                    <a:pos x="T4" y="T5"/>
                  </a:cxn>
                  <a:cxn ang="0">
                    <a:pos x="T6" y="T7"/>
                  </a:cxn>
                  <a:cxn ang="0">
                    <a:pos x="T8" y="T9"/>
                  </a:cxn>
                  <a:cxn ang="0">
                    <a:pos x="T10" y="T11"/>
                  </a:cxn>
                </a:cxnLst>
                <a:rect l="0" t="0" r="r" b="b"/>
                <a:pathLst>
                  <a:path w="1122" h="434">
                    <a:moveTo>
                      <a:pt x="930" y="434"/>
                    </a:moveTo>
                    <a:lnTo>
                      <a:pt x="0" y="434"/>
                    </a:lnTo>
                    <a:lnTo>
                      <a:pt x="0" y="0"/>
                    </a:lnTo>
                    <a:lnTo>
                      <a:pt x="930" y="0"/>
                    </a:lnTo>
                    <a:lnTo>
                      <a:pt x="1122" y="217"/>
                    </a:lnTo>
                    <a:lnTo>
                      <a:pt x="930" y="434"/>
                    </a:lnTo>
                    <a:close/>
                  </a:path>
                </a:pathLst>
              </a:custGeom>
              <a:gradFill flip="none" rotWithShape="1">
                <a:gsLst>
                  <a:gs pos="0">
                    <a:schemeClr val="accent1"/>
                  </a:gs>
                  <a:gs pos="100000">
                    <a:schemeClr val="accent1">
                      <a:lumMod val="75000"/>
                    </a:schemeClr>
                  </a:gs>
                </a:gsLst>
                <a:lin ang="2700000" scaled="1"/>
                <a:tileRect/>
              </a:gradFill>
              <a:ln>
                <a:noFill/>
              </a:ln>
              <a:effectLst>
                <a:outerShdw blurRad="254000" dist="127000" dir="2700000" algn="tl" rotWithShape="0">
                  <a:schemeClr val="accent1">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GAP 1</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12" name="组合 11">
                <a:extLst>
                  <a:ext uri="{FF2B5EF4-FFF2-40B4-BE49-F238E27FC236}">
                    <a16:creationId xmlns:a16="http://schemas.microsoft.com/office/drawing/2014/main" id="{F8371972-562D-55BD-0B2C-0AF804371451}"/>
                  </a:ext>
                </a:extLst>
              </p:cNvPr>
              <p:cNvGrpSpPr/>
              <p:nvPr/>
            </p:nvGrpSpPr>
            <p:grpSpPr>
              <a:xfrm>
                <a:off x="895082" y="1218570"/>
                <a:ext cx="4368800" cy="956366"/>
                <a:chOff x="6238008" y="-1338377"/>
                <a:chExt cx="2455200" cy="956366"/>
              </a:xfrm>
            </p:grpSpPr>
            <p:sp>
              <p:nvSpPr>
                <p:cNvPr id="13" name="Title-1">
                  <a:extLst>
                    <a:ext uri="{FF2B5EF4-FFF2-40B4-BE49-F238E27FC236}">
                      <a16:creationId xmlns:a16="http://schemas.microsoft.com/office/drawing/2014/main" id="{29BC5A7F-FBE0-B3BB-747B-EF7FB14ACF0E}"/>
                    </a:ext>
                  </a:extLst>
                </p:cNvPr>
                <p:cNvSpPr txBox="1"/>
                <p:nvPr>
                  <p:custDataLst>
                    <p:tags r:id="rId13"/>
                  </p:custDataLst>
                </p:nvPr>
              </p:nvSpPr>
              <p:spPr>
                <a:xfrm>
                  <a:off x="6238008" y="-1338377"/>
                  <a:ext cx="2455200" cy="369334"/>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Gap 1 — Accuracy-Oriented Research</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4" name="Body-1">
                  <a:extLst>
                    <a:ext uri="{FF2B5EF4-FFF2-40B4-BE49-F238E27FC236}">
                      <a16:creationId xmlns:a16="http://schemas.microsoft.com/office/drawing/2014/main" id="{EADEF76F-D82F-2652-6279-80476496A9F0}"/>
                    </a:ext>
                  </a:extLst>
                </p:cNvPr>
                <p:cNvSpPr>
                  <a:spLocks/>
                </p:cNvSpPr>
                <p:nvPr>
                  <p:custDataLst>
                    <p:tags r:id="rId14"/>
                  </p:custDataLst>
                </p:nvPr>
              </p:nvSpPr>
              <p:spPr>
                <a:xfrm>
                  <a:off x="6433371" y="-1118556"/>
                  <a:ext cx="2116183" cy="736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rPr>
                    <a:t>Existing edge-based, cloud-based, and hybrid IDS studies mainly focus on improving detection accuracy, with limited evaluation of whether the resource demands are practical for edge devices.</a:t>
                  </a:r>
                  <a:endParaRPr kumimoji="0" lang="en-GB"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endParaRPr>
                </a:p>
              </p:txBody>
            </p:sp>
          </p:grpSp>
        </p:grpSp>
        <p:grpSp>
          <p:nvGrpSpPr>
            <p:cNvPr id="6" name="组合 5">
              <a:extLst>
                <a:ext uri="{FF2B5EF4-FFF2-40B4-BE49-F238E27FC236}">
                  <a16:creationId xmlns:a16="http://schemas.microsoft.com/office/drawing/2014/main" id="{AD14AE6B-B099-73E0-60CB-DF7439EB0570}"/>
                </a:ext>
              </a:extLst>
            </p:cNvPr>
            <p:cNvGrpSpPr/>
            <p:nvPr/>
          </p:nvGrpSpPr>
          <p:grpSpPr>
            <a:xfrm>
              <a:off x="5580561" y="1477890"/>
              <a:ext cx="5071564" cy="2255742"/>
              <a:chOff x="5221786" y="1477890"/>
              <a:chExt cx="5071564" cy="2255742"/>
            </a:xfrm>
          </p:grpSpPr>
          <p:sp>
            <p:nvSpPr>
              <p:cNvPr id="7" name="Index-2">
                <a:extLst>
                  <a:ext uri="{FF2B5EF4-FFF2-40B4-BE49-F238E27FC236}">
                    <a16:creationId xmlns:a16="http://schemas.microsoft.com/office/drawing/2014/main" id="{AEFC3854-9C37-F3D2-386E-E9BA4412BB92}"/>
                  </a:ext>
                </a:extLst>
              </p:cNvPr>
              <p:cNvSpPr/>
              <p:nvPr>
                <p:custDataLst>
                  <p:tags r:id="rId10"/>
                </p:custDataLst>
              </p:nvPr>
            </p:nvSpPr>
            <p:spPr bwMode="auto">
              <a:xfrm>
                <a:off x="5221786" y="3124369"/>
                <a:ext cx="5071564" cy="609263"/>
              </a:xfrm>
              <a:custGeom>
                <a:avLst/>
                <a:gdLst>
                  <a:gd name="T0" fmla="*/ 885 w 1076"/>
                  <a:gd name="T1" fmla="*/ 0 h 434"/>
                  <a:gd name="T2" fmla="*/ 0 w 1076"/>
                  <a:gd name="T3" fmla="*/ 0 h 434"/>
                  <a:gd name="T4" fmla="*/ 191 w 1076"/>
                  <a:gd name="T5" fmla="*/ 217 h 434"/>
                  <a:gd name="T6" fmla="*/ 0 w 1076"/>
                  <a:gd name="T7" fmla="*/ 434 h 434"/>
                  <a:gd name="T8" fmla="*/ 885 w 1076"/>
                  <a:gd name="T9" fmla="*/ 434 h 434"/>
                  <a:gd name="T10" fmla="*/ 1076 w 1076"/>
                  <a:gd name="T11" fmla="*/ 217 h 434"/>
                  <a:gd name="T12" fmla="*/ 885 w 1076"/>
                  <a:gd name="T13" fmla="*/ 0 h 434"/>
                </a:gdLst>
                <a:ahLst/>
                <a:cxnLst>
                  <a:cxn ang="0">
                    <a:pos x="T0" y="T1"/>
                  </a:cxn>
                  <a:cxn ang="0">
                    <a:pos x="T2" y="T3"/>
                  </a:cxn>
                  <a:cxn ang="0">
                    <a:pos x="T4" y="T5"/>
                  </a:cxn>
                  <a:cxn ang="0">
                    <a:pos x="T6" y="T7"/>
                  </a:cxn>
                  <a:cxn ang="0">
                    <a:pos x="T8" y="T9"/>
                  </a:cxn>
                  <a:cxn ang="0">
                    <a:pos x="T10" y="T11"/>
                  </a:cxn>
                  <a:cxn ang="0">
                    <a:pos x="T12" y="T13"/>
                  </a:cxn>
                </a:cxnLst>
                <a:rect l="0" t="0" r="r" b="b"/>
                <a:pathLst>
                  <a:path w="1076" h="434">
                    <a:moveTo>
                      <a:pt x="885" y="0"/>
                    </a:moveTo>
                    <a:lnTo>
                      <a:pt x="0" y="0"/>
                    </a:lnTo>
                    <a:lnTo>
                      <a:pt x="191" y="217"/>
                    </a:lnTo>
                    <a:lnTo>
                      <a:pt x="0" y="434"/>
                    </a:lnTo>
                    <a:lnTo>
                      <a:pt x="885" y="434"/>
                    </a:lnTo>
                    <a:lnTo>
                      <a:pt x="1076" y="217"/>
                    </a:lnTo>
                    <a:lnTo>
                      <a:pt x="885" y="0"/>
                    </a:lnTo>
                    <a:close/>
                  </a:path>
                </a:pathLst>
              </a:custGeom>
              <a:gradFill flip="none" rotWithShape="1">
                <a:gsLst>
                  <a:gs pos="0">
                    <a:schemeClr val="accent2"/>
                  </a:gs>
                  <a:gs pos="100000">
                    <a:schemeClr val="accent2">
                      <a:lumMod val="75000"/>
                    </a:schemeClr>
                  </a:gs>
                </a:gsLst>
                <a:lin ang="2700000" scaled="1"/>
                <a:tileRect/>
              </a:gradFill>
              <a:ln>
                <a:noFill/>
              </a:ln>
              <a:effectLst>
                <a:outerShdw blurRad="254000" dist="127000" dir="2700000" algn="tl" rotWithShape="0">
                  <a:schemeClr val="accent2">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 1</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 name="Body-2">
                <a:extLst>
                  <a:ext uri="{FF2B5EF4-FFF2-40B4-BE49-F238E27FC236}">
                    <a16:creationId xmlns:a16="http://schemas.microsoft.com/office/drawing/2014/main" id="{1450D3E8-E341-0ED7-9A45-453AC7BF36F2}"/>
                  </a:ext>
                </a:extLst>
              </p:cNvPr>
              <p:cNvSpPr>
                <a:spLocks/>
              </p:cNvSpPr>
              <p:nvPr>
                <p:custDataLst>
                  <p:tags r:id="rId11"/>
                </p:custDataLst>
              </p:nvPr>
            </p:nvSpPr>
            <p:spPr>
              <a:xfrm>
                <a:off x="5716206" y="1477890"/>
                <a:ext cx="4113180" cy="736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rPr>
                  <a:t>We extend the evaluation beyond accuracy by assessing CPU, memory, and network overhead under resource-constrained deployment settings.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endParaRPr>
              </a:p>
            </p:txBody>
          </p:sp>
        </p:grpSp>
      </p:grpSp>
      <p:grpSp>
        <p:nvGrpSpPr>
          <p:cNvPr id="26" name="组合 25">
            <a:extLst>
              <a:ext uri="{FF2B5EF4-FFF2-40B4-BE49-F238E27FC236}">
                <a16:creationId xmlns:a16="http://schemas.microsoft.com/office/drawing/2014/main" id="{0BD72F7B-B781-43EF-5358-51176AF57666}"/>
              </a:ext>
            </a:extLst>
          </p:cNvPr>
          <p:cNvGrpSpPr>
            <a:grpSpLocks noChangeAspect="1"/>
          </p:cNvGrpSpPr>
          <p:nvPr>
            <p:custDataLst>
              <p:tags r:id="rId2"/>
            </p:custDataLst>
          </p:nvPr>
        </p:nvGrpSpPr>
        <p:grpSpPr>
          <a:xfrm>
            <a:off x="0" y="3901689"/>
            <a:ext cx="8900890" cy="1690693"/>
            <a:chOff x="1025525" y="3124369"/>
            <a:chExt cx="9626599" cy="1828539"/>
          </a:xfrm>
        </p:grpSpPr>
        <p:grpSp>
          <p:nvGrpSpPr>
            <p:cNvPr id="27" name="组合 26">
              <a:extLst>
                <a:ext uri="{FF2B5EF4-FFF2-40B4-BE49-F238E27FC236}">
                  <a16:creationId xmlns:a16="http://schemas.microsoft.com/office/drawing/2014/main" id="{DE53A7C7-1063-595C-0B9B-09AF7C0EB3F2}"/>
                </a:ext>
              </a:extLst>
            </p:cNvPr>
            <p:cNvGrpSpPr/>
            <p:nvPr/>
          </p:nvGrpSpPr>
          <p:grpSpPr>
            <a:xfrm>
              <a:off x="1025525" y="3124800"/>
              <a:ext cx="5124569" cy="1828108"/>
              <a:chOff x="666750" y="3124800"/>
              <a:chExt cx="5124569" cy="1828108"/>
            </a:xfrm>
          </p:grpSpPr>
          <p:sp>
            <p:nvSpPr>
              <p:cNvPr id="33" name="Index-1">
                <a:extLst>
                  <a:ext uri="{FF2B5EF4-FFF2-40B4-BE49-F238E27FC236}">
                    <a16:creationId xmlns:a16="http://schemas.microsoft.com/office/drawing/2014/main" id="{67036960-A1EA-631C-D8CF-7FFE82E6D7E7}"/>
                  </a:ext>
                </a:extLst>
              </p:cNvPr>
              <p:cNvSpPr/>
              <p:nvPr>
                <p:custDataLst>
                  <p:tags r:id="rId7"/>
                </p:custDataLst>
              </p:nvPr>
            </p:nvSpPr>
            <p:spPr bwMode="auto">
              <a:xfrm>
                <a:off x="666750" y="3124800"/>
                <a:ext cx="5071564" cy="608400"/>
              </a:xfrm>
              <a:custGeom>
                <a:avLst/>
                <a:gdLst>
                  <a:gd name="T0" fmla="*/ 930 w 1122"/>
                  <a:gd name="T1" fmla="*/ 434 h 434"/>
                  <a:gd name="T2" fmla="*/ 0 w 1122"/>
                  <a:gd name="T3" fmla="*/ 434 h 434"/>
                  <a:gd name="T4" fmla="*/ 0 w 1122"/>
                  <a:gd name="T5" fmla="*/ 0 h 434"/>
                  <a:gd name="T6" fmla="*/ 930 w 1122"/>
                  <a:gd name="T7" fmla="*/ 0 h 434"/>
                  <a:gd name="T8" fmla="*/ 1122 w 1122"/>
                  <a:gd name="T9" fmla="*/ 217 h 434"/>
                  <a:gd name="T10" fmla="*/ 930 w 1122"/>
                  <a:gd name="T11" fmla="*/ 434 h 434"/>
                </a:gdLst>
                <a:ahLst/>
                <a:cxnLst>
                  <a:cxn ang="0">
                    <a:pos x="T0" y="T1"/>
                  </a:cxn>
                  <a:cxn ang="0">
                    <a:pos x="T2" y="T3"/>
                  </a:cxn>
                  <a:cxn ang="0">
                    <a:pos x="T4" y="T5"/>
                  </a:cxn>
                  <a:cxn ang="0">
                    <a:pos x="T6" y="T7"/>
                  </a:cxn>
                  <a:cxn ang="0">
                    <a:pos x="T8" y="T9"/>
                  </a:cxn>
                  <a:cxn ang="0">
                    <a:pos x="T10" y="T11"/>
                  </a:cxn>
                </a:cxnLst>
                <a:rect l="0" t="0" r="r" b="b"/>
                <a:pathLst>
                  <a:path w="1122" h="434">
                    <a:moveTo>
                      <a:pt x="930" y="434"/>
                    </a:moveTo>
                    <a:lnTo>
                      <a:pt x="0" y="434"/>
                    </a:lnTo>
                    <a:lnTo>
                      <a:pt x="0" y="0"/>
                    </a:lnTo>
                    <a:lnTo>
                      <a:pt x="930" y="0"/>
                    </a:lnTo>
                    <a:lnTo>
                      <a:pt x="1122" y="217"/>
                    </a:lnTo>
                    <a:lnTo>
                      <a:pt x="930" y="434"/>
                    </a:lnTo>
                    <a:close/>
                  </a:path>
                </a:pathLst>
              </a:custGeom>
              <a:gradFill flip="none" rotWithShape="1">
                <a:gsLst>
                  <a:gs pos="0">
                    <a:schemeClr val="accent1"/>
                  </a:gs>
                  <a:gs pos="100000">
                    <a:schemeClr val="accent1">
                      <a:lumMod val="75000"/>
                    </a:schemeClr>
                  </a:gs>
                </a:gsLst>
                <a:lin ang="2700000" scaled="1"/>
                <a:tileRect/>
              </a:gradFill>
              <a:ln>
                <a:noFill/>
              </a:ln>
              <a:effectLst>
                <a:outerShdw blurRad="254000" dist="127000" dir="2700000" algn="tl" rotWithShape="0">
                  <a:schemeClr val="accent1">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GAP 2</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34" name="组合 33">
                <a:extLst>
                  <a:ext uri="{FF2B5EF4-FFF2-40B4-BE49-F238E27FC236}">
                    <a16:creationId xmlns:a16="http://schemas.microsoft.com/office/drawing/2014/main" id="{58F81E15-334F-BAE1-6C9B-85EA99F79659}"/>
                  </a:ext>
                </a:extLst>
              </p:cNvPr>
              <p:cNvGrpSpPr/>
              <p:nvPr/>
            </p:nvGrpSpPr>
            <p:grpSpPr>
              <a:xfrm>
                <a:off x="967935" y="3891205"/>
                <a:ext cx="4823384" cy="1061703"/>
                <a:chOff x="6278953" y="1334258"/>
                <a:chExt cx="2710671" cy="1061703"/>
              </a:xfrm>
            </p:grpSpPr>
            <p:sp>
              <p:nvSpPr>
                <p:cNvPr id="35" name="Title-1">
                  <a:extLst>
                    <a:ext uri="{FF2B5EF4-FFF2-40B4-BE49-F238E27FC236}">
                      <a16:creationId xmlns:a16="http://schemas.microsoft.com/office/drawing/2014/main" id="{BC9E67B8-8E30-1F60-EEE1-E6CB4CC32C67}"/>
                    </a:ext>
                  </a:extLst>
                </p:cNvPr>
                <p:cNvSpPr txBox="1"/>
                <p:nvPr>
                  <p:custDataLst>
                    <p:tags r:id="rId8"/>
                  </p:custDataLst>
                </p:nvPr>
              </p:nvSpPr>
              <p:spPr>
                <a:xfrm>
                  <a:off x="6278953" y="1334258"/>
                  <a:ext cx="2710671" cy="36933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GAP 2 — Unresolved Transmission Overhead</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36" name="Body-1">
                  <a:extLst>
                    <a:ext uri="{FF2B5EF4-FFF2-40B4-BE49-F238E27FC236}">
                      <a16:creationId xmlns:a16="http://schemas.microsoft.com/office/drawing/2014/main" id="{46273C60-8692-B414-D56A-B4753FDFBCF3}"/>
                    </a:ext>
                  </a:extLst>
                </p:cNvPr>
                <p:cNvSpPr>
                  <a:spLocks/>
                </p:cNvSpPr>
                <p:nvPr>
                  <p:custDataLst>
                    <p:tags r:id="rId9"/>
                  </p:custDataLst>
                </p:nvPr>
              </p:nvSpPr>
              <p:spPr>
                <a:xfrm>
                  <a:off x="6393096" y="1659415"/>
                  <a:ext cx="2531913" cy="7365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rPr>
                    <a:t>In cloud-based and hybrid settings, large volumes of flow-level features, logs, and events may need to be uploaded, yet few studies evaluate how to reduce this transmission cost or whether the edge can sustain the resulting overhead.</a:t>
                  </a:r>
                  <a:endParaRPr kumimoji="0" lang="en-GB" altLang="zh-CN" sz="1400" b="0"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endParaRPr>
                </a:p>
              </p:txBody>
            </p:sp>
          </p:grpSp>
        </p:grpSp>
        <p:grpSp>
          <p:nvGrpSpPr>
            <p:cNvPr id="28" name="组合 27">
              <a:extLst>
                <a:ext uri="{FF2B5EF4-FFF2-40B4-BE49-F238E27FC236}">
                  <a16:creationId xmlns:a16="http://schemas.microsoft.com/office/drawing/2014/main" id="{05B8CDB1-B38F-355D-D673-436633F98D19}"/>
                </a:ext>
              </a:extLst>
            </p:cNvPr>
            <p:cNvGrpSpPr/>
            <p:nvPr/>
          </p:nvGrpSpPr>
          <p:grpSpPr>
            <a:xfrm>
              <a:off x="5580560" y="3124369"/>
              <a:ext cx="5071564" cy="1826784"/>
              <a:chOff x="5221785" y="3124369"/>
              <a:chExt cx="5071564" cy="1826784"/>
            </a:xfrm>
          </p:grpSpPr>
          <p:sp>
            <p:nvSpPr>
              <p:cNvPr id="29" name="Index-2">
                <a:extLst>
                  <a:ext uri="{FF2B5EF4-FFF2-40B4-BE49-F238E27FC236}">
                    <a16:creationId xmlns:a16="http://schemas.microsoft.com/office/drawing/2014/main" id="{89BD30D8-6051-BFE2-7ACC-5866CE793563}"/>
                  </a:ext>
                </a:extLst>
              </p:cNvPr>
              <p:cNvSpPr/>
              <p:nvPr>
                <p:custDataLst>
                  <p:tags r:id="rId5"/>
                </p:custDataLst>
              </p:nvPr>
            </p:nvSpPr>
            <p:spPr bwMode="auto">
              <a:xfrm>
                <a:off x="5221785" y="3124369"/>
                <a:ext cx="5071564" cy="609263"/>
              </a:xfrm>
              <a:custGeom>
                <a:avLst/>
                <a:gdLst>
                  <a:gd name="T0" fmla="*/ 885 w 1076"/>
                  <a:gd name="T1" fmla="*/ 0 h 434"/>
                  <a:gd name="T2" fmla="*/ 0 w 1076"/>
                  <a:gd name="T3" fmla="*/ 0 h 434"/>
                  <a:gd name="T4" fmla="*/ 191 w 1076"/>
                  <a:gd name="T5" fmla="*/ 217 h 434"/>
                  <a:gd name="T6" fmla="*/ 0 w 1076"/>
                  <a:gd name="T7" fmla="*/ 434 h 434"/>
                  <a:gd name="T8" fmla="*/ 885 w 1076"/>
                  <a:gd name="T9" fmla="*/ 434 h 434"/>
                  <a:gd name="T10" fmla="*/ 1076 w 1076"/>
                  <a:gd name="T11" fmla="*/ 217 h 434"/>
                  <a:gd name="T12" fmla="*/ 885 w 1076"/>
                  <a:gd name="T13" fmla="*/ 0 h 434"/>
                </a:gdLst>
                <a:ahLst/>
                <a:cxnLst>
                  <a:cxn ang="0">
                    <a:pos x="T0" y="T1"/>
                  </a:cxn>
                  <a:cxn ang="0">
                    <a:pos x="T2" y="T3"/>
                  </a:cxn>
                  <a:cxn ang="0">
                    <a:pos x="T4" y="T5"/>
                  </a:cxn>
                  <a:cxn ang="0">
                    <a:pos x="T6" y="T7"/>
                  </a:cxn>
                  <a:cxn ang="0">
                    <a:pos x="T8" y="T9"/>
                  </a:cxn>
                  <a:cxn ang="0">
                    <a:pos x="T10" y="T11"/>
                  </a:cxn>
                  <a:cxn ang="0">
                    <a:pos x="T12" y="T13"/>
                  </a:cxn>
                </a:cxnLst>
                <a:rect l="0" t="0" r="r" b="b"/>
                <a:pathLst>
                  <a:path w="1076" h="434">
                    <a:moveTo>
                      <a:pt x="885" y="0"/>
                    </a:moveTo>
                    <a:lnTo>
                      <a:pt x="0" y="0"/>
                    </a:lnTo>
                    <a:lnTo>
                      <a:pt x="191" y="217"/>
                    </a:lnTo>
                    <a:lnTo>
                      <a:pt x="0" y="434"/>
                    </a:lnTo>
                    <a:lnTo>
                      <a:pt x="885" y="434"/>
                    </a:lnTo>
                    <a:lnTo>
                      <a:pt x="1076" y="217"/>
                    </a:lnTo>
                    <a:lnTo>
                      <a:pt x="885" y="0"/>
                    </a:lnTo>
                    <a:close/>
                  </a:path>
                </a:pathLst>
              </a:custGeom>
              <a:gradFill flip="none" rotWithShape="1">
                <a:gsLst>
                  <a:gs pos="0">
                    <a:schemeClr val="accent2"/>
                  </a:gs>
                  <a:gs pos="100000">
                    <a:schemeClr val="accent2">
                      <a:lumMod val="75000"/>
                    </a:schemeClr>
                  </a:gs>
                </a:gsLst>
                <a:lin ang="2700000" scaled="1"/>
                <a:tileRect/>
              </a:gradFill>
              <a:ln>
                <a:noFill/>
              </a:ln>
              <a:effectLst>
                <a:outerShdw blurRad="254000" dist="127000" dir="2700000" algn="tl" rotWithShape="0">
                  <a:schemeClr val="accent2">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Contribution 2</a:t>
                </a:r>
                <a:endParaRPr kumimoji="0" lang="zh-CN" altLang="en-US" sz="18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32" name="Body-2">
                <a:extLst>
                  <a:ext uri="{FF2B5EF4-FFF2-40B4-BE49-F238E27FC236}">
                    <a16:creationId xmlns:a16="http://schemas.microsoft.com/office/drawing/2014/main" id="{51A536D8-92F9-EB17-A0F7-16DC2DF80961}"/>
                  </a:ext>
                </a:extLst>
              </p:cNvPr>
              <p:cNvSpPr>
                <a:spLocks/>
              </p:cNvSpPr>
              <p:nvPr>
                <p:custDataLst>
                  <p:tags r:id="rId6"/>
                </p:custDataLst>
              </p:nvPr>
            </p:nvSpPr>
            <p:spPr>
              <a:xfrm>
                <a:off x="5879447" y="4214607"/>
                <a:ext cx="4352344" cy="7365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rPr>
                  <a:t>We simulate split deployment between the edge and the cloud, and evaluate whether edge-side feature extraction can reduce traffic while keeping the resource overhead manageable.</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endParaRPr>
              </a:p>
            </p:txBody>
          </p:sp>
        </p:grpSp>
      </p:grpSp>
      <p:sp>
        <p:nvSpPr>
          <p:cNvPr id="37" name="Title-1">
            <a:extLst>
              <a:ext uri="{FF2B5EF4-FFF2-40B4-BE49-F238E27FC236}">
                <a16:creationId xmlns:a16="http://schemas.microsoft.com/office/drawing/2014/main" id="{0EA22A98-2964-CC46-D151-3ECD91462B42}"/>
              </a:ext>
            </a:extLst>
          </p:cNvPr>
          <p:cNvSpPr txBox="1"/>
          <p:nvPr>
            <p:custDataLst>
              <p:tags r:id="rId3"/>
            </p:custDataLst>
          </p:nvPr>
        </p:nvSpPr>
        <p:spPr>
          <a:xfrm>
            <a:off x="4433456" y="1145111"/>
            <a:ext cx="4960888"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Contribution 1 — Deployment-Aware Evaluation</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39" name="Title-1">
            <a:extLst>
              <a:ext uri="{FF2B5EF4-FFF2-40B4-BE49-F238E27FC236}">
                <a16:creationId xmlns:a16="http://schemas.microsoft.com/office/drawing/2014/main" id="{B3259146-770D-477C-0BA4-5EEABBD5246A}"/>
              </a:ext>
            </a:extLst>
          </p:cNvPr>
          <p:cNvSpPr txBox="1"/>
          <p:nvPr>
            <p:custDataLst>
              <p:tags r:id="rId4"/>
            </p:custDataLst>
          </p:nvPr>
        </p:nvSpPr>
        <p:spPr>
          <a:xfrm>
            <a:off x="4572000" y="4615602"/>
            <a:ext cx="5010765"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Contribution 2 — Edge–Cloud Split Assessment</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4941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7293426-91D6-930D-1086-763D60504887}"/>
              </a:ext>
            </a:extLst>
          </p:cNvPr>
          <p:cNvPicPr/>
          <p:nvPr/>
        </p:nvPicPr>
        <p:blipFill>
          <a:blip r:embed="rId23"/>
          <a:stretch>
            <a:fillRect/>
          </a:stretch>
        </p:blipFill>
        <p:spPr>
          <a:xfrm>
            <a:off x="0" y="267"/>
            <a:ext cx="9144000" cy="1027698"/>
          </a:xfrm>
          <a:prstGeom prst="rect">
            <a:avLst/>
          </a:prstGeom>
        </p:spPr>
      </p:pic>
      <p:sp>
        <p:nvSpPr>
          <p:cNvPr id="3" name="文本框 2">
            <a:extLst>
              <a:ext uri="{FF2B5EF4-FFF2-40B4-BE49-F238E27FC236}">
                <a16:creationId xmlns:a16="http://schemas.microsoft.com/office/drawing/2014/main" id="{146CB446-68AC-78CD-7C72-F90003D8CA47}"/>
              </a:ext>
            </a:extLst>
          </p:cNvPr>
          <p:cNvSpPr txBox="1"/>
          <p:nvPr/>
        </p:nvSpPr>
        <p:spPr>
          <a:xfrm>
            <a:off x="421229" y="191692"/>
            <a:ext cx="7356307"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Related work</a:t>
            </a:r>
            <a:endParaRPr kumimoji="0" lang="zh-CN" altLang="en-US" sz="36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34" name="3">
            <a:extLst>
              <a:ext uri="{FF2B5EF4-FFF2-40B4-BE49-F238E27FC236}">
                <a16:creationId xmlns:a16="http://schemas.microsoft.com/office/drawing/2014/main" id="{4852BA53-C43E-9081-37FC-423E65AD6AAD}"/>
              </a:ext>
            </a:extLst>
          </p:cNvPr>
          <p:cNvSpPr/>
          <p:nvPr/>
        </p:nvSpPr>
        <p:spPr>
          <a:xfrm>
            <a:off x="5958686"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6" name="Body-3">
            <a:extLst>
              <a:ext uri="{FF2B5EF4-FFF2-40B4-BE49-F238E27FC236}">
                <a16:creationId xmlns:a16="http://schemas.microsoft.com/office/drawing/2014/main" id="{6776D0C3-3829-3E4F-8DF9-DD7645E61EEE}"/>
              </a:ext>
            </a:extLst>
          </p:cNvPr>
          <p:cNvSpPr>
            <a:spLocks/>
          </p:cNvSpPr>
          <p:nvPr>
            <p:custDataLst>
              <p:tags r:id="rId1"/>
            </p:custDataLst>
          </p:nvPr>
        </p:nvSpPr>
        <p:spPr>
          <a:xfrm>
            <a:off x="6201107" y="1953492"/>
            <a:ext cx="2971516" cy="38738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37" name="Index-3">
            <a:extLst>
              <a:ext uri="{FF2B5EF4-FFF2-40B4-BE49-F238E27FC236}">
                <a16:creationId xmlns:a16="http://schemas.microsoft.com/office/drawing/2014/main" id="{A7B552F0-3AEA-95D1-CB5C-44AD488D7C3C}"/>
              </a:ext>
            </a:extLst>
          </p:cNvPr>
          <p:cNvSpPr txBox="1"/>
          <p:nvPr>
            <p:custDataLst>
              <p:tags r:id="rId2"/>
            </p:custDataLst>
          </p:nvPr>
        </p:nvSpPr>
        <p:spPr>
          <a:xfrm>
            <a:off x="5958686"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9BBB59">
                    <a:lumMod val="20000"/>
                    <a:lumOff val="80000"/>
                  </a:srgbClr>
                </a:solidFill>
                <a:effectLst/>
                <a:uLnTx/>
                <a:uFillTx/>
                <a:latin typeface="Calibri"/>
                <a:ea typeface="微软雅黑" panose="020B0503020204020204" pitchFamily="34" charset="-122"/>
                <a:cs typeface="+mn-cs"/>
                <a:sym typeface="Arial" panose="020B0604020202020204" pitchFamily="34" charset="0"/>
              </a:rPr>
              <a:t>03</a:t>
            </a:r>
            <a:endParaRPr kumimoji="0" lang="zh-CN" altLang="en-US" sz="16600" b="1" i="1" u="none" strike="noStrike" kern="1200" cap="none" spc="0" normalizeH="0" baseline="0" noProof="0" dirty="0">
              <a:ln>
                <a:noFill/>
              </a:ln>
              <a:solidFill>
                <a:srgbClr val="9BBB59">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sp>
        <p:nvSpPr>
          <p:cNvPr id="35" name="Title-3">
            <a:extLst>
              <a:ext uri="{FF2B5EF4-FFF2-40B4-BE49-F238E27FC236}">
                <a16:creationId xmlns:a16="http://schemas.microsoft.com/office/drawing/2014/main" id="{66A691D4-4EF5-4636-B04B-862D154C33CD}"/>
              </a:ext>
            </a:extLst>
          </p:cNvPr>
          <p:cNvSpPr txBox="1"/>
          <p:nvPr>
            <p:custDataLst>
              <p:tags r:id="rId3"/>
            </p:custDataLst>
          </p:nvPr>
        </p:nvSpPr>
        <p:spPr>
          <a:xfrm>
            <a:off x="6466458" y="1476225"/>
            <a:ext cx="2706165"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Hybrid Framework</a:t>
            </a:r>
            <a:endParaRPr kumimoji="0" lang="zh-CN" altLang="en-US" sz="2400" b="1"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cxnSp>
        <p:nvCxnSpPr>
          <p:cNvPr id="38" name="3">
            <a:extLst>
              <a:ext uri="{FF2B5EF4-FFF2-40B4-BE49-F238E27FC236}">
                <a16:creationId xmlns:a16="http://schemas.microsoft.com/office/drawing/2014/main" id="{EFA32E10-E074-420A-80C6-2BDCB4BED1DA}"/>
              </a:ext>
            </a:extLst>
          </p:cNvPr>
          <p:cNvCxnSpPr>
            <a:cxnSpLocks/>
          </p:cNvCxnSpPr>
          <p:nvPr/>
        </p:nvCxnSpPr>
        <p:spPr>
          <a:xfrm>
            <a:off x="6540470" y="1370763"/>
            <a:ext cx="301335"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3">
            <a:extLst>
              <a:ext uri="{FF2B5EF4-FFF2-40B4-BE49-F238E27FC236}">
                <a16:creationId xmlns:a16="http://schemas.microsoft.com/office/drawing/2014/main" id="{B23010E9-77EB-D4C6-1A5F-E30DE6AA74AB}"/>
              </a:ext>
            </a:extLst>
          </p:cNvPr>
          <p:cNvSpPr>
            <a:spLocks/>
          </p:cNvSpPr>
          <p:nvPr/>
        </p:nvSpPr>
        <p:spPr>
          <a:xfrm>
            <a:off x="8951190" y="1030915"/>
            <a:ext cx="207121" cy="5827085"/>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9" name="2">
            <a:extLst>
              <a:ext uri="{FF2B5EF4-FFF2-40B4-BE49-F238E27FC236}">
                <a16:creationId xmlns:a16="http://schemas.microsoft.com/office/drawing/2014/main" id="{9F1DE3D8-F09F-066A-E122-9254AA2E8B8B}"/>
              </a:ext>
            </a:extLst>
          </p:cNvPr>
          <p:cNvSpPr/>
          <p:nvPr/>
        </p:nvSpPr>
        <p:spPr>
          <a:xfrm>
            <a:off x="2979343"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1" name="Body-2">
            <a:extLst>
              <a:ext uri="{FF2B5EF4-FFF2-40B4-BE49-F238E27FC236}">
                <a16:creationId xmlns:a16="http://schemas.microsoft.com/office/drawing/2014/main" id="{94C151B7-C96C-F11A-FB6A-9ECA0458D0B3}"/>
              </a:ext>
            </a:extLst>
          </p:cNvPr>
          <p:cNvSpPr>
            <a:spLocks/>
          </p:cNvSpPr>
          <p:nvPr>
            <p:custDataLst>
              <p:tags r:id="rId4"/>
            </p:custDataLst>
          </p:nvPr>
        </p:nvSpPr>
        <p:spPr>
          <a:xfrm>
            <a:off x="3221764" y="1953492"/>
            <a:ext cx="2860969" cy="38738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marR="0" lvl="0" indent="-285750" algn="l" defTabSz="913765" rtl="0" eaLnBrk="1" fontAlgn="auto" latinLnBrk="0" hangingPunct="1">
              <a:lnSpc>
                <a:spcPct val="130000"/>
              </a:lnSpc>
              <a:spcBef>
                <a:spcPts val="0"/>
              </a:spcBef>
              <a:spcAft>
                <a:spcPts val="0"/>
              </a:spcAft>
              <a:buClrTx/>
              <a:buSzPct val="100000"/>
              <a:buFont typeface="Arial" panose="020B0604020202020204" pitchFamily="34" charset="0"/>
              <a:buChar char="•"/>
              <a:tabLst/>
              <a:defRPr/>
            </a:pPr>
            <a:endParaRPr kumimoji="0" lang="en-GB" altLang="zh-CN" sz="13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32" name="Index-2">
            <a:extLst>
              <a:ext uri="{FF2B5EF4-FFF2-40B4-BE49-F238E27FC236}">
                <a16:creationId xmlns:a16="http://schemas.microsoft.com/office/drawing/2014/main" id="{E991A89F-F136-48A0-F31B-35F8CCF908BC}"/>
              </a:ext>
            </a:extLst>
          </p:cNvPr>
          <p:cNvSpPr txBox="1"/>
          <p:nvPr>
            <p:custDataLst>
              <p:tags r:id="rId5"/>
            </p:custDataLst>
          </p:nvPr>
        </p:nvSpPr>
        <p:spPr>
          <a:xfrm>
            <a:off x="2979343"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C0504D">
                    <a:lumMod val="20000"/>
                    <a:lumOff val="80000"/>
                  </a:srgbClr>
                </a:solidFill>
                <a:effectLst/>
                <a:uLnTx/>
                <a:uFillTx/>
                <a:latin typeface="Calibri"/>
                <a:ea typeface="微软雅黑" panose="020B0503020204020204" pitchFamily="34" charset="-122"/>
                <a:cs typeface="+mn-cs"/>
                <a:sym typeface="Arial" panose="020B0604020202020204" pitchFamily="34" charset="0"/>
              </a:rPr>
              <a:t>02</a:t>
            </a:r>
            <a:endParaRPr kumimoji="0" lang="zh-CN" altLang="en-US" sz="16600" b="1" i="1" u="none" strike="noStrike" kern="1200" cap="none" spc="0" normalizeH="0" baseline="0" noProof="0" dirty="0">
              <a:ln>
                <a:noFill/>
              </a:ln>
              <a:solidFill>
                <a:srgbClr val="C0504D">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grpSp>
        <p:nvGrpSpPr>
          <p:cNvPr id="42" name="组合 41">
            <a:extLst>
              <a:ext uri="{FF2B5EF4-FFF2-40B4-BE49-F238E27FC236}">
                <a16:creationId xmlns:a16="http://schemas.microsoft.com/office/drawing/2014/main" id="{3256851A-86A8-D6B1-C5D2-0030C76CC235}"/>
              </a:ext>
            </a:extLst>
          </p:cNvPr>
          <p:cNvGrpSpPr/>
          <p:nvPr/>
        </p:nvGrpSpPr>
        <p:grpSpPr>
          <a:xfrm>
            <a:off x="3583011" y="1370763"/>
            <a:ext cx="2581647" cy="419275"/>
            <a:chOff x="3466041" y="3039625"/>
            <a:chExt cx="2581647" cy="419275"/>
          </a:xfrm>
        </p:grpSpPr>
        <p:sp>
          <p:nvSpPr>
            <p:cNvPr id="30" name="Title-2">
              <a:extLst>
                <a:ext uri="{FF2B5EF4-FFF2-40B4-BE49-F238E27FC236}">
                  <a16:creationId xmlns:a16="http://schemas.microsoft.com/office/drawing/2014/main" id="{80FF0D26-AE05-C3E0-EE41-121A3639F57F}"/>
                </a:ext>
              </a:extLst>
            </p:cNvPr>
            <p:cNvSpPr txBox="1"/>
            <p:nvPr>
              <p:custDataLst>
                <p:tags r:id="rId20"/>
              </p:custDataLst>
            </p:nvPr>
          </p:nvSpPr>
          <p:spPr>
            <a:xfrm>
              <a:off x="3466041" y="3145087"/>
              <a:ext cx="2581647"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Lightweight ML</a:t>
              </a:r>
              <a:endParaRPr kumimoji="0" lang="zh-CN" altLang="en-US" sz="2400" b="1"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cxnSp>
          <p:nvCxnSpPr>
            <p:cNvPr id="33" name="2">
              <a:extLst>
                <a:ext uri="{FF2B5EF4-FFF2-40B4-BE49-F238E27FC236}">
                  <a16:creationId xmlns:a16="http://schemas.microsoft.com/office/drawing/2014/main" id="{B2BD265C-A7C1-A506-9B8F-F12C39BBDED3}"/>
                </a:ext>
              </a:extLst>
            </p:cNvPr>
            <p:cNvCxnSpPr>
              <a:cxnSpLocks/>
            </p:cNvCxnSpPr>
            <p:nvPr/>
          </p:nvCxnSpPr>
          <p:spPr>
            <a:xfrm>
              <a:off x="3543931" y="3039625"/>
              <a:ext cx="30133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3" name="1">
            <a:extLst>
              <a:ext uri="{FF2B5EF4-FFF2-40B4-BE49-F238E27FC236}">
                <a16:creationId xmlns:a16="http://schemas.microsoft.com/office/drawing/2014/main" id="{40FC49FA-3632-7F69-E3C8-00A47A9D3C0E}"/>
              </a:ext>
            </a:extLst>
          </p:cNvPr>
          <p:cNvSpPr/>
          <p:nvPr/>
        </p:nvSpPr>
        <p:spPr>
          <a:xfrm>
            <a:off x="0" y="1030647"/>
            <a:ext cx="3185315"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25" name="Body-1">
            <a:extLst>
              <a:ext uri="{FF2B5EF4-FFF2-40B4-BE49-F238E27FC236}">
                <a16:creationId xmlns:a16="http://schemas.microsoft.com/office/drawing/2014/main" id="{4A080A3B-A7C7-F459-DCC1-BCCEEA318E59}"/>
              </a:ext>
            </a:extLst>
          </p:cNvPr>
          <p:cNvSpPr>
            <a:spLocks/>
          </p:cNvSpPr>
          <p:nvPr>
            <p:custDataLst>
              <p:tags r:id="rId6"/>
            </p:custDataLst>
          </p:nvPr>
        </p:nvSpPr>
        <p:spPr>
          <a:xfrm>
            <a:off x="372258" y="2153934"/>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rPr>
              <a:t>Keeps raw data local and protects privacy by sharing model updates instead of patient data.</a:t>
            </a:r>
            <a:endParaRPr kumimoji="0" lang="en-GB"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endParaRPr>
          </a:p>
        </p:txBody>
      </p:sp>
      <p:sp>
        <p:nvSpPr>
          <p:cNvPr id="26" name="Index-1">
            <a:extLst>
              <a:ext uri="{FF2B5EF4-FFF2-40B4-BE49-F238E27FC236}">
                <a16:creationId xmlns:a16="http://schemas.microsoft.com/office/drawing/2014/main" id="{1DE0D5BD-2152-BF79-BC26-09CDA93788A7}"/>
              </a:ext>
            </a:extLst>
          </p:cNvPr>
          <p:cNvSpPr txBox="1"/>
          <p:nvPr>
            <p:custDataLst>
              <p:tags r:id="rId7"/>
            </p:custDataLst>
          </p:nvPr>
        </p:nvSpPr>
        <p:spPr>
          <a:xfrm>
            <a:off x="0" y="5573340"/>
            <a:ext cx="2157832" cy="1284392"/>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500" b="1" i="1" u="none" strike="noStrike" kern="1200" cap="none" spc="0" normalizeH="0" baseline="0" noProof="0" dirty="0">
                <a:ln>
                  <a:noFill/>
                </a:ln>
                <a:solidFill>
                  <a:srgbClr val="4F81BD">
                    <a:lumMod val="20000"/>
                    <a:lumOff val="80000"/>
                  </a:srgbClr>
                </a:solidFill>
                <a:effectLst/>
                <a:uLnTx/>
                <a:uFillTx/>
                <a:latin typeface="Calibri"/>
                <a:ea typeface="微软雅黑" panose="020B0503020204020204" pitchFamily="34" charset="-122"/>
                <a:cs typeface="+mn-cs"/>
                <a:sym typeface="Arial" panose="020B0604020202020204" pitchFamily="34" charset="0"/>
              </a:rPr>
              <a:t>01</a:t>
            </a:r>
            <a:endParaRPr kumimoji="0" lang="zh-CN" altLang="en-US" sz="16600" b="1" i="1" u="none" strike="noStrike" kern="1200" cap="none" spc="0" normalizeH="0" baseline="0" noProof="0" dirty="0">
              <a:ln>
                <a:noFill/>
              </a:ln>
              <a:solidFill>
                <a:srgbClr val="4F81BD">
                  <a:lumMod val="20000"/>
                  <a:lumOff val="80000"/>
                </a:srgbClr>
              </a:solidFill>
              <a:effectLst/>
              <a:uLnTx/>
              <a:uFillTx/>
              <a:latin typeface="Calibri"/>
              <a:ea typeface="微软雅黑" panose="020B0503020204020204" pitchFamily="34" charset="-122"/>
              <a:cs typeface="+mn-cs"/>
              <a:sym typeface="Arial" panose="020B0604020202020204" pitchFamily="34" charset="0"/>
            </a:endParaRPr>
          </a:p>
        </p:txBody>
      </p:sp>
      <p:grpSp>
        <p:nvGrpSpPr>
          <p:cNvPr id="41" name="组合 40">
            <a:extLst>
              <a:ext uri="{FF2B5EF4-FFF2-40B4-BE49-F238E27FC236}">
                <a16:creationId xmlns:a16="http://schemas.microsoft.com/office/drawing/2014/main" id="{87BC0DBD-61BB-5160-F635-01CAFEF6575F}"/>
              </a:ext>
            </a:extLst>
          </p:cNvPr>
          <p:cNvGrpSpPr/>
          <p:nvPr/>
        </p:nvGrpSpPr>
        <p:grpSpPr>
          <a:xfrm>
            <a:off x="383341" y="1370763"/>
            <a:ext cx="2979343" cy="419275"/>
            <a:chOff x="486698" y="3039625"/>
            <a:chExt cx="2979343" cy="419275"/>
          </a:xfrm>
        </p:grpSpPr>
        <p:sp>
          <p:nvSpPr>
            <p:cNvPr id="24" name="Title-1">
              <a:extLst>
                <a:ext uri="{FF2B5EF4-FFF2-40B4-BE49-F238E27FC236}">
                  <a16:creationId xmlns:a16="http://schemas.microsoft.com/office/drawing/2014/main" id="{175C16EC-2BC4-6F69-6DF1-C0D6D58B7495}"/>
                </a:ext>
              </a:extLst>
            </p:cNvPr>
            <p:cNvSpPr txBox="1"/>
            <p:nvPr>
              <p:custDataLst>
                <p:tags r:id="rId19"/>
              </p:custDataLst>
            </p:nvPr>
          </p:nvSpPr>
          <p:spPr>
            <a:xfrm>
              <a:off x="486698" y="3145087"/>
              <a:ext cx="2979343" cy="313813"/>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2400" b="1"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sym typeface="Arial" panose="020B0604020202020204" pitchFamily="34" charset="0"/>
                </a:rPr>
                <a:t>Federated Learning</a:t>
              </a:r>
              <a:endParaRPr kumimoji="0" lang="zh-CN" altLang="en-US" sz="2400" b="1" i="0" u="none" strike="noStrike" kern="1200" cap="none" spc="0" normalizeH="0" baseline="0" noProof="0" dirty="0">
                <a:ln>
                  <a:noFill/>
                </a:ln>
                <a:solidFill>
                  <a:srgbClr val="1F497D">
                    <a:lumMod val="75000"/>
                    <a:lumOff val="25000"/>
                  </a:srgbClr>
                </a:solidFill>
                <a:effectLst/>
                <a:uLnTx/>
                <a:uFillTx/>
                <a:latin typeface="Calibri"/>
                <a:ea typeface="宋体" panose="02010600030101010101" pitchFamily="2" charset="-122"/>
                <a:cs typeface="+mn-cs"/>
                <a:sym typeface="Arial" panose="020B0604020202020204" pitchFamily="34" charset="0"/>
              </a:endParaRPr>
            </a:p>
          </p:txBody>
        </p:sp>
        <p:cxnSp>
          <p:nvCxnSpPr>
            <p:cNvPr id="27" name="1">
              <a:extLst>
                <a:ext uri="{FF2B5EF4-FFF2-40B4-BE49-F238E27FC236}">
                  <a16:creationId xmlns:a16="http://schemas.microsoft.com/office/drawing/2014/main" id="{C9D24000-7049-14B5-A642-204D4157364A}"/>
                </a:ext>
              </a:extLst>
            </p:cNvPr>
            <p:cNvCxnSpPr>
              <a:cxnSpLocks/>
            </p:cNvCxnSpPr>
            <p:nvPr/>
          </p:nvCxnSpPr>
          <p:spPr>
            <a:xfrm>
              <a:off x="559427" y="3039625"/>
              <a:ext cx="301335"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28" name="1">
            <a:extLst>
              <a:ext uri="{FF2B5EF4-FFF2-40B4-BE49-F238E27FC236}">
                <a16:creationId xmlns:a16="http://schemas.microsoft.com/office/drawing/2014/main" id="{3E9FA3F2-42CB-DF9B-8D5A-72C727BA6643}"/>
              </a:ext>
            </a:extLst>
          </p:cNvPr>
          <p:cNvSpPr/>
          <p:nvPr/>
        </p:nvSpPr>
        <p:spPr>
          <a:xfrm>
            <a:off x="0" y="1030647"/>
            <a:ext cx="235743" cy="5827085"/>
          </a:xfrm>
          <a:prstGeom prst="rect">
            <a:avLst/>
          </a:prstGeom>
          <a:solidFill>
            <a:schemeClr val="bg1"/>
          </a:solidFill>
          <a:ln>
            <a:noFill/>
          </a:ln>
          <a:effectLst>
            <a:outerShdw blurRad="279400" dist="50800" dir="7200000" algn="tl" rotWithShape="0">
              <a:prstClr val="black">
                <a:alpha val="7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宋体" panose="02010600030101010101" pitchFamily="2" charset="-122"/>
              <a:cs typeface="+mn-cs"/>
            </a:endParaRPr>
          </a:p>
        </p:txBody>
      </p:sp>
      <p:sp>
        <p:nvSpPr>
          <p:cNvPr id="4" name="Title-1">
            <a:extLst>
              <a:ext uri="{FF2B5EF4-FFF2-40B4-BE49-F238E27FC236}">
                <a16:creationId xmlns:a16="http://schemas.microsoft.com/office/drawing/2014/main" id="{310EF54D-F852-8D69-3CBB-7F2B792552F2}"/>
              </a:ext>
            </a:extLst>
          </p:cNvPr>
          <p:cNvSpPr txBox="1"/>
          <p:nvPr>
            <p:custDataLst>
              <p:tags r:id="rId8"/>
            </p:custDataLst>
          </p:nvPr>
        </p:nvSpPr>
        <p:spPr>
          <a:xfrm>
            <a:off x="4272313" y="1920390"/>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5" name="Title-1">
            <a:extLst>
              <a:ext uri="{FF2B5EF4-FFF2-40B4-BE49-F238E27FC236}">
                <a16:creationId xmlns:a16="http://schemas.microsoft.com/office/drawing/2014/main" id="{737E842D-3C51-7723-6EE2-D38F74CD09DB}"/>
              </a:ext>
            </a:extLst>
          </p:cNvPr>
          <p:cNvSpPr txBox="1"/>
          <p:nvPr>
            <p:custDataLst>
              <p:tags r:id="rId9"/>
            </p:custDataLst>
          </p:nvPr>
        </p:nvSpPr>
        <p:spPr>
          <a:xfrm>
            <a:off x="1319979" y="1942617"/>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6" name="Title-1">
            <a:extLst>
              <a:ext uri="{FF2B5EF4-FFF2-40B4-BE49-F238E27FC236}">
                <a16:creationId xmlns:a16="http://schemas.microsoft.com/office/drawing/2014/main" id="{9898F4B7-0769-AF2F-9BFD-4A5BE9D41DB0}"/>
              </a:ext>
            </a:extLst>
          </p:cNvPr>
          <p:cNvSpPr txBox="1"/>
          <p:nvPr>
            <p:custDataLst>
              <p:tags r:id="rId10"/>
            </p:custDataLst>
          </p:nvPr>
        </p:nvSpPr>
        <p:spPr>
          <a:xfrm>
            <a:off x="7270709" y="1908781"/>
            <a:ext cx="903560"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Focus</a:t>
            </a:r>
            <a:endParaRPr kumimoji="0" lang="zh-CN" altLang="en-US"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0" name="Title-1">
            <a:extLst>
              <a:ext uri="{FF2B5EF4-FFF2-40B4-BE49-F238E27FC236}">
                <a16:creationId xmlns:a16="http://schemas.microsoft.com/office/drawing/2014/main" id="{E845C6C4-4956-B4F8-6607-3FF7E988EB81}"/>
              </a:ext>
            </a:extLst>
          </p:cNvPr>
          <p:cNvSpPr txBox="1"/>
          <p:nvPr>
            <p:custDataLst>
              <p:tags r:id="rId11"/>
            </p:custDataLst>
          </p:nvPr>
        </p:nvSpPr>
        <p:spPr>
          <a:xfrm>
            <a:off x="1121508" y="3350617"/>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4F81B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1" name="Body-1">
            <a:extLst>
              <a:ext uri="{FF2B5EF4-FFF2-40B4-BE49-F238E27FC236}">
                <a16:creationId xmlns:a16="http://schemas.microsoft.com/office/drawing/2014/main" id="{B5509A40-22E6-EEF3-8BA8-BB4C6155254D}"/>
              </a:ext>
            </a:extLst>
          </p:cNvPr>
          <p:cNvSpPr>
            <a:spLocks/>
          </p:cNvSpPr>
          <p:nvPr>
            <p:custDataLst>
              <p:tags r:id="rId12"/>
            </p:custDataLst>
          </p:nvPr>
        </p:nvSpPr>
        <p:spPr>
          <a:xfrm>
            <a:off x="295424" y="3754522"/>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rPr>
              <a:t>Still requires repeated local training and multiple communication rounds, which remain costly for resource-constrained IoMT devices.</a:t>
            </a:r>
            <a:endParaRPr kumimoji="0" lang="en-GB" altLang="zh-CN" sz="1400" b="0" i="0" u="none" strike="noStrike" kern="1200" cap="none" spc="0" normalizeH="0" baseline="0" noProof="0" dirty="0">
              <a:ln>
                <a:noFill/>
              </a:ln>
              <a:solidFill>
                <a:srgbClr val="1F497D"/>
              </a:solidFill>
              <a:effectLst/>
              <a:uLnTx/>
              <a:uFillTx/>
              <a:latin typeface="Calibri"/>
              <a:ea typeface="宋体" panose="02010600030101010101" pitchFamily="2" charset="-122"/>
              <a:cs typeface="+mn-cs"/>
              <a:sym typeface="Arial" panose="020B0604020202020204" pitchFamily="34" charset="0"/>
            </a:endParaRPr>
          </a:p>
        </p:txBody>
      </p:sp>
      <p:sp>
        <p:nvSpPr>
          <p:cNvPr id="12" name="Title-1">
            <a:extLst>
              <a:ext uri="{FF2B5EF4-FFF2-40B4-BE49-F238E27FC236}">
                <a16:creationId xmlns:a16="http://schemas.microsoft.com/office/drawing/2014/main" id="{ADEAFF62-08F1-13A9-3E9B-74FB2FD37E6E}"/>
              </a:ext>
            </a:extLst>
          </p:cNvPr>
          <p:cNvSpPr txBox="1"/>
          <p:nvPr>
            <p:custDataLst>
              <p:tags r:id="rId13"/>
            </p:custDataLst>
          </p:nvPr>
        </p:nvSpPr>
        <p:spPr>
          <a:xfrm>
            <a:off x="4057972" y="3360185"/>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C0504D"/>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3" name="Body-1">
            <a:extLst>
              <a:ext uri="{FF2B5EF4-FFF2-40B4-BE49-F238E27FC236}">
                <a16:creationId xmlns:a16="http://schemas.microsoft.com/office/drawing/2014/main" id="{0C1CF4A3-F26A-EF2B-0F69-93389168001A}"/>
              </a:ext>
            </a:extLst>
          </p:cNvPr>
          <p:cNvSpPr>
            <a:spLocks/>
          </p:cNvSpPr>
          <p:nvPr>
            <p:custDataLst>
              <p:tags r:id="rId14"/>
            </p:custDataLst>
          </p:nvPr>
        </p:nvSpPr>
        <p:spPr>
          <a:xfrm>
            <a:off x="3329295" y="3732365"/>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Many studies assume that “lightweight” means deployable, but do not systematically evaluate real CPU or memory overhead, and often remain in edge-only settings.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15" name="Body-1">
            <a:extLst>
              <a:ext uri="{FF2B5EF4-FFF2-40B4-BE49-F238E27FC236}">
                <a16:creationId xmlns:a16="http://schemas.microsoft.com/office/drawing/2014/main" id="{82987DF5-C2B1-AB71-A22A-689A90357D23}"/>
              </a:ext>
            </a:extLst>
          </p:cNvPr>
          <p:cNvSpPr>
            <a:spLocks/>
          </p:cNvSpPr>
          <p:nvPr>
            <p:custDataLst>
              <p:tags r:id="rId15"/>
            </p:custDataLst>
          </p:nvPr>
        </p:nvSpPr>
        <p:spPr>
          <a:xfrm>
            <a:off x="6245311" y="3715734"/>
            <a:ext cx="2999798"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Existing hybrid work often improves accuracy, but lacks clear evaluation of network overhead, split deployment cost, and practical feasibility.</a:t>
            </a: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16" name="Body-1">
            <a:extLst>
              <a:ext uri="{FF2B5EF4-FFF2-40B4-BE49-F238E27FC236}">
                <a16:creationId xmlns:a16="http://schemas.microsoft.com/office/drawing/2014/main" id="{BB109DF0-4629-5F75-940B-7773A23E4561}"/>
              </a:ext>
            </a:extLst>
          </p:cNvPr>
          <p:cNvSpPr>
            <a:spLocks/>
          </p:cNvSpPr>
          <p:nvPr>
            <p:custDataLst>
              <p:tags r:id="rId16"/>
            </p:custDataLst>
          </p:nvPr>
        </p:nvSpPr>
        <p:spPr>
          <a:xfrm>
            <a:off x="3273590" y="2140202"/>
            <a:ext cx="2883107"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rPr>
              <a:t>Uses smaller models to make edge-side intrusion detection more feasible under limited resources.</a:t>
            </a:r>
            <a:endParaRPr kumimoji="0" lang="en-GB" altLang="zh-CN" sz="1400" b="0" i="0" u="none" strike="noStrike" kern="1200" cap="none" spc="0" normalizeH="0" baseline="0" noProof="0" dirty="0">
              <a:ln>
                <a:noFill/>
              </a:ln>
              <a:solidFill>
                <a:srgbClr val="C0504D"/>
              </a:solidFill>
              <a:effectLst/>
              <a:uLnTx/>
              <a:uFillTx/>
              <a:latin typeface="Calibri"/>
              <a:ea typeface="宋体" panose="02010600030101010101" pitchFamily="2" charset="-122"/>
              <a:cs typeface="+mn-cs"/>
              <a:sym typeface="Arial" panose="020B0604020202020204" pitchFamily="34" charset="0"/>
            </a:endParaRPr>
          </a:p>
        </p:txBody>
      </p:sp>
      <p:sp>
        <p:nvSpPr>
          <p:cNvPr id="17" name="Body-1">
            <a:extLst>
              <a:ext uri="{FF2B5EF4-FFF2-40B4-BE49-F238E27FC236}">
                <a16:creationId xmlns:a16="http://schemas.microsoft.com/office/drawing/2014/main" id="{252E56F4-644A-1140-369B-1D6A80F28588}"/>
              </a:ext>
            </a:extLst>
          </p:cNvPr>
          <p:cNvSpPr>
            <a:spLocks/>
          </p:cNvSpPr>
          <p:nvPr>
            <p:custDataLst>
              <p:tags r:id="rId17"/>
            </p:custDataLst>
          </p:nvPr>
        </p:nvSpPr>
        <p:spPr>
          <a:xfrm>
            <a:off x="6237350" y="2151250"/>
            <a:ext cx="2971516" cy="3167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3765" rtl="0" eaLnBrk="1" fontAlgn="auto" latinLnBrk="0" hangingPunct="1">
              <a:lnSpc>
                <a:spcPct val="130000"/>
              </a:lnSpc>
              <a:spcBef>
                <a:spcPts val="0"/>
              </a:spcBef>
              <a:spcAft>
                <a:spcPts val="0"/>
              </a:spcAft>
              <a:buClrTx/>
              <a:buSzPct val="100000"/>
              <a:buFontTx/>
              <a:buNone/>
              <a:tabLst/>
              <a:defRPr/>
            </a:pPr>
            <a:r>
              <a:rPr kumimoji="0" lang="en-US"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rPr>
              <a:t>Combines lightweight edge processing with stronger cloud-side analysis to balance efficiency and detection capability.</a:t>
            </a:r>
            <a:endParaRPr kumimoji="0" lang="en-GB" altLang="zh-CN" sz="1400" b="0" i="0" u="none" strike="noStrike" kern="1200" cap="none" spc="0" normalizeH="0" baseline="0" noProof="0" dirty="0">
              <a:ln>
                <a:noFill/>
              </a:ln>
              <a:solidFill>
                <a:srgbClr val="9BBB59"/>
              </a:solidFill>
              <a:effectLst/>
              <a:uLnTx/>
              <a:uFillTx/>
              <a:latin typeface="Calibri"/>
              <a:ea typeface="宋体" panose="02010600030101010101" pitchFamily="2" charset="-122"/>
              <a:cs typeface="+mn-cs"/>
              <a:sym typeface="Arial" panose="020B0604020202020204" pitchFamily="34" charset="0"/>
            </a:endParaRPr>
          </a:p>
        </p:txBody>
      </p:sp>
      <p:sp>
        <p:nvSpPr>
          <p:cNvPr id="18" name="Title-1">
            <a:extLst>
              <a:ext uri="{FF2B5EF4-FFF2-40B4-BE49-F238E27FC236}">
                <a16:creationId xmlns:a16="http://schemas.microsoft.com/office/drawing/2014/main" id="{F40BC689-61C9-AA37-B26E-0308C0535F6D}"/>
              </a:ext>
            </a:extLst>
          </p:cNvPr>
          <p:cNvSpPr txBox="1"/>
          <p:nvPr>
            <p:custDataLst>
              <p:tags r:id="rId18"/>
            </p:custDataLst>
          </p:nvPr>
        </p:nvSpPr>
        <p:spPr>
          <a:xfrm>
            <a:off x="7096832" y="3428200"/>
            <a:ext cx="1238647" cy="34149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rPr>
              <a:t>Limitation</a:t>
            </a:r>
            <a:endParaRPr kumimoji="0" lang="zh-CN" altLang="en-US" sz="1800" b="1" i="0" u="none" strike="noStrike" kern="1200" cap="none" spc="0" normalizeH="0" baseline="0" noProof="0" dirty="0">
              <a:ln>
                <a:noFill/>
              </a:ln>
              <a:solidFill>
                <a:srgbClr val="9BBB59"/>
              </a:solidFill>
              <a:effectLst>
                <a:outerShdw blurRad="101600" dist="254000" dir="2700000" sx="98000" sy="98000" algn="tl" rotWithShape="0">
                  <a:srgbClr val="4F81BD">
                    <a:alpha val="20000"/>
                  </a:srgbClr>
                </a:outerShdw>
              </a:effectLst>
              <a:uLnTx/>
              <a:uFillTx/>
              <a:latin typeface="Calibri"/>
              <a:ea typeface="宋体" panose="02010600030101010101" pitchFamily="2" charset="-122"/>
              <a:cs typeface="+mn-cs"/>
            </a:endParaRPr>
          </a:p>
        </p:txBody>
      </p:sp>
      <p:sp>
        <p:nvSpPr>
          <p:cNvPr id="19" name="文本框 18">
            <a:extLst>
              <a:ext uri="{FF2B5EF4-FFF2-40B4-BE49-F238E27FC236}">
                <a16:creationId xmlns:a16="http://schemas.microsoft.com/office/drawing/2014/main" id="{7C247AE6-6D64-B354-F9E8-EF2719DCCC06}"/>
              </a:ext>
            </a:extLst>
          </p:cNvPr>
          <p:cNvSpPr txBox="1"/>
          <p:nvPr/>
        </p:nvSpPr>
        <p:spPr>
          <a:xfrm>
            <a:off x="421229" y="5587574"/>
            <a:ext cx="260104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Ghourabi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and Alkhalil (2025); Popoola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(2022); Chen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(2020)</a:t>
            </a: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20" name="文本框 19">
            <a:extLst>
              <a:ext uri="{FF2B5EF4-FFF2-40B4-BE49-F238E27FC236}">
                <a16:creationId xmlns:a16="http://schemas.microsoft.com/office/drawing/2014/main" id="{0D9BBC74-51D6-E34D-34C7-BA2C7F4F6124}"/>
              </a:ext>
            </a:extLst>
          </p:cNvPr>
          <p:cNvSpPr txBox="1"/>
          <p:nvPr/>
        </p:nvSpPr>
        <p:spPr>
          <a:xfrm>
            <a:off x="3400572" y="5632756"/>
            <a:ext cx="2601046" cy="44627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Ali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Doriguzzi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-Corin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(2020); </a:t>
            </a:r>
            <a:r>
              <a:rPr kumimoji="0" lang="en-GB" altLang="zh-CN" sz="8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Kalakoti</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GB"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en-GB"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(2022)</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21" name="文本框 20">
            <a:extLst>
              <a:ext uri="{FF2B5EF4-FFF2-40B4-BE49-F238E27FC236}">
                <a16:creationId xmlns:a16="http://schemas.microsoft.com/office/drawing/2014/main" id="{AF0F94E2-F47A-2B61-BED8-4C93C7FE68C9}"/>
              </a:ext>
            </a:extLst>
          </p:cNvPr>
          <p:cNvSpPr txBox="1"/>
          <p:nvPr/>
        </p:nvSpPr>
        <p:spPr>
          <a:xfrm>
            <a:off x="6373731" y="5573340"/>
            <a:ext cx="260104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a-DK"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Representative refs:</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Wu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Rguibi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(2025); Huma </a:t>
            </a:r>
            <a:r>
              <a:rPr kumimoji="0" lang="da-DK" altLang="zh-CN" sz="8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et al.</a:t>
            </a:r>
            <a:r>
              <a:rPr kumimoji="0" lang="da-DK" altLang="zh-CN" sz="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(2021)</a:t>
            </a:r>
            <a:endParaRPr kumimoji="0" lang="zh-CN" altLang="en-US" sz="7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57709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1F214-9E73-4B60-E03D-F1871AC28ACD}"/>
            </a:ext>
          </a:extLst>
        </p:cNvPr>
        <p:cNvGrpSpPr/>
        <p:nvPr/>
      </p:nvGrpSpPr>
      <p:grpSpPr>
        <a:xfrm>
          <a:off x="0" y="0"/>
          <a:ext cx="0" cy="0"/>
          <a:chOff x="0" y="0"/>
          <a:chExt cx="0" cy="0"/>
        </a:xfrm>
      </p:grpSpPr>
      <p:pic>
        <p:nvPicPr>
          <p:cNvPr id="497" name="Picture 496">
            <a:extLst>
              <a:ext uri="{FF2B5EF4-FFF2-40B4-BE49-F238E27FC236}">
                <a16:creationId xmlns:a16="http://schemas.microsoft.com/office/drawing/2014/main" id="{CA2D5E9C-340F-99A8-B8ED-43EBE0A1C58B}"/>
              </a:ext>
            </a:extLst>
          </p:cNvPr>
          <p:cNvPicPr>
            <a:picLocks noChangeAspect="1"/>
          </p:cNvPicPr>
          <p:nvPr/>
        </p:nvPicPr>
        <p:blipFill>
          <a:blip r:embed="rId3">
            <a:alphaModFix amt="50000"/>
          </a:blip>
          <a:stretch>
            <a:fillRect/>
          </a:stretch>
        </p:blipFill>
        <p:spPr>
          <a:xfrm>
            <a:off x="1758462" y="352180"/>
            <a:ext cx="5630994" cy="2591709"/>
          </a:xfrm>
          <a:prstGeom prst="rect">
            <a:avLst/>
          </a:prstGeom>
        </p:spPr>
      </p:pic>
      <p:sp>
        <p:nvSpPr>
          <p:cNvPr id="430" name="Rounded Rectangle 429">
            <a:extLst>
              <a:ext uri="{FF2B5EF4-FFF2-40B4-BE49-F238E27FC236}">
                <a16:creationId xmlns:a16="http://schemas.microsoft.com/office/drawing/2014/main" id="{27301F13-5DB8-817A-1D52-B534B71DDB49}"/>
              </a:ext>
            </a:extLst>
          </p:cNvPr>
          <p:cNvSpPr/>
          <p:nvPr/>
        </p:nvSpPr>
        <p:spPr>
          <a:xfrm>
            <a:off x="6400801"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31" name="Picture 430">
            <a:extLst>
              <a:ext uri="{FF2B5EF4-FFF2-40B4-BE49-F238E27FC236}">
                <a16:creationId xmlns:a16="http://schemas.microsoft.com/office/drawing/2014/main" id="{00253C87-CF44-20E8-8EF7-A388A61A9A5B}"/>
              </a:ext>
            </a:extLst>
          </p:cNvPr>
          <p:cNvPicPr>
            <a:picLocks noChangeAspect="1"/>
          </p:cNvPicPr>
          <p:nvPr/>
        </p:nvPicPr>
        <p:blipFill>
          <a:blip r:embed="rId4"/>
          <a:stretch>
            <a:fillRect/>
          </a:stretch>
        </p:blipFill>
        <p:spPr>
          <a:xfrm>
            <a:off x="7161827" y="5844696"/>
            <a:ext cx="302847" cy="302847"/>
          </a:xfrm>
          <a:prstGeom prst="rect">
            <a:avLst/>
          </a:prstGeom>
        </p:spPr>
      </p:pic>
      <p:pic>
        <p:nvPicPr>
          <p:cNvPr id="433" name="Picture 432">
            <a:extLst>
              <a:ext uri="{FF2B5EF4-FFF2-40B4-BE49-F238E27FC236}">
                <a16:creationId xmlns:a16="http://schemas.microsoft.com/office/drawing/2014/main" id="{13AB4931-BF98-02A2-2348-1997C88267B0}"/>
              </a:ext>
            </a:extLst>
          </p:cNvPr>
          <p:cNvPicPr>
            <a:picLocks noChangeAspect="1"/>
          </p:cNvPicPr>
          <p:nvPr/>
        </p:nvPicPr>
        <p:blipFill>
          <a:blip r:embed="rId5"/>
          <a:stretch>
            <a:fillRect/>
          </a:stretch>
        </p:blipFill>
        <p:spPr>
          <a:xfrm>
            <a:off x="6491657" y="5844696"/>
            <a:ext cx="304800" cy="304800"/>
          </a:xfrm>
          <a:prstGeom prst="rect">
            <a:avLst/>
          </a:prstGeom>
        </p:spPr>
      </p:pic>
      <p:grpSp>
        <p:nvGrpSpPr>
          <p:cNvPr id="434" name="Group 433">
            <a:extLst>
              <a:ext uri="{FF2B5EF4-FFF2-40B4-BE49-F238E27FC236}">
                <a16:creationId xmlns:a16="http://schemas.microsoft.com/office/drawing/2014/main" id="{EC62E5A0-DD40-A71B-0AA0-1DF8A065C42E}"/>
              </a:ext>
            </a:extLst>
          </p:cNvPr>
          <p:cNvGrpSpPr/>
          <p:nvPr/>
        </p:nvGrpSpPr>
        <p:grpSpPr>
          <a:xfrm>
            <a:off x="6504357" y="3945059"/>
            <a:ext cx="894863" cy="405426"/>
            <a:chOff x="1445846" y="3606278"/>
            <a:chExt cx="894863" cy="405426"/>
          </a:xfrm>
        </p:grpSpPr>
        <p:cxnSp>
          <p:nvCxnSpPr>
            <p:cNvPr id="435" name="Straight Connector 434">
              <a:extLst>
                <a:ext uri="{FF2B5EF4-FFF2-40B4-BE49-F238E27FC236}">
                  <a16:creationId xmlns:a16="http://schemas.microsoft.com/office/drawing/2014/main" id="{D826335B-787F-7470-397D-59B7F8DCC172}"/>
                </a:ext>
              </a:extLst>
            </p:cNvPr>
            <p:cNvCxnSpPr>
              <a:cxnSpLocks/>
              <a:stCxn id="439" idx="0"/>
              <a:endCxn id="4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436" name="Oval 435">
              <a:extLst>
                <a:ext uri="{FF2B5EF4-FFF2-40B4-BE49-F238E27FC236}">
                  <a16:creationId xmlns:a16="http://schemas.microsoft.com/office/drawing/2014/main" id="{B05CF1CC-DFC7-69FD-D938-13E929C6C157}"/>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7" name="Oval 436">
              <a:extLst>
                <a:ext uri="{FF2B5EF4-FFF2-40B4-BE49-F238E27FC236}">
                  <a16:creationId xmlns:a16="http://schemas.microsoft.com/office/drawing/2014/main" id="{AF7EABE9-53B8-F5EA-FF95-9C09639B4FDD}"/>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8" name="Oval 437">
              <a:extLst>
                <a:ext uri="{FF2B5EF4-FFF2-40B4-BE49-F238E27FC236}">
                  <a16:creationId xmlns:a16="http://schemas.microsoft.com/office/drawing/2014/main" id="{F959EA42-DD1F-6E11-109A-29DF16B4A05C}"/>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9" name="Oval 438">
              <a:extLst>
                <a:ext uri="{FF2B5EF4-FFF2-40B4-BE49-F238E27FC236}">
                  <a16:creationId xmlns:a16="http://schemas.microsoft.com/office/drawing/2014/main" id="{4355B7CD-94E9-3F3D-B078-78875FFB79A3}"/>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0" name="Oval 439">
              <a:extLst>
                <a:ext uri="{FF2B5EF4-FFF2-40B4-BE49-F238E27FC236}">
                  <a16:creationId xmlns:a16="http://schemas.microsoft.com/office/drawing/2014/main" id="{9BE493E2-2106-63BA-9ECE-CC88005D93B1}"/>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1" name="Oval 440">
              <a:extLst>
                <a:ext uri="{FF2B5EF4-FFF2-40B4-BE49-F238E27FC236}">
                  <a16:creationId xmlns:a16="http://schemas.microsoft.com/office/drawing/2014/main" id="{722121D5-2DAD-24D7-E6B1-409E96FB42AD}"/>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BFA1B8D4-7486-77FB-CD0B-13FF567E1562}"/>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3" name="Oval 442">
              <a:extLst>
                <a:ext uri="{FF2B5EF4-FFF2-40B4-BE49-F238E27FC236}">
                  <a16:creationId xmlns:a16="http://schemas.microsoft.com/office/drawing/2014/main" id="{5E65A8A5-47B0-B7AC-2163-C075ABE99F47}"/>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4" name="Oval 443">
              <a:extLst>
                <a:ext uri="{FF2B5EF4-FFF2-40B4-BE49-F238E27FC236}">
                  <a16:creationId xmlns:a16="http://schemas.microsoft.com/office/drawing/2014/main" id="{BA1A310E-E027-A79F-C604-D6FDE8A2866B}"/>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45" name="Straight Connector 444">
              <a:extLst>
                <a:ext uri="{FF2B5EF4-FFF2-40B4-BE49-F238E27FC236}">
                  <a16:creationId xmlns:a16="http://schemas.microsoft.com/office/drawing/2014/main" id="{FF5F6641-BEE7-E83C-D244-7677F4E5D845}"/>
                </a:ext>
              </a:extLst>
            </p:cNvPr>
            <p:cNvCxnSpPr>
              <a:endCxn id="43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46" name="Straight Connector 445">
              <a:extLst>
                <a:ext uri="{FF2B5EF4-FFF2-40B4-BE49-F238E27FC236}">
                  <a16:creationId xmlns:a16="http://schemas.microsoft.com/office/drawing/2014/main" id="{20BA09AE-0B1C-38B6-83DE-ECE8914BFDA9}"/>
                </a:ext>
              </a:extLst>
            </p:cNvPr>
            <p:cNvCxnSpPr>
              <a:stCxn id="437" idx="4"/>
              <a:endCxn id="43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47" name="Straight Connector 446">
              <a:extLst>
                <a:ext uri="{FF2B5EF4-FFF2-40B4-BE49-F238E27FC236}">
                  <a16:creationId xmlns:a16="http://schemas.microsoft.com/office/drawing/2014/main" id="{A08BB771-BF75-2CC3-B5F6-DA5ACDD71DA6}"/>
                </a:ext>
              </a:extLst>
            </p:cNvPr>
            <p:cNvCxnSpPr>
              <a:stCxn id="437" idx="4"/>
              <a:endCxn id="44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48" name="Straight Connector 447">
              <a:extLst>
                <a:ext uri="{FF2B5EF4-FFF2-40B4-BE49-F238E27FC236}">
                  <a16:creationId xmlns:a16="http://schemas.microsoft.com/office/drawing/2014/main" id="{4EFDB407-E10A-A726-A449-7B346CA2F287}"/>
                </a:ext>
              </a:extLst>
            </p:cNvPr>
            <p:cNvCxnSpPr>
              <a:stCxn id="438" idx="4"/>
              <a:endCxn id="44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49" name="Straight Connector 448">
              <a:extLst>
                <a:ext uri="{FF2B5EF4-FFF2-40B4-BE49-F238E27FC236}">
                  <a16:creationId xmlns:a16="http://schemas.microsoft.com/office/drawing/2014/main" id="{3B943C37-389C-E8F8-D6D5-6643C2FAA0C5}"/>
                </a:ext>
              </a:extLst>
            </p:cNvPr>
            <p:cNvCxnSpPr>
              <a:cxnSpLocks/>
              <a:stCxn id="439" idx="0"/>
              <a:endCxn id="43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0" name="Straight Connector 449">
              <a:extLst>
                <a:ext uri="{FF2B5EF4-FFF2-40B4-BE49-F238E27FC236}">
                  <a16:creationId xmlns:a16="http://schemas.microsoft.com/office/drawing/2014/main" id="{B03F3BF9-9BB1-C01F-CBDA-573F7DD6FE51}"/>
                </a:ext>
              </a:extLst>
            </p:cNvPr>
            <p:cNvCxnSpPr>
              <a:cxnSpLocks/>
              <a:stCxn id="439" idx="0"/>
              <a:endCxn id="4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51" name="Straight Connector 450">
              <a:extLst>
                <a:ext uri="{FF2B5EF4-FFF2-40B4-BE49-F238E27FC236}">
                  <a16:creationId xmlns:a16="http://schemas.microsoft.com/office/drawing/2014/main" id="{8CBFF794-559C-CE6B-7F72-5E5A0730158E}"/>
                </a:ext>
              </a:extLst>
            </p:cNvPr>
            <p:cNvCxnSpPr>
              <a:cxnSpLocks/>
              <a:stCxn id="436" idx="4"/>
              <a:endCxn id="44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2" name="Straight Connector 451">
              <a:extLst>
                <a:ext uri="{FF2B5EF4-FFF2-40B4-BE49-F238E27FC236}">
                  <a16:creationId xmlns:a16="http://schemas.microsoft.com/office/drawing/2014/main" id="{01E9F499-461D-C387-D078-F8F0E21B47FE}"/>
                </a:ext>
              </a:extLst>
            </p:cNvPr>
            <p:cNvCxnSpPr>
              <a:cxnSpLocks/>
              <a:stCxn id="442" idx="0"/>
              <a:endCxn id="43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53" name="Straight Connector 452">
              <a:extLst>
                <a:ext uri="{FF2B5EF4-FFF2-40B4-BE49-F238E27FC236}">
                  <a16:creationId xmlns:a16="http://schemas.microsoft.com/office/drawing/2014/main" id="{2C3CF926-41BF-5E0C-2258-0FE20294A614}"/>
                </a:ext>
              </a:extLst>
            </p:cNvPr>
            <p:cNvCxnSpPr>
              <a:cxnSpLocks/>
              <a:stCxn id="442" idx="0"/>
              <a:endCxn id="44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4" name="Straight Connector 453">
              <a:extLst>
                <a:ext uri="{FF2B5EF4-FFF2-40B4-BE49-F238E27FC236}">
                  <a16:creationId xmlns:a16="http://schemas.microsoft.com/office/drawing/2014/main" id="{6A307D80-5DE3-1E34-84E2-5A486B98431A}"/>
                </a:ext>
              </a:extLst>
            </p:cNvPr>
            <p:cNvCxnSpPr>
              <a:cxnSpLocks/>
              <a:stCxn id="441" idx="0"/>
              <a:endCxn id="44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5" name="Straight Connector 454">
              <a:extLst>
                <a:ext uri="{FF2B5EF4-FFF2-40B4-BE49-F238E27FC236}">
                  <a16:creationId xmlns:a16="http://schemas.microsoft.com/office/drawing/2014/main" id="{9F66A85E-18DB-0FCE-3EE2-702AFD626505}"/>
                </a:ext>
              </a:extLst>
            </p:cNvPr>
            <p:cNvCxnSpPr>
              <a:cxnSpLocks/>
              <a:stCxn id="436" idx="4"/>
              <a:endCxn id="44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6" name="Straight Connector 455">
              <a:extLst>
                <a:ext uri="{FF2B5EF4-FFF2-40B4-BE49-F238E27FC236}">
                  <a16:creationId xmlns:a16="http://schemas.microsoft.com/office/drawing/2014/main" id="{4484E033-F1DE-509F-66E9-C670E11E1EAB}"/>
                </a:ext>
              </a:extLst>
            </p:cNvPr>
            <p:cNvCxnSpPr>
              <a:cxnSpLocks/>
              <a:stCxn id="443" idx="0"/>
              <a:endCxn id="43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7" name="Straight Connector 456">
              <a:extLst>
                <a:ext uri="{FF2B5EF4-FFF2-40B4-BE49-F238E27FC236}">
                  <a16:creationId xmlns:a16="http://schemas.microsoft.com/office/drawing/2014/main" id="{96AAA57F-5491-4896-909A-BD92895CD06A}"/>
                </a:ext>
              </a:extLst>
            </p:cNvPr>
            <p:cNvCxnSpPr>
              <a:cxnSpLocks/>
              <a:stCxn id="444" idx="0"/>
              <a:endCxn id="43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8" name="Straight Connector 457">
              <a:extLst>
                <a:ext uri="{FF2B5EF4-FFF2-40B4-BE49-F238E27FC236}">
                  <a16:creationId xmlns:a16="http://schemas.microsoft.com/office/drawing/2014/main" id="{2F53412F-BF91-308C-9D22-F08D39927167}"/>
                </a:ext>
              </a:extLst>
            </p:cNvPr>
            <p:cNvCxnSpPr>
              <a:cxnSpLocks/>
              <a:stCxn id="443" idx="0"/>
              <a:endCxn id="44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59" name="Straight Connector 458">
              <a:extLst>
                <a:ext uri="{FF2B5EF4-FFF2-40B4-BE49-F238E27FC236}">
                  <a16:creationId xmlns:a16="http://schemas.microsoft.com/office/drawing/2014/main" id="{04A73CAB-3012-ADEA-8FB2-CFB6FBE61ABA}"/>
                </a:ext>
              </a:extLst>
            </p:cNvPr>
            <p:cNvCxnSpPr>
              <a:cxnSpLocks/>
              <a:stCxn id="444" idx="0"/>
              <a:endCxn id="44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60" name="Straight Connector 459">
              <a:extLst>
                <a:ext uri="{FF2B5EF4-FFF2-40B4-BE49-F238E27FC236}">
                  <a16:creationId xmlns:a16="http://schemas.microsoft.com/office/drawing/2014/main" id="{9244371D-9305-4EAA-6D1E-414451E02501}"/>
                </a:ext>
              </a:extLst>
            </p:cNvPr>
            <p:cNvCxnSpPr>
              <a:cxnSpLocks/>
              <a:stCxn id="444" idx="0"/>
              <a:endCxn id="44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61" name="Straight Connector 460">
              <a:extLst>
                <a:ext uri="{FF2B5EF4-FFF2-40B4-BE49-F238E27FC236}">
                  <a16:creationId xmlns:a16="http://schemas.microsoft.com/office/drawing/2014/main" id="{2A12D3D5-D12F-0CEC-E5FC-2EB7DE1EE207}"/>
                </a:ext>
              </a:extLst>
            </p:cNvPr>
            <p:cNvCxnSpPr>
              <a:cxnSpLocks/>
              <a:stCxn id="443" idx="0"/>
              <a:endCxn id="44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62" name="Group 461">
            <a:extLst>
              <a:ext uri="{FF2B5EF4-FFF2-40B4-BE49-F238E27FC236}">
                <a16:creationId xmlns:a16="http://schemas.microsoft.com/office/drawing/2014/main" id="{04F0EBDA-2A83-DFBD-DAA0-FA9B212B2F2E}"/>
              </a:ext>
            </a:extLst>
          </p:cNvPr>
          <p:cNvGrpSpPr/>
          <p:nvPr/>
        </p:nvGrpSpPr>
        <p:grpSpPr>
          <a:xfrm>
            <a:off x="6521069" y="4554650"/>
            <a:ext cx="935680" cy="537319"/>
            <a:chOff x="6662617" y="2245853"/>
            <a:chExt cx="935680" cy="537319"/>
          </a:xfrm>
        </p:grpSpPr>
        <p:sp>
          <p:nvSpPr>
            <p:cNvPr id="463" name="Oval 462">
              <a:extLst>
                <a:ext uri="{FF2B5EF4-FFF2-40B4-BE49-F238E27FC236}">
                  <a16:creationId xmlns:a16="http://schemas.microsoft.com/office/drawing/2014/main" id="{90A17BA8-4D6B-E774-6EA7-0BD05FCB6772}"/>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4" name="Oval 463">
              <a:extLst>
                <a:ext uri="{FF2B5EF4-FFF2-40B4-BE49-F238E27FC236}">
                  <a16:creationId xmlns:a16="http://schemas.microsoft.com/office/drawing/2014/main" id="{043D3939-23C5-BBF1-CA3A-550B4BFC1B83}"/>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5" name="Oval 464">
              <a:extLst>
                <a:ext uri="{FF2B5EF4-FFF2-40B4-BE49-F238E27FC236}">
                  <a16:creationId xmlns:a16="http://schemas.microsoft.com/office/drawing/2014/main" id="{52160F48-0B73-F4A1-1F09-142307993563}"/>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6" name="Oval 465">
              <a:extLst>
                <a:ext uri="{FF2B5EF4-FFF2-40B4-BE49-F238E27FC236}">
                  <a16:creationId xmlns:a16="http://schemas.microsoft.com/office/drawing/2014/main" id="{C3656534-CDD1-475A-0D92-9F5C8B3F3CB6}"/>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7" name="Oval 466">
              <a:extLst>
                <a:ext uri="{FF2B5EF4-FFF2-40B4-BE49-F238E27FC236}">
                  <a16:creationId xmlns:a16="http://schemas.microsoft.com/office/drawing/2014/main" id="{39C4627D-49C5-6638-E9EE-3B8D19256911}"/>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8" name="Oval 467">
              <a:extLst>
                <a:ext uri="{FF2B5EF4-FFF2-40B4-BE49-F238E27FC236}">
                  <a16:creationId xmlns:a16="http://schemas.microsoft.com/office/drawing/2014/main" id="{BD59A5FD-2800-983A-ADDB-1B73CC7FED38}"/>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9" name="Oval 468">
              <a:extLst>
                <a:ext uri="{FF2B5EF4-FFF2-40B4-BE49-F238E27FC236}">
                  <a16:creationId xmlns:a16="http://schemas.microsoft.com/office/drawing/2014/main" id="{AC303BF3-193B-4C8B-C4D6-290EBB85367E}"/>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0" name="Oval 469">
              <a:extLst>
                <a:ext uri="{FF2B5EF4-FFF2-40B4-BE49-F238E27FC236}">
                  <a16:creationId xmlns:a16="http://schemas.microsoft.com/office/drawing/2014/main" id="{2CC3B84A-8E37-0916-64CC-9DCC4A34C251}"/>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1" name="Oval 470">
              <a:extLst>
                <a:ext uri="{FF2B5EF4-FFF2-40B4-BE49-F238E27FC236}">
                  <a16:creationId xmlns:a16="http://schemas.microsoft.com/office/drawing/2014/main" id="{016DE08C-3E6E-1AD3-5B70-BF5E1DCEE4FF}"/>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0C845629-19BC-BA99-A78E-F1DBF418906E}"/>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3" name="Oval 472">
              <a:extLst>
                <a:ext uri="{FF2B5EF4-FFF2-40B4-BE49-F238E27FC236}">
                  <a16:creationId xmlns:a16="http://schemas.microsoft.com/office/drawing/2014/main" id="{1F440935-B4F6-BE60-5126-60D658B50A6C}"/>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4" name="Oval 473">
              <a:extLst>
                <a:ext uri="{FF2B5EF4-FFF2-40B4-BE49-F238E27FC236}">
                  <a16:creationId xmlns:a16="http://schemas.microsoft.com/office/drawing/2014/main" id="{90DDA9F0-F3D5-4DDA-3E85-339B8A4C3F51}"/>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 name="Multiply 474">
              <a:extLst>
                <a:ext uri="{FF2B5EF4-FFF2-40B4-BE49-F238E27FC236}">
                  <a16:creationId xmlns:a16="http://schemas.microsoft.com/office/drawing/2014/main" id="{1CA403CA-58EE-74F8-FFEB-CBE535A803BE}"/>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6" name="Multiply 475">
              <a:extLst>
                <a:ext uri="{FF2B5EF4-FFF2-40B4-BE49-F238E27FC236}">
                  <a16:creationId xmlns:a16="http://schemas.microsoft.com/office/drawing/2014/main" id="{54A18C5B-4A35-BF12-3B80-797C4C628716}"/>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7" name="Multiply 476">
              <a:extLst>
                <a:ext uri="{FF2B5EF4-FFF2-40B4-BE49-F238E27FC236}">
                  <a16:creationId xmlns:a16="http://schemas.microsoft.com/office/drawing/2014/main" id="{D71F532F-CF41-0D95-530D-0FCEA0851A99}"/>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78" name="TextBox 477">
            <a:extLst>
              <a:ext uri="{FF2B5EF4-FFF2-40B4-BE49-F238E27FC236}">
                <a16:creationId xmlns:a16="http://schemas.microsoft.com/office/drawing/2014/main" id="{A401C4D7-A707-827B-5592-1427C6F39B8A}"/>
              </a:ext>
            </a:extLst>
          </p:cNvPr>
          <p:cNvSpPr txBox="1"/>
          <p:nvPr/>
        </p:nvSpPr>
        <p:spPr>
          <a:xfrm>
            <a:off x="6419844"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479" name="TextBox 478">
            <a:extLst>
              <a:ext uri="{FF2B5EF4-FFF2-40B4-BE49-F238E27FC236}">
                <a16:creationId xmlns:a16="http://schemas.microsoft.com/office/drawing/2014/main" id="{37392986-2CA5-6BBF-B0CB-BE21597FFBAC}"/>
              </a:ext>
            </a:extLst>
          </p:cNvPr>
          <p:cNvSpPr txBox="1"/>
          <p:nvPr/>
        </p:nvSpPr>
        <p:spPr>
          <a:xfrm>
            <a:off x="6418396"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380" name="Rounded Rectangle 379">
            <a:extLst>
              <a:ext uri="{FF2B5EF4-FFF2-40B4-BE49-F238E27FC236}">
                <a16:creationId xmlns:a16="http://schemas.microsoft.com/office/drawing/2014/main" id="{DCC918A6-C2B1-5957-5784-49BD7ED209B0}"/>
              </a:ext>
            </a:extLst>
          </p:cNvPr>
          <p:cNvSpPr/>
          <p:nvPr/>
        </p:nvSpPr>
        <p:spPr>
          <a:xfrm>
            <a:off x="4091355"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1" name="Picture 380">
            <a:extLst>
              <a:ext uri="{FF2B5EF4-FFF2-40B4-BE49-F238E27FC236}">
                <a16:creationId xmlns:a16="http://schemas.microsoft.com/office/drawing/2014/main" id="{B6EF110F-A988-61CB-E366-FC87738F0738}"/>
              </a:ext>
            </a:extLst>
          </p:cNvPr>
          <p:cNvPicPr>
            <a:picLocks noChangeAspect="1"/>
          </p:cNvPicPr>
          <p:nvPr/>
        </p:nvPicPr>
        <p:blipFill>
          <a:blip r:embed="rId4"/>
          <a:stretch>
            <a:fillRect/>
          </a:stretch>
        </p:blipFill>
        <p:spPr>
          <a:xfrm>
            <a:off x="4852381" y="5844696"/>
            <a:ext cx="302847" cy="302847"/>
          </a:xfrm>
          <a:prstGeom prst="rect">
            <a:avLst/>
          </a:prstGeom>
        </p:spPr>
      </p:pic>
      <p:pic>
        <p:nvPicPr>
          <p:cNvPr id="383" name="Picture 382">
            <a:extLst>
              <a:ext uri="{FF2B5EF4-FFF2-40B4-BE49-F238E27FC236}">
                <a16:creationId xmlns:a16="http://schemas.microsoft.com/office/drawing/2014/main" id="{6660FD71-D699-2881-B064-6930CBD78524}"/>
              </a:ext>
            </a:extLst>
          </p:cNvPr>
          <p:cNvPicPr>
            <a:picLocks noChangeAspect="1"/>
          </p:cNvPicPr>
          <p:nvPr/>
        </p:nvPicPr>
        <p:blipFill>
          <a:blip r:embed="rId5"/>
          <a:stretch>
            <a:fillRect/>
          </a:stretch>
        </p:blipFill>
        <p:spPr>
          <a:xfrm>
            <a:off x="4182211" y="5844696"/>
            <a:ext cx="304800" cy="304800"/>
          </a:xfrm>
          <a:prstGeom prst="rect">
            <a:avLst/>
          </a:prstGeom>
        </p:spPr>
      </p:pic>
      <p:grpSp>
        <p:nvGrpSpPr>
          <p:cNvPr id="384" name="Group 383">
            <a:extLst>
              <a:ext uri="{FF2B5EF4-FFF2-40B4-BE49-F238E27FC236}">
                <a16:creationId xmlns:a16="http://schemas.microsoft.com/office/drawing/2014/main" id="{D110780A-DCE0-6AD4-565C-87EB284BBA46}"/>
              </a:ext>
            </a:extLst>
          </p:cNvPr>
          <p:cNvGrpSpPr/>
          <p:nvPr/>
        </p:nvGrpSpPr>
        <p:grpSpPr>
          <a:xfrm>
            <a:off x="4194911" y="3945059"/>
            <a:ext cx="894863" cy="405426"/>
            <a:chOff x="1445846" y="3606278"/>
            <a:chExt cx="894863" cy="405426"/>
          </a:xfrm>
        </p:grpSpPr>
        <p:cxnSp>
          <p:nvCxnSpPr>
            <p:cNvPr id="385" name="Straight Connector 384">
              <a:extLst>
                <a:ext uri="{FF2B5EF4-FFF2-40B4-BE49-F238E27FC236}">
                  <a16:creationId xmlns:a16="http://schemas.microsoft.com/office/drawing/2014/main" id="{E6B072F9-8F3C-B1CA-8C7E-3A2C4DF5298C}"/>
                </a:ext>
              </a:extLst>
            </p:cNvPr>
            <p:cNvCxnSpPr>
              <a:cxnSpLocks/>
              <a:stCxn id="389" idx="0"/>
              <a:endCxn id="39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386" name="Oval 385">
              <a:extLst>
                <a:ext uri="{FF2B5EF4-FFF2-40B4-BE49-F238E27FC236}">
                  <a16:creationId xmlns:a16="http://schemas.microsoft.com/office/drawing/2014/main" id="{E768E372-4E3F-AF43-C79B-49AA29A00685}"/>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7" name="Oval 386">
              <a:extLst>
                <a:ext uri="{FF2B5EF4-FFF2-40B4-BE49-F238E27FC236}">
                  <a16:creationId xmlns:a16="http://schemas.microsoft.com/office/drawing/2014/main" id="{D469AAC8-8824-B5D4-D833-C72184946D7F}"/>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8" name="Oval 387">
              <a:extLst>
                <a:ext uri="{FF2B5EF4-FFF2-40B4-BE49-F238E27FC236}">
                  <a16:creationId xmlns:a16="http://schemas.microsoft.com/office/drawing/2014/main" id="{5D501C50-C97C-93E0-535E-72CA38B82089}"/>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9" name="Oval 388">
              <a:extLst>
                <a:ext uri="{FF2B5EF4-FFF2-40B4-BE49-F238E27FC236}">
                  <a16:creationId xmlns:a16="http://schemas.microsoft.com/office/drawing/2014/main" id="{C5F54096-AFBF-76AF-0850-60EFCADC8324}"/>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0" name="Oval 389">
              <a:extLst>
                <a:ext uri="{FF2B5EF4-FFF2-40B4-BE49-F238E27FC236}">
                  <a16:creationId xmlns:a16="http://schemas.microsoft.com/office/drawing/2014/main" id="{7ABE0191-982A-8172-BEBD-021C40F1BCBC}"/>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1" name="Oval 390">
              <a:extLst>
                <a:ext uri="{FF2B5EF4-FFF2-40B4-BE49-F238E27FC236}">
                  <a16:creationId xmlns:a16="http://schemas.microsoft.com/office/drawing/2014/main" id="{B63EE7A3-E0A0-7E51-8AE4-3413F7B3CE1F}"/>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2" name="Oval 391">
              <a:extLst>
                <a:ext uri="{FF2B5EF4-FFF2-40B4-BE49-F238E27FC236}">
                  <a16:creationId xmlns:a16="http://schemas.microsoft.com/office/drawing/2014/main" id="{4DA70FC2-5A59-578A-D85F-8692B5D2405E}"/>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3" name="Oval 392">
              <a:extLst>
                <a:ext uri="{FF2B5EF4-FFF2-40B4-BE49-F238E27FC236}">
                  <a16:creationId xmlns:a16="http://schemas.microsoft.com/office/drawing/2014/main" id="{E43963C1-0BB5-C469-B260-291B2E96BE52}"/>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 name="Oval 393">
              <a:extLst>
                <a:ext uri="{FF2B5EF4-FFF2-40B4-BE49-F238E27FC236}">
                  <a16:creationId xmlns:a16="http://schemas.microsoft.com/office/drawing/2014/main" id="{2F504348-D023-5366-E2F8-3D35B4E4A998}"/>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95" name="Straight Connector 394">
              <a:extLst>
                <a:ext uri="{FF2B5EF4-FFF2-40B4-BE49-F238E27FC236}">
                  <a16:creationId xmlns:a16="http://schemas.microsoft.com/office/drawing/2014/main" id="{F9D3D1D1-D3DF-CC1B-0249-639194EE767A}"/>
                </a:ext>
              </a:extLst>
            </p:cNvPr>
            <p:cNvCxnSpPr>
              <a:endCxn id="38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6" name="Straight Connector 395">
              <a:extLst>
                <a:ext uri="{FF2B5EF4-FFF2-40B4-BE49-F238E27FC236}">
                  <a16:creationId xmlns:a16="http://schemas.microsoft.com/office/drawing/2014/main" id="{B863087A-64CA-D1D9-EFF1-3B057D9A04EC}"/>
                </a:ext>
              </a:extLst>
            </p:cNvPr>
            <p:cNvCxnSpPr>
              <a:stCxn id="387" idx="4"/>
              <a:endCxn id="38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7" name="Straight Connector 396">
              <a:extLst>
                <a:ext uri="{FF2B5EF4-FFF2-40B4-BE49-F238E27FC236}">
                  <a16:creationId xmlns:a16="http://schemas.microsoft.com/office/drawing/2014/main" id="{7A9A9A4C-C0D1-D2F7-EFD6-493DD2D3300D}"/>
                </a:ext>
              </a:extLst>
            </p:cNvPr>
            <p:cNvCxnSpPr>
              <a:stCxn id="387" idx="4"/>
              <a:endCxn id="39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98" name="Straight Connector 397">
              <a:extLst>
                <a:ext uri="{FF2B5EF4-FFF2-40B4-BE49-F238E27FC236}">
                  <a16:creationId xmlns:a16="http://schemas.microsoft.com/office/drawing/2014/main" id="{D54E098D-23FA-815E-6020-441EB66375C1}"/>
                </a:ext>
              </a:extLst>
            </p:cNvPr>
            <p:cNvCxnSpPr>
              <a:stCxn id="388" idx="4"/>
              <a:endCxn id="39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99" name="Straight Connector 398">
              <a:extLst>
                <a:ext uri="{FF2B5EF4-FFF2-40B4-BE49-F238E27FC236}">
                  <a16:creationId xmlns:a16="http://schemas.microsoft.com/office/drawing/2014/main" id="{8870F73A-EAAA-4030-A94A-07DBCD2CDEE7}"/>
                </a:ext>
              </a:extLst>
            </p:cNvPr>
            <p:cNvCxnSpPr>
              <a:cxnSpLocks/>
              <a:stCxn id="389" idx="0"/>
              <a:endCxn id="38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0" name="Straight Connector 399">
              <a:extLst>
                <a:ext uri="{FF2B5EF4-FFF2-40B4-BE49-F238E27FC236}">
                  <a16:creationId xmlns:a16="http://schemas.microsoft.com/office/drawing/2014/main" id="{E008808F-994F-1CF2-3DAC-4DC56CA2188C}"/>
                </a:ext>
              </a:extLst>
            </p:cNvPr>
            <p:cNvCxnSpPr>
              <a:cxnSpLocks/>
              <a:stCxn id="389" idx="0"/>
              <a:endCxn id="39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401" name="Straight Connector 400">
              <a:extLst>
                <a:ext uri="{FF2B5EF4-FFF2-40B4-BE49-F238E27FC236}">
                  <a16:creationId xmlns:a16="http://schemas.microsoft.com/office/drawing/2014/main" id="{1B2484DB-DBF5-31DA-1CA2-BA6175ABE00A}"/>
                </a:ext>
              </a:extLst>
            </p:cNvPr>
            <p:cNvCxnSpPr>
              <a:cxnSpLocks/>
              <a:stCxn id="386" idx="4"/>
              <a:endCxn id="39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2" name="Straight Connector 401">
              <a:extLst>
                <a:ext uri="{FF2B5EF4-FFF2-40B4-BE49-F238E27FC236}">
                  <a16:creationId xmlns:a16="http://schemas.microsoft.com/office/drawing/2014/main" id="{55453ED4-A4A6-75AD-E5EB-EB5B6815EA16}"/>
                </a:ext>
              </a:extLst>
            </p:cNvPr>
            <p:cNvCxnSpPr>
              <a:cxnSpLocks/>
              <a:stCxn id="392" idx="0"/>
              <a:endCxn id="38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3" name="Straight Connector 402">
              <a:extLst>
                <a:ext uri="{FF2B5EF4-FFF2-40B4-BE49-F238E27FC236}">
                  <a16:creationId xmlns:a16="http://schemas.microsoft.com/office/drawing/2014/main" id="{B5F69004-BED1-D35D-B636-FE5FC178110A}"/>
                </a:ext>
              </a:extLst>
            </p:cNvPr>
            <p:cNvCxnSpPr>
              <a:cxnSpLocks/>
              <a:stCxn id="392" idx="0"/>
              <a:endCxn id="39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4" name="Straight Connector 403">
              <a:extLst>
                <a:ext uri="{FF2B5EF4-FFF2-40B4-BE49-F238E27FC236}">
                  <a16:creationId xmlns:a16="http://schemas.microsoft.com/office/drawing/2014/main" id="{52E937A3-52D6-327F-ABFE-5944FFB85BA8}"/>
                </a:ext>
              </a:extLst>
            </p:cNvPr>
            <p:cNvCxnSpPr>
              <a:cxnSpLocks/>
              <a:stCxn id="391" idx="0"/>
              <a:endCxn id="39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05" name="Straight Connector 404">
              <a:extLst>
                <a:ext uri="{FF2B5EF4-FFF2-40B4-BE49-F238E27FC236}">
                  <a16:creationId xmlns:a16="http://schemas.microsoft.com/office/drawing/2014/main" id="{E4594B79-A879-DA8B-EC06-CA6CC8E73658}"/>
                </a:ext>
              </a:extLst>
            </p:cNvPr>
            <p:cNvCxnSpPr>
              <a:cxnSpLocks/>
              <a:stCxn id="386" idx="4"/>
              <a:endCxn id="39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6" name="Straight Connector 405">
              <a:extLst>
                <a:ext uri="{FF2B5EF4-FFF2-40B4-BE49-F238E27FC236}">
                  <a16:creationId xmlns:a16="http://schemas.microsoft.com/office/drawing/2014/main" id="{F5D69EBB-9491-DD99-C70B-2DC9A230A62C}"/>
                </a:ext>
              </a:extLst>
            </p:cNvPr>
            <p:cNvCxnSpPr>
              <a:cxnSpLocks/>
              <a:stCxn id="393" idx="0"/>
              <a:endCxn id="38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7" name="Straight Connector 406">
              <a:extLst>
                <a:ext uri="{FF2B5EF4-FFF2-40B4-BE49-F238E27FC236}">
                  <a16:creationId xmlns:a16="http://schemas.microsoft.com/office/drawing/2014/main" id="{24295278-4A8B-FD29-7CD0-453DB067AACF}"/>
                </a:ext>
              </a:extLst>
            </p:cNvPr>
            <p:cNvCxnSpPr>
              <a:cxnSpLocks/>
              <a:stCxn id="394" idx="0"/>
              <a:endCxn id="38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08" name="Straight Connector 407">
              <a:extLst>
                <a:ext uri="{FF2B5EF4-FFF2-40B4-BE49-F238E27FC236}">
                  <a16:creationId xmlns:a16="http://schemas.microsoft.com/office/drawing/2014/main" id="{087E8537-EA2C-2ADD-87A3-C86C16FBBB85}"/>
                </a:ext>
              </a:extLst>
            </p:cNvPr>
            <p:cNvCxnSpPr>
              <a:cxnSpLocks/>
              <a:stCxn id="393" idx="0"/>
              <a:endCxn id="39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09" name="Straight Connector 408">
              <a:extLst>
                <a:ext uri="{FF2B5EF4-FFF2-40B4-BE49-F238E27FC236}">
                  <a16:creationId xmlns:a16="http://schemas.microsoft.com/office/drawing/2014/main" id="{CC07D6E7-779C-E2B9-1CBD-57238D7D1A94}"/>
                </a:ext>
              </a:extLst>
            </p:cNvPr>
            <p:cNvCxnSpPr>
              <a:cxnSpLocks/>
              <a:stCxn id="394" idx="0"/>
              <a:endCxn id="39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10" name="Straight Connector 409">
              <a:extLst>
                <a:ext uri="{FF2B5EF4-FFF2-40B4-BE49-F238E27FC236}">
                  <a16:creationId xmlns:a16="http://schemas.microsoft.com/office/drawing/2014/main" id="{6A542059-F93E-6DDE-6E6F-0F05FEA345F9}"/>
                </a:ext>
              </a:extLst>
            </p:cNvPr>
            <p:cNvCxnSpPr>
              <a:cxnSpLocks/>
              <a:stCxn id="394" idx="0"/>
              <a:endCxn id="39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411" name="Straight Connector 410">
              <a:extLst>
                <a:ext uri="{FF2B5EF4-FFF2-40B4-BE49-F238E27FC236}">
                  <a16:creationId xmlns:a16="http://schemas.microsoft.com/office/drawing/2014/main" id="{C48B2D11-C75F-C3A1-326E-C9CD7153B41E}"/>
                </a:ext>
              </a:extLst>
            </p:cNvPr>
            <p:cNvCxnSpPr>
              <a:cxnSpLocks/>
              <a:stCxn id="393" idx="0"/>
              <a:endCxn id="39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12" name="Group 411">
            <a:extLst>
              <a:ext uri="{FF2B5EF4-FFF2-40B4-BE49-F238E27FC236}">
                <a16:creationId xmlns:a16="http://schemas.microsoft.com/office/drawing/2014/main" id="{53DED084-2C99-5A5A-8542-BB90C5EA432D}"/>
              </a:ext>
            </a:extLst>
          </p:cNvPr>
          <p:cNvGrpSpPr/>
          <p:nvPr/>
        </p:nvGrpSpPr>
        <p:grpSpPr>
          <a:xfrm>
            <a:off x="4211623" y="4554650"/>
            <a:ext cx="935680" cy="537319"/>
            <a:chOff x="6662617" y="2245853"/>
            <a:chExt cx="935680" cy="537319"/>
          </a:xfrm>
        </p:grpSpPr>
        <p:sp>
          <p:nvSpPr>
            <p:cNvPr id="413" name="Oval 412">
              <a:extLst>
                <a:ext uri="{FF2B5EF4-FFF2-40B4-BE49-F238E27FC236}">
                  <a16:creationId xmlns:a16="http://schemas.microsoft.com/office/drawing/2014/main" id="{E4A614CF-6A68-A150-8F7B-37707CECF613}"/>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4" name="Oval 413">
              <a:extLst>
                <a:ext uri="{FF2B5EF4-FFF2-40B4-BE49-F238E27FC236}">
                  <a16:creationId xmlns:a16="http://schemas.microsoft.com/office/drawing/2014/main" id="{8B3C8D11-142F-19B6-69E8-E972A4C9CFD9}"/>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5" name="Oval 414">
              <a:extLst>
                <a:ext uri="{FF2B5EF4-FFF2-40B4-BE49-F238E27FC236}">
                  <a16:creationId xmlns:a16="http://schemas.microsoft.com/office/drawing/2014/main" id="{E1A7DB77-D741-D3A5-7C33-DB0081581069}"/>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6" name="Oval 415">
              <a:extLst>
                <a:ext uri="{FF2B5EF4-FFF2-40B4-BE49-F238E27FC236}">
                  <a16:creationId xmlns:a16="http://schemas.microsoft.com/office/drawing/2014/main" id="{C9D5808F-6F94-2CDA-18F0-1293B9A2AAFF}"/>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E2D8D801-6751-6174-0218-0911C46469F9}"/>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C55BA224-A0A2-0FAA-38C4-EF33E6413B85}"/>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9" name="Oval 418">
              <a:extLst>
                <a:ext uri="{FF2B5EF4-FFF2-40B4-BE49-F238E27FC236}">
                  <a16:creationId xmlns:a16="http://schemas.microsoft.com/office/drawing/2014/main" id="{EF379A8E-E44E-79F3-714A-4CE9FF2D043D}"/>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0" name="Oval 419">
              <a:extLst>
                <a:ext uri="{FF2B5EF4-FFF2-40B4-BE49-F238E27FC236}">
                  <a16:creationId xmlns:a16="http://schemas.microsoft.com/office/drawing/2014/main" id="{3F28F68B-F31C-7C79-02CC-BCE7331AA9F1}"/>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3D308267-FFF5-149E-A664-C1FD40126233}"/>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2" name="Oval 421">
              <a:extLst>
                <a:ext uri="{FF2B5EF4-FFF2-40B4-BE49-F238E27FC236}">
                  <a16:creationId xmlns:a16="http://schemas.microsoft.com/office/drawing/2014/main" id="{FC4E9031-637C-F4A7-0EB2-BF41BC016E2D}"/>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9318FA35-0A8E-B0AC-84C9-FE28C5D85284}"/>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4D5913C9-CABF-4B6D-1FC4-26DB82F9CB9E}"/>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5" name="Multiply 424">
              <a:extLst>
                <a:ext uri="{FF2B5EF4-FFF2-40B4-BE49-F238E27FC236}">
                  <a16:creationId xmlns:a16="http://schemas.microsoft.com/office/drawing/2014/main" id="{076E38B1-0B7D-A5AA-8FCE-60E8AF25F63D}"/>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6" name="Multiply 425">
              <a:extLst>
                <a:ext uri="{FF2B5EF4-FFF2-40B4-BE49-F238E27FC236}">
                  <a16:creationId xmlns:a16="http://schemas.microsoft.com/office/drawing/2014/main" id="{5D4D3867-2EC3-E360-922C-9F48953470C8}"/>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7" name="Multiply 426">
              <a:extLst>
                <a:ext uri="{FF2B5EF4-FFF2-40B4-BE49-F238E27FC236}">
                  <a16:creationId xmlns:a16="http://schemas.microsoft.com/office/drawing/2014/main" id="{E4F13893-8BDF-DA81-C18A-FC43F23EA853}"/>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28" name="TextBox 427">
            <a:extLst>
              <a:ext uri="{FF2B5EF4-FFF2-40B4-BE49-F238E27FC236}">
                <a16:creationId xmlns:a16="http://schemas.microsoft.com/office/drawing/2014/main" id="{5D51F65A-D9F2-9A40-6B6B-A8DCC85445DD}"/>
              </a:ext>
            </a:extLst>
          </p:cNvPr>
          <p:cNvSpPr txBox="1"/>
          <p:nvPr/>
        </p:nvSpPr>
        <p:spPr>
          <a:xfrm>
            <a:off x="4110398"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429" name="TextBox 428">
            <a:extLst>
              <a:ext uri="{FF2B5EF4-FFF2-40B4-BE49-F238E27FC236}">
                <a16:creationId xmlns:a16="http://schemas.microsoft.com/office/drawing/2014/main" id="{D65E95F0-E0A0-9925-65F5-9A300A99749E}"/>
              </a:ext>
            </a:extLst>
          </p:cNvPr>
          <p:cNvSpPr txBox="1"/>
          <p:nvPr/>
        </p:nvSpPr>
        <p:spPr>
          <a:xfrm>
            <a:off x="4108950"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330" name="Rounded Rectangle 329">
            <a:extLst>
              <a:ext uri="{FF2B5EF4-FFF2-40B4-BE49-F238E27FC236}">
                <a16:creationId xmlns:a16="http://schemas.microsoft.com/office/drawing/2014/main" id="{40C5A6FE-FB89-2F94-CBD7-AD364035DAE6}"/>
              </a:ext>
            </a:extLst>
          </p:cNvPr>
          <p:cNvSpPr/>
          <p:nvPr/>
        </p:nvSpPr>
        <p:spPr>
          <a:xfrm>
            <a:off x="2687986"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31" name="Picture 330">
            <a:extLst>
              <a:ext uri="{FF2B5EF4-FFF2-40B4-BE49-F238E27FC236}">
                <a16:creationId xmlns:a16="http://schemas.microsoft.com/office/drawing/2014/main" id="{CDC0019F-6184-BD59-074C-F343B788D1D8}"/>
              </a:ext>
            </a:extLst>
          </p:cNvPr>
          <p:cNvPicPr>
            <a:picLocks noChangeAspect="1"/>
          </p:cNvPicPr>
          <p:nvPr/>
        </p:nvPicPr>
        <p:blipFill>
          <a:blip r:embed="rId4"/>
          <a:stretch>
            <a:fillRect/>
          </a:stretch>
        </p:blipFill>
        <p:spPr>
          <a:xfrm>
            <a:off x="3449012" y="5844696"/>
            <a:ext cx="302847" cy="302847"/>
          </a:xfrm>
          <a:prstGeom prst="rect">
            <a:avLst/>
          </a:prstGeom>
        </p:spPr>
      </p:pic>
      <p:pic>
        <p:nvPicPr>
          <p:cNvPr id="333" name="Picture 332">
            <a:extLst>
              <a:ext uri="{FF2B5EF4-FFF2-40B4-BE49-F238E27FC236}">
                <a16:creationId xmlns:a16="http://schemas.microsoft.com/office/drawing/2014/main" id="{CD4D500B-EE7C-9C47-C3BD-0C4362142313}"/>
              </a:ext>
            </a:extLst>
          </p:cNvPr>
          <p:cNvPicPr>
            <a:picLocks noChangeAspect="1"/>
          </p:cNvPicPr>
          <p:nvPr/>
        </p:nvPicPr>
        <p:blipFill>
          <a:blip r:embed="rId5"/>
          <a:stretch>
            <a:fillRect/>
          </a:stretch>
        </p:blipFill>
        <p:spPr>
          <a:xfrm>
            <a:off x="2778842" y="5844696"/>
            <a:ext cx="304800" cy="304800"/>
          </a:xfrm>
          <a:prstGeom prst="rect">
            <a:avLst/>
          </a:prstGeom>
        </p:spPr>
      </p:pic>
      <p:grpSp>
        <p:nvGrpSpPr>
          <p:cNvPr id="334" name="Group 333">
            <a:extLst>
              <a:ext uri="{FF2B5EF4-FFF2-40B4-BE49-F238E27FC236}">
                <a16:creationId xmlns:a16="http://schemas.microsoft.com/office/drawing/2014/main" id="{561FAF07-8B34-F8C7-9AB1-979CCF90176C}"/>
              </a:ext>
            </a:extLst>
          </p:cNvPr>
          <p:cNvGrpSpPr/>
          <p:nvPr/>
        </p:nvGrpSpPr>
        <p:grpSpPr>
          <a:xfrm>
            <a:off x="2791542" y="3945059"/>
            <a:ext cx="894863" cy="405426"/>
            <a:chOff x="1445846" y="3606278"/>
            <a:chExt cx="894863" cy="405426"/>
          </a:xfrm>
        </p:grpSpPr>
        <p:cxnSp>
          <p:nvCxnSpPr>
            <p:cNvPr id="335" name="Straight Connector 334">
              <a:extLst>
                <a:ext uri="{FF2B5EF4-FFF2-40B4-BE49-F238E27FC236}">
                  <a16:creationId xmlns:a16="http://schemas.microsoft.com/office/drawing/2014/main" id="{6275DF9F-E5C4-934B-7482-616F6558AA2C}"/>
                </a:ext>
              </a:extLst>
            </p:cNvPr>
            <p:cNvCxnSpPr>
              <a:cxnSpLocks/>
              <a:stCxn id="339" idx="0"/>
              <a:endCxn id="3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336" name="Oval 335">
              <a:extLst>
                <a:ext uri="{FF2B5EF4-FFF2-40B4-BE49-F238E27FC236}">
                  <a16:creationId xmlns:a16="http://schemas.microsoft.com/office/drawing/2014/main" id="{9108E625-AE2E-12D0-0709-1AE04E168CC2}"/>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7" name="Oval 336">
              <a:extLst>
                <a:ext uri="{FF2B5EF4-FFF2-40B4-BE49-F238E27FC236}">
                  <a16:creationId xmlns:a16="http://schemas.microsoft.com/office/drawing/2014/main" id="{4CF75061-3DC4-20F6-32EB-8EFE4A1FC108}"/>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 name="Oval 337">
              <a:extLst>
                <a:ext uri="{FF2B5EF4-FFF2-40B4-BE49-F238E27FC236}">
                  <a16:creationId xmlns:a16="http://schemas.microsoft.com/office/drawing/2014/main" id="{90737FC1-E12E-5796-D6D7-6806D3BAFD9C}"/>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9" name="Oval 338">
              <a:extLst>
                <a:ext uri="{FF2B5EF4-FFF2-40B4-BE49-F238E27FC236}">
                  <a16:creationId xmlns:a16="http://schemas.microsoft.com/office/drawing/2014/main" id="{0EA57B70-7541-FD3C-75EC-CF3A81DA0DE7}"/>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0" name="Oval 339">
              <a:extLst>
                <a:ext uri="{FF2B5EF4-FFF2-40B4-BE49-F238E27FC236}">
                  <a16:creationId xmlns:a16="http://schemas.microsoft.com/office/drawing/2014/main" id="{BE1968D4-9F4B-0089-3AA7-710283FF7A97}"/>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1" name="Oval 340">
              <a:extLst>
                <a:ext uri="{FF2B5EF4-FFF2-40B4-BE49-F238E27FC236}">
                  <a16:creationId xmlns:a16="http://schemas.microsoft.com/office/drawing/2014/main" id="{ECA3F1C8-2891-B318-D5DC-F01A146B6708}"/>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2" name="Oval 341">
              <a:extLst>
                <a:ext uri="{FF2B5EF4-FFF2-40B4-BE49-F238E27FC236}">
                  <a16:creationId xmlns:a16="http://schemas.microsoft.com/office/drawing/2014/main" id="{176EC863-3B5A-EB19-83EC-7F1BD1B59AA8}"/>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3" name="Oval 342">
              <a:extLst>
                <a:ext uri="{FF2B5EF4-FFF2-40B4-BE49-F238E27FC236}">
                  <a16:creationId xmlns:a16="http://schemas.microsoft.com/office/drawing/2014/main" id="{96965F48-45A9-8B47-DF2A-DE9A7103BF57}"/>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 name="Oval 343">
              <a:extLst>
                <a:ext uri="{FF2B5EF4-FFF2-40B4-BE49-F238E27FC236}">
                  <a16:creationId xmlns:a16="http://schemas.microsoft.com/office/drawing/2014/main" id="{BD139C6F-3FFB-0BF1-71DE-F94CE0178874}"/>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5" name="Straight Connector 344">
              <a:extLst>
                <a:ext uri="{FF2B5EF4-FFF2-40B4-BE49-F238E27FC236}">
                  <a16:creationId xmlns:a16="http://schemas.microsoft.com/office/drawing/2014/main" id="{9DC1E6FE-D665-418E-0905-02B109F45E17}"/>
                </a:ext>
              </a:extLst>
            </p:cNvPr>
            <p:cNvCxnSpPr>
              <a:endCxn id="339"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6" name="Straight Connector 345">
              <a:extLst>
                <a:ext uri="{FF2B5EF4-FFF2-40B4-BE49-F238E27FC236}">
                  <a16:creationId xmlns:a16="http://schemas.microsoft.com/office/drawing/2014/main" id="{F22D9A5B-56D7-C1FA-DDA5-DFA5E350EBE3}"/>
                </a:ext>
              </a:extLst>
            </p:cNvPr>
            <p:cNvCxnSpPr>
              <a:stCxn id="337" idx="4"/>
              <a:endCxn id="339"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7" name="Straight Connector 346">
              <a:extLst>
                <a:ext uri="{FF2B5EF4-FFF2-40B4-BE49-F238E27FC236}">
                  <a16:creationId xmlns:a16="http://schemas.microsoft.com/office/drawing/2014/main" id="{D0994FED-C86C-ECB8-6C6C-2FD8CC6D30C2}"/>
                </a:ext>
              </a:extLst>
            </p:cNvPr>
            <p:cNvCxnSpPr>
              <a:stCxn id="337" idx="4"/>
              <a:endCxn id="341"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48" name="Straight Connector 347">
              <a:extLst>
                <a:ext uri="{FF2B5EF4-FFF2-40B4-BE49-F238E27FC236}">
                  <a16:creationId xmlns:a16="http://schemas.microsoft.com/office/drawing/2014/main" id="{5C8A86A4-1FAF-8DFD-9ADB-EE4A9D7C2647}"/>
                </a:ext>
              </a:extLst>
            </p:cNvPr>
            <p:cNvCxnSpPr>
              <a:stCxn id="338" idx="4"/>
              <a:endCxn id="341"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49" name="Straight Connector 348">
              <a:extLst>
                <a:ext uri="{FF2B5EF4-FFF2-40B4-BE49-F238E27FC236}">
                  <a16:creationId xmlns:a16="http://schemas.microsoft.com/office/drawing/2014/main" id="{F578E668-72AC-6087-0F75-CB1FA7C396DA}"/>
                </a:ext>
              </a:extLst>
            </p:cNvPr>
            <p:cNvCxnSpPr>
              <a:cxnSpLocks/>
              <a:stCxn id="339" idx="0"/>
              <a:endCxn id="338"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0" name="Straight Connector 349">
              <a:extLst>
                <a:ext uri="{FF2B5EF4-FFF2-40B4-BE49-F238E27FC236}">
                  <a16:creationId xmlns:a16="http://schemas.microsoft.com/office/drawing/2014/main" id="{4C6511B4-8283-FB7E-6FDA-412D131D1371}"/>
                </a:ext>
              </a:extLst>
            </p:cNvPr>
            <p:cNvCxnSpPr>
              <a:cxnSpLocks/>
              <a:stCxn id="339" idx="0"/>
              <a:endCxn id="340"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51" name="Straight Connector 350">
              <a:extLst>
                <a:ext uri="{FF2B5EF4-FFF2-40B4-BE49-F238E27FC236}">
                  <a16:creationId xmlns:a16="http://schemas.microsoft.com/office/drawing/2014/main" id="{73CE51A6-5B4C-FB12-A93A-F6E1D09B2083}"/>
                </a:ext>
              </a:extLst>
            </p:cNvPr>
            <p:cNvCxnSpPr>
              <a:cxnSpLocks/>
              <a:stCxn id="336" idx="4"/>
              <a:endCxn id="341"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2" name="Straight Connector 351">
              <a:extLst>
                <a:ext uri="{FF2B5EF4-FFF2-40B4-BE49-F238E27FC236}">
                  <a16:creationId xmlns:a16="http://schemas.microsoft.com/office/drawing/2014/main" id="{09F42C50-7751-A0AE-C05F-28F52B3979B7}"/>
                </a:ext>
              </a:extLst>
            </p:cNvPr>
            <p:cNvCxnSpPr>
              <a:cxnSpLocks/>
              <a:stCxn id="342" idx="0"/>
              <a:endCxn id="338"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353" name="Straight Connector 352">
              <a:extLst>
                <a:ext uri="{FF2B5EF4-FFF2-40B4-BE49-F238E27FC236}">
                  <a16:creationId xmlns:a16="http://schemas.microsoft.com/office/drawing/2014/main" id="{7870FBEC-AD4A-7DCC-011D-0124DC099505}"/>
                </a:ext>
              </a:extLst>
            </p:cNvPr>
            <p:cNvCxnSpPr>
              <a:cxnSpLocks/>
              <a:stCxn id="342" idx="0"/>
              <a:endCxn id="340"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4" name="Straight Connector 353">
              <a:extLst>
                <a:ext uri="{FF2B5EF4-FFF2-40B4-BE49-F238E27FC236}">
                  <a16:creationId xmlns:a16="http://schemas.microsoft.com/office/drawing/2014/main" id="{1ED8C6B2-73C4-8905-5E86-3DD8D4E445A7}"/>
                </a:ext>
              </a:extLst>
            </p:cNvPr>
            <p:cNvCxnSpPr>
              <a:cxnSpLocks/>
              <a:stCxn id="341" idx="0"/>
              <a:endCxn id="340"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5" name="Straight Connector 354">
              <a:extLst>
                <a:ext uri="{FF2B5EF4-FFF2-40B4-BE49-F238E27FC236}">
                  <a16:creationId xmlns:a16="http://schemas.microsoft.com/office/drawing/2014/main" id="{C5C2671A-F49F-7BB4-43B2-50630073DDE4}"/>
                </a:ext>
              </a:extLst>
            </p:cNvPr>
            <p:cNvCxnSpPr>
              <a:cxnSpLocks/>
              <a:stCxn id="336" idx="4"/>
              <a:endCxn id="342"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6" name="Straight Connector 355">
              <a:extLst>
                <a:ext uri="{FF2B5EF4-FFF2-40B4-BE49-F238E27FC236}">
                  <a16:creationId xmlns:a16="http://schemas.microsoft.com/office/drawing/2014/main" id="{3803FDE8-8E28-0B53-D174-9E9BBC96113E}"/>
                </a:ext>
              </a:extLst>
            </p:cNvPr>
            <p:cNvCxnSpPr>
              <a:cxnSpLocks/>
              <a:stCxn id="343" idx="0"/>
              <a:endCxn id="339"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7" name="Straight Connector 356">
              <a:extLst>
                <a:ext uri="{FF2B5EF4-FFF2-40B4-BE49-F238E27FC236}">
                  <a16:creationId xmlns:a16="http://schemas.microsoft.com/office/drawing/2014/main" id="{0B094114-89A6-0989-2B74-2304D3F44304}"/>
                </a:ext>
              </a:extLst>
            </p:cNvPr>
            <p:cNvCxnSpPr>
              <a:cxnSpLocks/>
              <a:stCxn id="344" idx="0"/>
              <a:endCxn id="339"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8" name="Straight Connector 357">
              <a:extLst>
                <a:ext uri="{FF2B5EF4-FFF2-40B4-BE49-F238E27FC236}">
                  <a16:creationId xmlns:a16="http://schemas.microsoft.com/office/drawing/2014/main" id="{3D58E381-0E6A-9520-DD72-90F8620BED43}"/>
                </a:ext>
              </a:extLst>
            </p:cNvPr>
            <p:cNvCxnSpPr>
              <a:cxnSpLocks/>
              <a:stCxn id="343" idx="0"/>
              <a:endCxn id="341"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59" name="Straight Connector 358">
              <a:extLst>
                <a:ext uri="{FF2B5EF4-FFF2-40B4-BE49-F238E27FC236}">
                  <a16:creationId xmlns:a16="http://schemas.microsoft.com/office/drawing/2014/main" id="{CE865824-2DEB-2B7A-F1A5-060D5EAB5A93}"/>
                </a:ext>
              </a:extLst>
            </p:cNvPr>
            <p:cNvCxnSpPr>
              <a:cxnSpLocks/>
              <a:stCxn id="344" idx="0"/>
              <a:endCxn id="342"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60" name="Straight Connector 359">
              <a:extLst>
                <a:ext uri="{FF2B5EF4-FFF2-40B4-BE49-F238E27FC236}">
                  <a16:creationId xmlns:a16="http://schemas.microsoft.com/office/drawing/2014/main" id="{4EA70511-6D35-F012-C7BD-F76E2F632A34}"/>
                </a:ext>
              </a:extLst>
            </p:cNvPr>
            <p:cNvCxnSpPr>
              <a:cxnSpLocks/>
              <a:stCxn id="344" idx="0"/>
              <a:endCxn id="341"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61" name="Straight Connector 360">
              <a:extLst>
                <a:ext uri="{FF2B5EF4-FFF2-40B4-BE49-F238E27FC236}">
                  <a16:creationId xmlns:a16="http://schemas.microsoft.com/office/drawing/2014/main" id="{372E90A2-ED78-3731-3EBD-0E9BDB88BA12}"/>
                </a:ext>
              </a:extLst>
            </p:cNvPr>
            <p:cNvCxnSpPr>
              <a:cxnSpLocks/>
              <a:stCxn id="343" idx="0"/>
              <a:endCxn id="342"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362" name="Group 361">
            <a:extLst>
              <a:ext uri="{FF2B5EF4-FFF2-40B4-BE49-F238E27FC236}">
                <a16:creationId xmlns:a16="http://schemas.microsoft.com/office/drawing/2014/main" id="{79A331EE-59F2-2473-62CC-1F172A7305DB}"/>
              </a:ext>
            </a:extLst>
          </p:cNvPr>
          <p:cNvGrpSpPr/>
          <p:nvPr/>
        </p:nvGrpSpPr>
        <p:grpSpPr>
          <a:xfrm>
            <a:off x="2808254" y="4554650"/>
            <a:ext cx="935680" cy="537319"/>
            <a:chOff x="6662617" y="2245853"/>
            <a:chExt cx="935680" cy="537319"/>
          </a:xfrm>
        </p:grpSpPr>
        <p:sp>
          <p:nvSpPr>
            <p:cNvPr id="363" name="Oval 362">
              <a:extLst>
                <a:ext uri="{FF2B5EF4-FFF2-40B4-BE49-F238E27FC236}">
                  <a16:creationId xmlns:a16="http://schemas.microsoft.com/office/drawing/2014/main" id="{C714E171-EA27-0C6B-4386-302C3ADC2747}"/>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4" name="Oval 363">
              <a:extLst>
                <a:ext uri="{FF2B5EF4-FFF2-40B4-BE49-F238E27FC236}">
                  <a16:creationId xmlns:a16="http://schemas.microsoft.com/office/drawing/2014/main" id="{AA5473A1-EB81-E7EE-15D8-246ABA14D8DC}"/>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5" name="Oval 364">
              <a:extLst>
                <a:ext uri="{FF2B5EF4-FFF2-40B4-BE49-F238E27FC236}">
                  <a16:creationId xmlns:a16="http://schemas.microsoft.com/office/drawing/2014/main" id="{697F4BF0-53D1-A163-7AB8-C1D627EFA7AC}"/>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6" name="Oval 365">
              <a:extLst>
                <a:ext uri="{FF2B5EF4-FFF2-40B4-BE49-F238E27FC236}">
                  <a16:creationId xmlns:a16="http://schemas.microsoft.com/office/drawing/2014/main" id="{524C087E-4AAD-2DA6-0E15-61B83FF9FC0E}"/>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7" name="Oval 366">
              <a:extLst>
                <a:ext uri="{FF2B5EF4-FFF2-40B4-BE49-F238E27FC236}">
                  <a16:creationId xmlns:a16="http://schemas.microsoft.com/office/drawing/2014/main" id="{C18C0FF9-A642-8CC7-2429-B2A2AEC5AD70}"/>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8" name="Oval 367">
              <a:extLst>
                <a:ext uri="{FF2B5EF4-FFF2-40B4-BE49-F238E27FC236}">
                  <a16:creationId xmlns:a16="http://schemas.microsoft.com/office/drawing/2014/main" id="{50193D95-0DEF-D2E8-5C0A-56FCD1674A62}"/>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9" name="Oval 368">
              <a:extLst>
                <a:ext uri="{FF2B5EF4-FFF2-40B4-BE49-F238E27FC236}">
                  <a16:creationId xmlns:a16="http://schemas.microsoft.com/office/drawing/2014/main" id="{11D5EEA7-8370-99D4-D28E-6D3793B83E0D}"/>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0" name="Oval 369">
              <a:extLst>
                <a:ext uri="{FF2B5EF4-FFF2-40B4-BE49-F238E27FC236}">
                  <a16:creationId xmlns:a16="http://schemas.microsoft.com/office/drawing/2014/main" id="{3B35F607-DA74-87A4-273E-500C29164EB0}"/>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1" name="Oval 370">
              <a:extLst>
                <a:ext uri="{FF2B5EF4-FFF2-40B4-BE49-F238E27FC236}">
                  <a16:creationId xmlns:a16="http://schemas.microsoft.com/office/drawing/2014/main" id="{47A84861-413C-1396-AFE4-31A13F493192}"/>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2" name="Oval 371">
              <a:extLst>
                <a:ext uri="{FF2B5EF4-FFF2-40B4-BE49-F238E27FC236}">
                  <a16:creationId xmlns:a16="http://schemas.microsoft.com/office/drawing/2014/main" id="{E2C8711A-0605-DFB0-7675-CB896508163E}"/>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3" name="Oval 372">
              <a:extLst>
                <a:ext uri="{FF2B5EF4-FFF2-40B4-BE49-F238E27FC236}">
                  <a16:creationId xmlns:a16="http://schemas.microsoft.com/office/drawing/2014/main" id="{CECCF7F4-92AA-133C-C557-4AE8C03570D2}"/>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4" name="Oval 373">
              <a:extLst>
                <a:ext uri="{FF2B5EF4-FFF2-40B4-BE49-F238E27FC236}">
                  <a16:creationId xmlns:a16="http://schemas.microsoft.com/office/drawing/2014/main" id="{41706546-495D-FD64-9F24-D389E047C8FE}"/>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5" name="Multiply 374">
              <a:extLst>
                <a:ext uri="{FF2B5EF4-FFF2-40B4-BE49-F238E27FC236}">
                  <a16:creationId xmlns:a16="http://schemas.microsoft.com/office/drawing/2014/main" id="{F2716755-F9B3-70F0-7E16-5AF92C7DA24A}"/>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6" name="Multiply 375">
              <a:extLst>
                <a:ext uri="{FF2B5EF4-FFF2-40B4-BE49-F238E27FC236}">
                  <a16:creationId xmlns:a16="http://schemas.microsoft.com/office/drawing/2014/main" id="{3F2776FA-14FC-1CC1-DACE-7BF16BAE03EC}"/>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7" name="Multiply 376">
              <a:extLst>
                <a:ext uri="{FF2B5EF4-FFF2-40B4-BE49-F238E27FC236}">
                  <a16:creationId xmlns:a16="http://schemas.microsoft.com/office/drawing/2014/main" id="{A6CCD0ED-6456-CE81-AB75-CB4E3374DAD4}"/>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78" name="TextBox 377">
            <a:extLst>
              <a:ext uri="{FF2B5EF4-FFF2-40B4-BE49-F238E27FC236}">
                <a16:creationId xmlns:a16="http://schemas.microsoft.com/office/drawing/2014/main" id="{2DDB95E2-B962-8514-C77C-D6FFB1D6D4FB}"/>
              </a:ext>
            </a:extLst>
          </p:cNvPr>
          <p:cNvSpPr txBox="1"/>
          <p:nvPr/>
        </p:nvSpPr>
        <p:spPr>
          <a:xfrm>
            <a:off x="2707029"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379" name="TextBox 378">
            <a:extLst>
              <a:ext uri="{FF2B5EF4-FFF2-40B4-BE49-F238E27FC236}">
                <a16:creationId xmlns:a16="http://schemas.microsoft.com/office/drawing/2014/main" id="{F55EF7F9-7827-1E7F-AF68-81CFD38D3B0C}"/>
              </a:ext>
            </a:extLst>
          </p:cNvPr>
          <p:cNvSpPr txBox="1"/>
          <p:nvPr/>
        </p:nvSpPr>
        <p:spPr>
          <a:xfrm>
            <a:off x="2705581"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232" name="Rounded Rectangle 231">
            <a:extLst>
              <a:ext uri="{FF2B5EF4-FFF2-40B4-BE49-F238E27FC236}">
                <a16:creationId xmlns:a16="http://schemas.microsoft.com/office/drawing/2014/main" id="{8EC8B21E-AC6C-34B0-D503-3151A85833F8}"/>
              </a:ext>
            </a:extLst>
          </p:cNvPr>
          <p:cNvSpPr/>
          <p:nvPr/>
        </p:nvSpPr>
        <p:spPr>
          <a:xfrm>
            <a:off x="1285636" y="3448304"/>
            <a:ext cx="1144957" cy="2829172"/>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33" name="Picture 232">
            <a:extLst>
              <a:ext uri="{FF2B5EF4-FFF2-40B4-BE49-F238E27FC236}">
                <a16:creationId xmlns:a16="http://schemas.microsoft.com/office/drawing/2014/main" id="{2FA09888-AC3E-3B7C-F934-3E82CD51E038}"/>
              </a:ext>
            </a:extLst>
          </p:cNvPr>
          <p:cNvPicPr>
            <a:picLocks noChangeAspect="1"/>
          </p:cNvPicPr>
          <p:nvPr/>
        </p:nvPicPr>
        <p:blipFill>
          <a:blip r:embed="rId4"/>
          <a:stretch>
            <a:fillRect/>
          </a:stretch>
        </p:blipFill>
        <p:spPr>
          <a:xfrm>
            <a:off x="2046662" y="5844696"/>
            <a:ext cx="302847" cy="302847"/>
          </a:xfrm>
          <a:prstGeom prst="rect">
            <a:avLst/>
          </a:prstGeom>
        </p:spPr>
      </p:pic>
      <p:pic>
        <p:nvPicPr>
          <p:cNvPr id="235" name="Picture 234">
            <a:extLst>
              <a:ext uri="{FF2B5EF4-FFF2-40B4-BE49-F238E27FC236}">
                <a16:creationId xmlns:a16="http://schemas.microsoft.com/office/drawing/2014/main" id="{4DF830D0-6E9C-A16E-0FB4-17D1D36CD718}"/>
              </a:ext>
            </a:extLst>
          </p:cNvPr>
          <p:cNvPicPr>
            <a:picLocks noChangeAspect="1"/>
          </p:cNvPicPr>
          <p:nvPr/>
        </p:nvPicPr>
        <p:blipFill>
          <a:blip r:embed="rId5"/>
          <a:stretch>
            <a:fillRect/>
          </a:stretch>
        </p:blipFill>
        <p:spPr>
          <a:xfrm>
            <a:off x="1376492" y="5844696"/>
            <a:ext cx="304800" cy="304800"/>
          </a:xfrm>
          <a:prstGeom prst="rect">
            <a:avLst/>
          </a:prstGeom>
        </p:spPr>
      </p:pic>
      <p:grpSp>
        <p:nvGrpSpPr>
          <p:cNvPr id="236" name="Group 235">
            <a:extLst>
              <a:ext uri="{FF2B5EF4-FFF2-40B4-BE49-F238E27FC236}">
                <a16:creationId xmlns:a16="http://schemas.microsoft.com/office/drawing/2014/main" id="{697FCE8D-81CE-2328-E2DB-169379B5EB65}"/>
              </a:ext>
            </a:extLst>
          </p:cNvPr>
          <p:cNvGrpSpPr/>
          <p:nvPr/>
        </p:nvGrpSpPr>
        <p:grpSpPr>
          <a:xfrm>
            <a:off x="1389192" y="3945059"/>
            <a:ext cx="894863" cy="405426"/>
            <a:chOff x="1445846" y="3606278"/>
            <a:chExt cx="894863" cy="405426"/>
          </a:xfrm>
        </p:grpSpPr>
        <p:cxnSp>
          <p:nvCxnSpPr>
            <p:cNvPr id="237" name="Straight Connector 236">
              <a:extLst>
                <a:ext uri="{FF2B5EF4-FFF2-40B4-BE49-F238E27FC236}">
                  <a16:creationId xmlns:a16="http://schemas.microsoft.com/office/drawing/2014/main" id="{9F2A6131-8D4A-2ABE-BD9E-09EEF29D6462}"/>
                </a:ext>
              </a:extLst>
            </p:cNvPr>
            <p:cNvCxnSpPr>
              <a:cxnSpLocks/>
              <a:stCxn id="241" idx="0"/>
              <a:endCxn id="242"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sp>
          <p:nvSpPr>
            <p:cNvPr id="238" name="Oval 237">
              <a:extLst>
                <a:ext uri="{FF2B5EF4-FFF2-40B4-BE49-F238E27FC236}">
                  <a16:creationId xmlns:a16="http://schemas.microsoft.com/office/drawing/2014/main" id="{7306150D-6FC6-97E4-0E2D-B8689487FD85}"/>
                </a:ext>
              </a:extLst>
            </p:cNvPr>
            <p:cNvSpPr/>
            <p:nvPr/>
          </p:nvSpPr>
          <p:spPr>
            <a:xfrm flipV="1">
              <a:off x="1445846" y="390983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81D07FE3-63BB-B531-020A-0DDE0D19A018}"/>
                </a:ext>
              </a:extLst>
            </p:cNvPr>
            <p:cNvSpPr/>
            <p:nvPr/>
          </p:nvSpPr>
          <p:spPr>
            <a:xfrm flipV="1">
              <a:off x="1697745"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AAECE819-4CD4-F91B-E054-494F9B3EFA59}"/>
                </a:ext>
              </a:extLst>
            </p:cNvPr>
            <p:cNvSpPr/>
            <p:nvPr/>
          </p:nvSpPr>
          <p:spPr>
            <a:xfrm flipV="1">
              <a:off x="1934704" y="3905566"/>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F7AF6532-8053-21C4-3E4C-13BF6B8FA710}"/>
                </a:ext>
              </a:extLst>
            </p:cNvPr>
            <p:cNvSpPr/>
            <p:nvPr/>
          </p:nvSpPr>
          <p:spPr>
            <a:xfrm flipV="1">
              <a:off x="1584576" y="3747537"/>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4B9E92F9-3826-7A9F-D135-1302313A8FA7}"/>
                </a:ext>
              </a:extLst>
            </p:cNvPr>
            <p:cNvSpPr/>
            <p:nvPr/>
          </p:nvSpPr>
          <p:spPr>
            <a:xfrm flipV="1">
              <a:off x="2168951" y="39059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E4CEFF2A-6133-91BB-72C7-F6F751DDE5B6}"/>
                </a:ext>
              </a:extLst>
            </p:cNvPr>
            <p:cNvSpPr/>
            <p:nvPr/>
          </p:nvSpPr>
          <p:spPr>
            <a:xfrm flipV="1">
              <a:off x="1815217"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46375C9D-368D-89C6-B959-B1476549679F}"/>
                </a:ext>
              </a:extLst>
            </p:cNvPr>
            <p:cNvSpPr/>
            <p:nvPr/>
          </p:nvSpPr>
          <p:spPr>
            <a:xfrm flipV="1">
              <a:off x="2044088" y="3747903"/>
              <a:ext cx="171758" cy="101872"/>
            </a:xfrm>
            <a:prstGeom prst="ellipse">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F1C700CC-23C4-13FF-C44D-42C14203309C}"/>
                </a:ext>
              </a:extLst>
            </p:cNvPr>
            <p:cNvSpPr/>
            <p:nvPr/>
          </p:nvSpPr>
          <p:spPr>
            <a:xfrm flipV="1">
              <a:off x="1697745"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2E04621A-F866-0435-8DF7-D7C9B75955F1}"/>
                </a:ext>
              </a:extLst>
            </p:cNvPr>
            <p:cNvSpPr/>
            <p:nvPr/>
          </p:nvSpPr>
          <p:spPr>
            <a:xfrm flipV="1">
              <a:off x="1926616" y="3606278"/>
              <a:ext cx="171758" cy="10187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7" name="Straight Connector 246">
              <a:extLst>
                <a:ext uri="{FF2B5EF4-FFF2-40B4-BE49-F238E27FC236}">
                  <a16:creationId xmlns:a16="http://schemas.microsoft.com/office/drawing/2014/main" id="{58DD671F-6A3A-623E-E8E8-7E95733EAFF7}"/>
                </a:ext>
              </a:extLst>
            </p:cNvPr>
            <p:cNvCxnSpPr>
              <a:endCxn id="241" idx="0"/>
            </p:cNvCxnSpPr>
            <p:nvPr/>
          </p:nvCxnSpPr>
          <p:spPr>
            <a:xfrm flipV="1">
              <a:off x="1538213" y="3849408"/>
              <a:ext cx="132241"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8" name="Straight Connector 247">
              <a:extLst>
                <a:ext uri="{FF2B5EF4-FFF2-40B4-BE49-F238E27FC236}">
                  <a16:creationId xmlns:a16="http://schemas.microsoft.com/office/drawing/2014/main" id="{5CA53A13-E592-2D65-EEE2-58A0D5B27609}"/>
                </a:ext>
              </a:extLst>
            </p:cNvPr>
            <p:cNvCxnSpPr>
              <a:stCxn id="239" idx="4"/>
              <a:endCxn id="241" idx="0"/>
            </p:cNvCxnSpPr>
            <p:nvPr/>
          </p:nvCxnSpPr>
          <p:spPr>
            <a:xfrm flipH="1" flipV="1">
              <a:off x="1670455" y="3849408"/>
              <a:ext cx="113169"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9" name="Straight Connector 248">
              <a:extLst>
                <a:ext uri="{FF2B5EF4-FFF2-40B4-BE49-F238E27FC236}">
                  <a16:creationId xmlns:a16="http://schemas.microsoft.com/office/drawing/2014/main" id="{746A8679-3F35-B7DA-CC66-13EC60D86FBE}"/>
                </a:ext>
              </a:extLst>
            </p:cNvPr>
            <p:cNvCxnSpPr>
              <a:stCxn id="239" idx="4"/>
              <a:endCxn id="243" idx="0"/>
            </p:cNvCxnSpPr>
            <p:nvPr/>
          </p:nvCxnSpPr>
          <p:spPr>
            <a:xfrm flipV="1">
              <a:off x="1783624" y="3849775"/>
              <a:ext cx="117472"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0" name="Straight Connector 249">
              <a:extLst>
                <a:ext uri="{FF2B5EF4-FFF2-40B4-BE49-F238E27FC236}">
                  <a16:creationId xmlns:a16="http://schemas.microsoft.com/office/drawing/2014/main" id="{77E7A4C6-3E0C-FDF5-9DB1-8AAEE142343D}"/>
                </a:ext>
              </a:extLst>
            </p:cNvPr>
            <p:cNvCxnSpPr>
              <a:stCxn id="240" idx="4"/>
              <a:endCxn id="243" idx="0"/>
            </p:cNvCxnSpPr>
            <p:nvPr/>
          </p:nvCxnSpPr>
          <p:spPr>
            <a:xfrm flipH="1" flipV="1">
              <a:off x="1901096" y="3849775"/>
              <a:ext cx="119488"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1" name="Straight Connector 250">
              <a:extLst>
                <a:ext uri="{FF2B5EF4-FFF2-40B4-BE49-F238E27FC236}">
                  <a16:creationId xmlns:a16="http://schemas.microsoft.com/office/drawing/2014/main" id="{92BDE537-95B2-2E65-0783-21860BF76B08}"/>
                </a:ext>
              </a:extLst>
            </p:cNvPr>
            <p:cNvCxnSpPr>
              <a:cxnSpLocks/>
              <a:stCxn id="241" idx="0"/>
              <a:endCxn id="240" idx="4"/>
            </p:cNvCxnSpPr>
            <p:nvPr/>
          </p:nvCxnSpPr>
          <p:spPr>
            <a:xfrm>
              <a:off x="1670455" y="3849408"/>
              <a:ext cx="350129" cy="5615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2" name="Straight Connector 251">
              <a:extLst>
                <a:ext uri="{FF2B5EF4-FFF2-40B4-BE49-F238E27FC236}">
                  <a16:creationId xmlns:a16="http://schemas.microsoft.com/office/drawing/2014/main" id="{4F2BDB02-EBE8-0BC5-E093-F774E921EBBB}"/>
                </a:ext>
              </a:extLst>
            </p:cNvPr>
            <p:cNvCxnSpPr>
              <a:cxnSpLocks/>
              <a:stCxn id="241" idx="0"/>
              <a:endCxn id="242" idx="4"/>
            </p:cNvCxnSpPr>
            <p:nvPr/>
          </p:nvCxnSpPr>
          <p:spPr>
            <a:xfrm>
              <a:off x="1670455" y="3849408"/>
              <a:ext cx="584375" cy="56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53" name="Straight Connector 252">
              <a:extLst>
                <a:ext uri="{FF2B5EF4-FFF2-40B4-BE49-F238E27FC236}">
                  <a16:creationId xmlns:a16="http://schemas.microsoft.com/office/drawing/2014/main" id="{CCFB9A10-8B64-7B0E-EB5B-DEC8AA14C0CE}"/>
                </a:ext>
              </a:extLst>
            </p:cNvPr>
            <p:cNvCxnSpPr>
              <a:cxnSpLocks/>
              <a:stCxn id="238" idx="4"/>
              <a:endCxn id="243" idx="0"/>
            </p:cNvCxnSpPr>
            <p:nvPr/>
          </p:nvCxnSpPr>
          <p:spPr>
            <a:xfrm flipV="1">
              <a:off x="1531725" y="3849775"/>
              <a:ext cx="369371"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4" name="Straight Connector 253">
              <a:extLst>
                <a:ext uri="{FF2B5EF4-FFF2-40B4-BE49-F238E27FC236}">
                  <a16:creationId xmlns:a16="http://schemas.microsoft.com/office/drawing/2014/main" id="{AD074FE4-1A0F-17DB-7A0C-575844E9E7E3}"/>
                </a:ext>
              </a:extLst>
            </p:cNvPr>
            <p:cNvCxnSpPr>
              <a:cxnSpLocks/>
              <a:stCxn id="244" idx="0"/>
              <a:endCxn id="240" idx="4"/>
            </p:cNvCxnSpPr>
            <p:nvPr/>
          </p:nvCxnSpPr>
          <p:spPr>
            <a:xfrm flipH="1">
              <a:off x="2020584" y="3849775"/>
              <a:ext cx="109383" cy="55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5" name="Straight Connector 254">
              <a:extLst>
                <a:ext uri="{FF2B5EF4-FFF2-40B4-BE49-F238E27FC236}">
                  <a16:creationId xmlns:a16="http://schemas.microsoft.com/office/drawing/2014/main" id="{32A8A132-CD04-638A-D9AE-923F585047F7}"/>
                </a:ext>
              </a:extLst>
            </p:cNvPr>
            <p:cNvCxnSpPr>
              <a:cxnSpLocks/>
              <a:stCxn id="244" idx="0"/>
              <a:endCxn id="242" idx="4"/>
            </p:cNvCxnSpPr>
            <p:nvPr/>
          </p:nvCxnSpPr>
          <p:spPr>
            <a:xfrm>
              <a:off x="2129967" y="3849775"/>
              <a:ext cx="124863"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080D91C3-C6FA-0636-D822-0EB0DC4295E5}"/>
                </a:ext>
              </a:extLst>
            </p:cNvPr>
            <p:cNvCxnSpPr>
              <a:cxnSpLocks/>
              <a:stCxn id="243" idx="0"/>
              <a:endCxn id="242" idx="4"/>
            </p:cNvCxnSpPr>
            <p:nvPr/>
          </p:nvCxnSpPr>
          <p:spPr>
            <a:xfrm>
              <a:off x="1901096" y="3849775"/>
              <a:ext cx="353734" cy="56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7" name="Straight Connector 256">
              <a:extLst>
                <a:ext uri="{FF2B5EF4-FFF2-40B4-BE49-F238E27FC236}">
                  <a16:creationId xmlns:a16="http://schemas.microsoft.com/office/drawing/2014/main" id="{72658C0B-C924-4527-8219-CD765B4E9EA9}"/>
                </a:ext>
              </a:extLst>
            </p:cNvPr>
            <p:cNvCxnSpPr>
              <a:cxnSpLocks/>
              <a:stCxn id="238" idx="4"/>
              <a:endCxn id="244" idx="0"/>
            </p:cNvCxnSpPr>
            <p:nvPr/>
          </p:nvCxnSpPr>
          <p:spPr>
            <a:xfrm flipV="1">
              <a:off x="1531725" y="3849775"/>
              <a:ext cx="598242" cy="60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8" name="Straight Connector 257">
              <a:extLst>
                <a:ext uri="{FF2B5EF4-FFF2-40B4-BE49-F238E27FC236}">
                  <a16:creationId xmlns:a16="http://schemas.microsoft.com/office/drawing/2014/main" id="{A91A421B-4CD0-64D2-692E-49CC8F2ECF08}"/>
                </a:ext>
              </a:extLst>
            </p:cNvPr>
            <p:cNvCxnSpPr>
              <a:cxnSpLocks/>
              <a:stCxn id="245" idx="0"/>
              <a:endCxn id="241" idx="4"/>
            </p:cNvCxnSpPr>
            <p:nvPr/>
          </p:nvCxnSpPr>
          <p:spPr>
            <a:xfrm flipH="1">
              <a:off x="1670455" y="3708150"/>
              <a:ext cx="113169"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9" name="Straight Connector 258">
              <a:extLst>
                <a:ext uri="{FF2B5EF4-FFF2-40B4-BE49-F238E27FC236}">
                  <a16:creationId xmlns:a16="http://schemas.microsoft.com/office/drawing/2014/main" id="{03499918-39D8-C204-8331-1052DCA64CC8}"/>
                </a:ext>
              </a:extLst>
            </p:cNvPr>
            <p:cNvCxnSpPr>
              <a:cxnSpLocks/>
              <a:stCxn id="246" idx="0"/>
              <a:endCxn id="241" idx="4"/>
            </p:cNvCxnSpPr>
            <p:nvPr/>
          </p:nvCxnSpPr>
          <p:spPr>
            <a:xfrm flipH="1">
              <a:off x="1670455" y="3708150"/>
              <a:ext cx="342040" cy="39387"/>
            </a:xfrm>
            <a:prstGeom prst="line">
              <a:avLst/>
            </a:prstGeom>
          </p:spPr>
          <p:style>
            <a:lnRef idx="2">
              <a:schemeClr val="accent1"/>
            </a:lnRef>
            <a:fillRef idx="0">
              <a:schemeClr val="accent1"/>
            </a:fillRef>
            <a:effectRef idx="1">
              <a:schemeClr val="accent1"/>
            </a:effectRef>
            <a:fontRef idx="minor">
              <a:schemeClr val="tx1"/>
            </a:fontRef>
          </p:style>
        </p:cxnSp>
        <p:cxnSp>
          <p:nvCxnSpPr>
            <p:cNvPr id="260" name="Straight Connector 259">
              <a:extLst>
                <a:ext uri="{FF2B5EF4-FFF2-40B4-BE49-F238E27FC236}">
                  <a16:creationId xmlns:a16="http://schemas.microsoft.com/office/drawing/2014/main" id="{8974011F-79DC-E443-ECF0-854E4B699F08}"/>
                </a:ext>
              </a:extLst>
            </p:cNvPr>
            <p:cNvCxnSpPr>
              <a:cxnSpLocks/>
              <a:stCxn id="245" idx="0"/>
              <a:endCxn id="243" idx="4"/>
            </p:cNvCxnSpPr>
            <p:nvPr/>
          </p:nvCxnSpPr>
          <p:spPr>
            <a:xfrm>
              <a:off x="1783624"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1" name="Straight Connector 260">
              <a:extLst>
                <a:ext uri="{FF2B5EF4-FFF2-40B4-BE49-F238E27FC236}">
                  <a16:creationId xmlns:a16="http://schemas.microsoft.com/office/drawing/2014/main" id="{17FC4F9C-66AD-3E2A-F1AC-DF61465CABFB}"/>
                </a:ext>
              </a:extLst>
            </p:cNvPr>
            <p:cNvCxnSpPr>
              <a:cxnSpLocks/>
              <a:stCxn id="246" idx="0"/>
              <a:endCxn id="244" idx="4"/>
            </p:cNvCxnSpPr>
            <p:nvPr/>
          </p:nvCxnSpPr>
          <p:spPr>
            <a:xfrm>
              <a:off x="2012495" y="3708150"/>
              <a:ext cx="117472"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2" name="Straight Connector 261">
              <a:extLst>
                <a:ext uri="{FF2B5EF4-FFF2-40B4-BE49-F238E27FC236}">
                  <a16:creationId xmlns:a16="http://schemas.microsoft.com/office/drawing/2014/main" id="{6409DD6B-5714-CFDE-A379-D324E0CA7BBB}"/>
                </a:ext>
              </a:extLst>
            </p:cNvPr>
            <p:cNvCxnSpPr>
              <a:cxnSpLocks/>
              <a:stCxn id="246" idx="0"/>
              <a:endCxn id="243" idx="4"/>
            </p:cNvCxnSpPr>
            <p:nvPr/>
          </p:nvCxnSpPr>
          <p:spPr>
            <a:xfrm flipH="1">
              <a:off x="1901096" y="3708150"/>
              <a:ext cx="111399" cy="397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3" name="Straight Connector 262">
              <a:extLst>
                <a:ext uri="{FF2B5EF4-FFF2-40B4-BE49-F238E27FC236}">
                  <a16:creationId xmlns:a16="http://schemas.microsoft.com/office/drawing/2014/main" id="{BF6A5EE8-D0BE-89F6-2BA5-77BF90DD9A8E}"/>
                </a:ext>
              </a:extLst>
            </p:cNvPr>
            <p:cNvCxnSpPr>
              <a:cxnSpLocks/>
              <a:stCxn id="245" idx="0"/>
              <a:endCxn id="244" idx="4"/>
            </p:cNvCxnSpPr>
            <p:nvPr/>
          </p:nvCxnSpPr>
          <p:spPr>
            <a:xfrm>
              <a:off x="1783624" y="3708150"/>
              <a:ext cx="346343" cy="39753"/>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264" name="Group 263">
            <a:extLst>
              <a:ext uri="{FF2B5EF4-FFF2-40B4-BE49-F238E27FC236}">
                <a16:creationId xmlns:a16="http://schemas.microsoft.com/office/drawing/2014/main" id="{A6818306-EA68-4DAC-E5D0-9E03CD29D4CE}"/>
              </a:ext>
            </a:extLst>
          </p:cNvPr>
          <p:cNvGrpSpPr/>
          <p:nvPr/>
        </p:nvGrpSpPr>
        <p:grpSpPr>
          <a:xfrm>
            <a:off x="1405904" y="4554650"/>
            <a:ext cx="935680" cy="537319"/>
            <a:chOff x="6662617" y="2245853"/>
            <a:chExt cx="935680" cy="537319"/>
          </a:xfrm>
        </p:grpSpPr>
        <p:sp>
          <p:nvSpPr>
            <p:cNvPr id="265" name="Oval 264">
              <a:extLst>
                <a:ext uri="{FF2B5EF4-FFF2-40B4-BE49-F238E27FC236}">
                  <a16:creationId xmlns:a16="http://schemas.microsoft.com/office/drawing/2014/main" id="{1660F756-0147-63D6-229F-BB51E9CB0EFE}"/>
                </a:ext>
              </a:extLst>
            </p:cNvPr>
            <p:cNvSpPr/>
            <p:nvPr/>
          </p:nvSpPr>
          <p:spPr>
            <a:xfrm flipV="1">
              <a:off x="6662617" y="229842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 name="Oval 265">
              <a:extLst>
                <a:ext uri="{FF2B5EF4-FFF2-40B4-BE49-F238E27FC236}">
                  <a16:creationId xmlns:a16="http://schemas.microsoft.com/office/drawing/2014/main" id="{4CDE417E-847B-570C-6747-0F50E08CCC56}"/>
                </a:ext>
              </a:extLst>
            </p:cNvPr>
            <p:cNvSpPr/>
            <p:nvPr/>
          </p:nvSpPr>
          <p:spPr>
            <a:xfrm flipV="1">
              <a:off x="6914516" y="2294560"/>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7" name="Oval 266">
              <a:extLst>
                <a:ext uri="{FF2B5EF4-FFF2-40B4-BE49-F238E27FC236}">
                  <a16:creationId xmlns:a16="http://schemas.microsoft.com/office/drawing/2014/main" id="{1C7614DB-9AE7-E6BF-6583-2D503A0779E6}"/>
                </a:ext>
              </a:extLst>
            </p:cNvPr>
            <p:cNvSpPr/>
            <p:nvPr/>
          </p:nvSpPr>
          <p:spPr>
            <a:xfrm flipV="1">
              <a:off x="7151475" y="2294154"/>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 name="Oval 267">
              <a:extLst>
                <a:ext uri="{FF2B5EF4-FFF2-40B4-BE49-F238E27FC236}">
                  <a16:creationId xmlns:a16="http://schemas.microsoft.com/office/drawing/2014/main" id="{AF4A6ED2-3F23-73BB-FA61-68837F30118D}"/>
                </a:ext>
              </a:extLst>
            </p:cNvPr>
            <p:cNvSpPr/>
            <p:nvPr/>
          </p:nvSpPr>
          <p:spPr>
            <a:xfrm flipV="1">
              <a:off x="7385722" y="2294560"/>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 name="Oval 268">
              <a:extLst>
                <a:ext uri="{FF2B5EF4-FFF2-40B4-BE49-F238E27FC236}">
                  <a16:creationId xmlns:a16="http://schemas.microsoft.com/office/drawing/2014/main" id="{C17302F6-6662-31C1-0A20-8A275601480B}"/>
                </a:ext>
              </a:extLst>
            </p:cNvPr>
            <p:cNvSpPr/>
            <p:nvPr/>
          </p:nvSpPr>
          <p:spPr>
            <a:xfrm flipV="1">
              <a:off x="6672079" y="246022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455A2479-EF6D-29B9-70BC-EABA5AD88ABD}"/>
                </a:ext>
              </a:extLst>
            </p:cNvPr>
            <p:cNvSpPr/>
            <p:nvPr/>
          </p:nvSpPr>
          <p:spPr>
            <a:xfrm flipV="1">
              <a:off x="6923978" y="2456367"/>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9E367CCB-ACDB-2922-5E26-BD83F17AF628}"/>
                </a:ext>
              </a:extLst>
            </p:cNvPr>
            <p:cNvSpPr/>
            <p:nvPr/>
          </p:nvSpPr>
          <p:spPr>
            <a:xfrm flipV="1">
              <a:off x="7160937" y="2455961"/>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D021C71A-20F3-15F3-19B2-A51B543861F8}"/>
                </a:ext>
              </a:extLst>
            </p:cNvPr>
            <p:cNvSpPr/>
            <p:nvPr/>
          </p:nvSpPr>
          <p:spPr>
            <a:xfrm flipV="1">
              <a:off x="7395184" y="2456367"/>
              <a:ext cx="171758" cy="101872"/>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E5D47431-592D-6C02-3AEC-C801D208EABF}"/>
                </a:ext>
              </a:extLst>
            </p:cNvPr>
            <p:cNvSpPr/>
            <p:nvPr/>
          </p:nvSpPr>
          <p:spPr>
            <a:xfrm flipV="1">
              <a:off x="6672079" y="263017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 name="Oval 273">
              <a:extLst>
                <a:ext uri="{FF2B5EF4-FFF2-40B4-BE49-F238E27FC236}">
                  <a16:creationId xmlns:a16="http://schemas.microsoft.com/office/drawing/2014/main" id="{E199E684-E057-23C8-AA04-CDE1EC85C63C}"/>
                </a:ext>
              </a:extLst>
            </p:cNvPr>
            <p:cNvSpPr/>
            <p:nvPr/>
          </p:nvSpPr>
          <p:spPr>
            <a:xfrm flipV="1">
              <a:off x="6923978"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 name="Oval 274">
              <a:extLst>
                <a:ext uri="{FF2B5EF4-FFF2-40B4-BE49-F238E27FC236}">
                  <a16:creationId xmlns:a16="http://schemas.microsoft.com/office/drawing/2014/main" id="{F9A15F80-448B-0D87-4304-C7DB72E78C5D}"/>
                </a:ext>
              </a:extLst>
            </p:cNvPr>
            <p:cNvSpPr/>
            <p:nvPr/>
          </p:nvSpPr>
          <p:spPr>
            <a:xfrm flipV="1">
              <a:off x="7160937" y="2625906"/>
              <a:ext cx="171758" cy="101872"/>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6" name="Oval 275">
              <a:extLst>
                <a:ext uri="{FF2B5EF4-FFF2-40B4-BE49-F238E27FC236}">
                  <a16:creationId xmlns:a16="http://schemas.microsoft.com/office/drawing/2014/main" id="{7BBBB7B1-CDEF-836E-E780-E7B3395370A3}"/>
                </a:ext>
              </a:extLst>
            </p:cNvPr>
            <p:cNvSpPr/>
            <p:nvPr/>
          </p:nvSpPr>
          <p:spPr>
            <a:xfrm flipV="1">
              <a:off x="7395184" y="2626312"/>
              <a:ext cx="171758" cy="101872"/>
            </a:xfrm>
            <a:prstGeom prst="ellipse">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7" name="Multiply 276">
              <a:extLst>
                <a:ext uri="{FF2B5EF4-FFF2-40B4-BE49-F238E27FC236}">
                  <a16:creationId xmlns:a16="http://schemas.microsoft.com/office/drawing/2014/main" id="{8FDFB96E-B251-02EC-0EF2-0FFD9FFAAB69}"/>
                </a:ext>
              </a:extLst>
            </p:cNvPr>
            <p:cNvSpPr/>
            <p:nvPr/>
          </p:nvSpPr>
          <p:spPr>
            <a:xfrm>
              <a:off x="6887737" y="2245853"/>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8" name="Multiply 277">
              <a:extLst>
                <a:ext uri="{FF2B5EF4-FFF2-40B4-BE49-F238E27FC236}">
                  <a16:creationId xmlns:a16="http://schemas.microsoft.com/office/drawing/2014/main" id="{3B81C9A6-3195-F908-3E0C-6D0A6DF26D26}"/>
                </a:ext>
              </a:extLst>
            </p:cNvPr>
            <p:cNvSpPr/>
            <p:nvPr/>
          </p:nvSpPr>
          <p:spPr>
            <a:xfrm>
              <a:off x="7368997" y="2395992"/>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9" name="Multiply 278">
              <a:extLst>
                <a:ext uri="{FF2B5EF4-FFF2-40B4-BE49-F238E27FC236}">
                  <a16:creationId xmlns:a16="http://schemas.microsoft.com/office/drawing/2014/main" id="{CB491EAA-9AF0-5CFA-AD15-D38D7E45170E}"/>
                </a:ext>
              </a:extLst>
            </p:cNvPr>
            <p:cNvSpPr/>
            <p:nvPr/>
          </p:nvSpPr>
          <p:spPr>
            <a:xfrm>
              <a:off x="7139697" y="2570511"/>
              <a:ext cx="229300" cy="212661"/>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93227C8-30AE-AE14-CC4F-B01D4565D7EB}"/>
              </a:ext>
            </a:extLst>
          </p:cNvPr>
          <p:cNvSpPr>
            <a:spLocks noGrp="1"/>
          </p:cNvSpPr>
          <p:nvPr>
            <p:ph type="title"/>
          </p:nvPr>
        </p:nvSpPr>
        <p:spPr>
          <a:xfrm>
            <a:off x="141654" y="-23446"/>
            <a:ext cx="8229600" cy="751255"/>
          </a:xfrm>
        </p:spPr>
        <p:txBody>
          <a:bodyPr>
            <a:normAutofit/>
          </a:bodyPr>
          <a:lstStyle/>
          <a:p>
            <a:r>
              <a:rPr sz="3600"/>
              <a:t>Methodology: System Overview</a:t>
            </a:r>
          </a:p>
        </p:txBody>
      </p:sp>
      <p:sp>
        <p:nvSpPr>
          <p:cNvPr id="18" name="Rectangle 17">
            <a:extLst>
              <a:ext uri="{FF2B5EF4-FFF2-40B4-BE49-F238E27FC236}">
                <a16:creationId xmlns:a16="http://schemas.microsoft.com/office/drawing/2014/main" id="{1A56E461-F94A-FDCA-AF97-907A28BF8144}"/>
              </a:ext>
            </a:extLst>
          </p:cNvPr>
          <p:cNvSpPr/>
          <p:nvPr/>
        </p:nvSpPr>
        <p:spPr>
          <a:xfrm>
            <a:off x="1178171" y="5304821"/>
            <a:ext cx="6449647" cy="405425"/>
          </a:xfrm>
          <a:prstGeom prst="rect">
            <a:avLst/>
          </a:prstGeom>
          <a:solidFill>
            <a:schemeClr val="tx2">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IoMT-Based Wearable Devices</a:t>
            </a:r>
          </a:p>
        </p:txBody>
      </p:sp>
      <p:sp>
        <p:nvSpPr>
          <p:cNvPr id="5" name="Rectangle 4">
            <a:extLst>
              <a:ext uri="{FF2B5EF4-FFF2-40B4-BE49-F238E27FC236}">
                <a16:creationId xmlns:a16="http://schemas.microsoft.com/office/drawing/2014/main" id="{D32C7F81-0E01-BE85-B655-0A52F328F077}"/>
              </a:ext>
            </a:extLst>
          </p:cNvPr>
          <p:cNvSpPr/>
          <p:nvPr/>
        </p:nvSpPr>
        <p:spPr>
          <a:xfrm>
            <a:off x="1178171" y="3424860"/>
            <a:ext cx="6449647" cy="405425"/>
          </a:xfrm>
          <a:prstGeom prst="rect">
            <a:avLst/>
          </a:prstGeom>
          <a:solidFill>
            <a:schemeClr val="tx2">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Edge Computing layer</a:t>
            </a:r>
          </a:p>
        </p:txBody>
      </p:sp>
      <p:sp>
        <p:nvSpPr>
          <p:cNvPr id="328" name="TextBox 327">
            <a:extLst>
              <a:ext uri="{FF2B5EF4-FFF2-40B4-BE49-F238E27FC236}">
                <a16:creationId xmlns:a16="http://schemas.microsoft.com/office/drawing/2014/main" id="{1920C516-4BA7-4DB1-1807-19F8A1521461}"/>
              </a:ext>
            </a:extLst>
          </p:cNvPr>
          <p:cNvSpPr txBox="1"/>
          <p:nvPr/>
        </p:nvSpPr>
        <p:spPr>
          <a:xfrm>
            <a:off x="1304679" y="5089377"/>
            <a:ext cx="1117600" cy="215444"/>
          </a:xfrm>
          <a:prstGeom prst="rect">
            <a:avLst/>
          </a:prstGeom>
          <a:noFill/>
        </p:spPr>
        <p:txBody>
          <a:bodyPr wrap="square" rtlCol="0" anchor="ctr" anchorCtr="0">
            <a:spAutoFit/>
          </a:bodyPr>
          <a:lstStyle/>
          <a:p>
            <a:pPr algn="ctr"/>
            <a:r>
              <a:rPr lang="en-US" sz="800"/>
              <a:t>Feature</a:t>
            </a:r>
            <a:r>
              <a:rPr lang="zh-CN" altLang="en-US" sz="800"/>
              <a:t> </a:t>
            </a:r>
            <a:r>
              <a:rPr lang="en-US" altLang="zh-CN" sz="800"/>
              <a:t>Selection</a:t>
            </a:r>
            <a:endParaRPr lang="en-US" sz="800"/>
          </a:p>
        </p:txBody>
      </p:sp>
      <p:sp>
        <p:nvSpPr>
          <p:cNvPr id="329" name="TextBox 328">
            <a:extLst>
              <a:ext uri="{FF2B5EF4-FFF2-40B4-BE49-F238E27FC236}">
                <a16:creationId xmlns:a16="http://schemas.microsoft.com/office/drawing/2014/main" id="{A8B91990-3EF6-2817-6F81-0DC4D550C3B4}"/>
              </a:ext>
            </a:extLst>
          </p:cNvPr>
          <p:cNvSpPr txBox="1"/>
          <p:nvPr/>
        </p:nvSpPr>
        <p:spPr>
          <a:xfrm>
            <a:off x="1303231" y="4363831"/>
            <a:ext cx="1117600" cy="215444"/>
          </a:xfrm>
          <a:prstGeom prst="rect">
            <a:avLst/>
          </a:prstGeom>
          <a:noFill/>
        </p:spPr>
        <p:txBody>
          <a:bodyPr wrap="square" rtlCol="0" anchor="ctr" anchorCtr="0">
            <a:spAutoFit/>
          </a:bodyPr>
          <a:lstStyle/>
          <a:p>
            <a:pPr algn="ctr"/>
            <a:r>
              <a:rPr lang="en-US" altLang="zh-CN" sz="800"/>
              <a:t>Feature</a:t>
            </a:r>
            <a:r>
              <a:rPr lang="zh-CN" altLang="en-US" sz="800"/>
              <a:t> </a:t>
            </a:r>
            <a:r>
              <a:rPr lang="en-US" altLang="zh-CN" sz="800"/>
              <a:t>encoding</a:t>
            </a:r>
            <a:endParaRPr lang="en-US" sz="800"/>
          </a:p>
        </p:txBody>
      </p:sp>
      <p:sp>
        <p:nvSpPr>
          <p:cNvPr id="480" name="TextBox 479">
            <a:extLst>
              <a:ext uri="{FF2B5EF4-FFF2-40B4-BE49-F238E27FC236}">
                <a16:creationId xmlns:a16="http://schemas.microsoft.com/office/drawing/2014/main" id="{20FD71E4-508E-8519-AFD1-7269365E1EFC}"/>
              </a:ext>
            </a:extLst>
          </p:cNvPr>
          <p:cNvSpPr txBox="1"/>
          <p:nvPr/>
        </p:nvSpPr>
        <p:spPr>
          <a:xfrm>
            <a:off x="5601682" y="5710246"/>
            <a:ext cx="736595" cy="461665"/>
          </a:xfrm>
          <a:prstGeom prst="rect">
            <a:avLst/>
          </a:prstGeom>
          <a:noFill/>
        </p:spPr>
        <p:txBody>
          <a:bodyPr wrap="square" rtlCol="0">
            <a:spAutoFit/>
          </a:bodyPr>
          <a:lstStyle/>
          <a:p>
            <a:r>
              <a:rPr lang="en-US" altLang="zh-CN" sz="2400"/>
              <a:t>…..</a:t>
            </a:r>
            <a:endParaRPr lang="en-US" sz="2400"/>
          </a:p>
        </p:txBody>
      </p:sp>
      <p:grpSp>
        <p:nvGrpSpPr>
          <p:cNvPr id="552" name="Group 551">
            <a:extLst>
              <a:ext uri="{FF2B5EF4-FFF2-40B4-BE49-F238E27FC236}">
                <a16:creationId xmlns:a16="http://schemas.microsoft.com/office/drawing/2014/main" id="{F1AAA73F-FFD0-80B1-7760-FB9444EC5655}"/>
              </a:ext>
            </a:extLst>
          </p:cNvPr>
          <p:cNvGrpSpPr/>
          <p:nvPr/>
        </p:nvGrpSpPr>
        <p:grpSpPr>
          <a:xfrm>
            <a:off x="2144727" y="1784850"/>
            <a:ext cx="1750126" cy="917364"/>
            <a:chOff x="1900122" y="834944"/>
            <a:chExt cx="1750126" cy="917364"/>
          </a:xfrm>
        </p:grpSpPr>
        <p:grpSp>
          <p:nvGrpSpPr>
            <p:cNvPr id="551" name="Group 550">
              <a:extLst>
                <a:ext uri="{FF2B5EF4-FFF2-40B4-BE49-F238E27FC236}">
                  <a16:creationId xmlns:a16="http://schemas.microsoft.com/office/drawing/2014/main" id="{CB678EB2-C624-9AC7-B3DF-E0311FB6D19C}"/>
                </a:ext>
              </a:extLst>
            </p:cNvPr>
            <p:cNvGrpSpPr/>
            <p:nvPr/>
          </p:nvGrpSpPr>
          <p:grpSpPr>
            <a:xfrm>
              <a:off x="1900122" y="834944"/>
              <a:ext cx="1750126" cy="658563"/>
              <a:chOff x="1900122" y="834944"/>
              <a:chExt cx="1750126" cy="658563"/>
            </a:xfrm>
          </p:grpSpPr>
          <p:sp>
            <p:nvSpPr>
              <p:cNvPr id="487" name="Rounded Rectangle 486">
                <a:extLst>
                  <a:ext uri="{FF2B5EF4-FFF2-40B4-BE49-F238E27FC236}">
                    <a16:creationId xmlns:a16="http://schemas.microsoft.com/office/drawing/2014/main" id="{0111EF75-F924-2A17-17A6-9AE4782238FC}"/>
                  </a:ext>
                </a:extLst>
              </p:cNvPr>
              <p:cNvSpPr/>
              <p:nvPr/>
            </p:nvSpPr>
            <p:spPr>
              <a:xfrm>
                <a:off x="1900122" y="834944"/>
                <a:ext cx="1750126" cy="658563"/>
              </a:xfrm>
              <a:prstGeom prst="roundRect">
                <a:avLst/>
              </a:prstGeom>
              <a:solidFill>
                <a:schemeClr val="accent1">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84" name="Picture 483">
                <a:extLst>
                  <a:ext uri="{FF2B5EF4-FFF2-40B4-BE49-F238E27FC236}">
                    <a16:creationId xmlns:a16="http://schemas.microsoft.com/office/drawing/2014/main" id="{3F725597-31B7-6C90-80D7-32124B419566}"/>
                  </a:ext>
                </a:extLst>
              </p:cNvPr>
              <p:cNvPicPr>
                <a:picLocks noChangeAspect="1"/>
              </p:cNvPicPr>
              <p:nvPr/>
            </p:nvPicPr>
            <p:blipFill>
              <a:blip r:embed="rId6"/>
              <a:stretch>
                <a:fillRect/>
              </a:stretch>
            </p:blipFill>
            <p:spPr>
              <a:xfrm>
                <a:off x="2915322" y="883570"/>
                <a:ext cx="561313" cy="561313"/>
              </a:xfrm>
              <a:prstGeom prst="rect">
                <a:avLst/>
              </a:prstGeom>
            </p:spPr>
          </p:pic>
          <p:pic>
            <p:nvPicPr>
              <p:cNvPr id="485" name="Picture 484">
                <a:extLst>
                  <a:ext uri="{FF2B5EF4-FFF2-40B4-BE49-F238E27FC236}">
                    <a16:creationId xmlns:a16="http://schemas.microsoft.com/office/drawing/2014/main" id="{E00D58FF-AF04-E7F1-F633-8F2224F4C60E}"/>
                  </a:ext>
                </a:extLst>
              </p:cNvPr>
              <p:cNvPicPr>
                <a:picLocks noChangeAspect="1"/>
              </p:cNvPicPr>
              <p:nvPr/>
            </p:nvPicPr>
            <p:blipFill>
              <a:blip r:embed="rId7"/>
              <a:stretch>
                <a:fillRect/>
              </a:stretch>
            </p:blipFill>
            <p:spPr>
              <a:xfrm>
                <a:off x="2132564" y="915931"/>
                <a:ext cx="502256" cy="502256"/>
              </a:xfrm>
              <a:prstGeom prst="rect">
                <a:avLst/>
              </a:prstGeom>
            </p:spPr>
          </p:pic>
          <p:sp>
            <p:nvSpPr>
              <p:cNvPr id="486" name="Plus 485">
                <a:extLst>
                  <a:ext uri="{FF2B5EF4-FFF2-40B4-BE49-F238E27FC236}">
                    <a16:creationId xmlns:a16="http://schemas.microsoft.com/office/drawing/2014/main" id="{2494C33B-B780-2169-3459-5DB317E7DA84}"/>
                  </a:ext>
                </a:extLst>
              </p:cNvPr>
              <p:cNvSpPr/>
              <p:nvPr/>
            </p:nvSpPr>
            <p:spPr>
              <a:xfrm>
                <a:off x="2650748" y="1004665"/>
                <a:ext cx="311169" cy="300923"/>
              </a:xfrm>
              <a:prstGeom prst="mathPlus">
                <a:avLst/>
              </a:prstGeom>
              <a:solidFill>
                <a:schemeClr val="tx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88" name="TextBox 487">
              <a:extLst>
                <a:ext uri="{FF2B5EF4-FFF2-40B4-BE49-F238E27FC236}">
                  <a16:creationId xmlns:a16="http://schemas.microsoft.com/office/drawing/2014/main" id="{662D9809-041F-1077-A55A-7B455C6BA6C8}"/>
                </a:ext>
              </a:extLst>
            </p:cNvPr>
            <p:cNvSpPr txBox="1"/>
            <p:nvPr/>
          </p:nvSpPr>
          <p:spPr>
            <a:xfrm>
              <a:off x="2233707" y="1475309"/>
              <a:ext cx="1008184" cy="276999"/>
            </a:xfrm>
            <a:prstGeom prst="rect">
              <a:avLst/>
            </a:prstGeom>
            <a:noFill/>
          </p:spPr>
          <p:txBody>
            <a:bodyPr wrap="square" rtlCol="0">
              <a:spAutoFit/>
            </a:bodyPr>
            <a:lstStyle/>
            <a:p>
              <a:pPr algn="ctr"/>
              <a:r>
                <a:rPr lang="en-US" altLang="zh-CN" sz="1200"/>
                <a:t>AI</a:t>
              </a:r>
              <a:r>
                <a:rPr lang="zh-CN" altLang="en-US" sz="1200"/>
                <a:t> </a:t>
              </a:r>
              <a:r>
                <a:rPr lang="en-US" altLang="zh-CN" sz="1200"/>
                <a:t>+</a:t>
              </a:r>
              <a:r>
                <a:rPr lang="zh-CN" altLang="en-US" sz="1200"/>
                <a:t> </a:t>
              </a:r>
              <a:r>
                <a:rPr lang="en-US" altLang="zh-CN" sz="1200"/>
                <a:t>IDS</a:t>
              </a:r>
              <a:endParaRPr lang="en-US" sz="1200"/>
            </a:p>
          </p:txBody>
        </p:sp>
      </p:grpSp>
      <p:pic>
        <p:nvPicPr>
          <p:cNvPr id="489" name="Picture 488">
            <a:extLst>
              <a:ext uri="{FF2B5EF4-FFF2-40B4-BE49-F238E27FC236}">
                <a16:creationId xmlns:a16="http://schemas.microsoft.com/office/drawing/2014/main" id="{1DA41B00-837D-A957-2F3B-1D6677AAEECD}"/>
              </a:ext>
            </a:extLst>
          </p:cNvPr>
          <p:cNvPicPr>
            <a:picLocks noChangeAspect="1"/>
          </p:cNvPicPr>
          <p:nvPr/>
        </p:nvPicPr>
        <p:blipFill>
          <a:blip r:embed="rId8"/>
          <a:stretch>
            <a:fillRect/>
          </a:stretch>
        </p:blipFill>
        <p:spPr>
          <a:xfrm>
            <a:off x="7929685" y="784041"/>
            <a:ext cx="883138" cy="883138"/>
          </a:xfrm>
          <a:prstGeom prst="rect">
            <a:avLst/>
          </a:prstGeom>
        </p:spPr>
      </p:pic>
      <p:pic>
        <p:nvPicPr>
          <p:cNvPr id="490" name="Picture 489">
            <a:extLst>
              <a:ext uri="{FF2B5EF4-FFF2-40B4-BE49-F238E27FC236}">
                <a16:creationId xmlns:a16="http://schemas.microsoft.com/office/drawing/2014/main" id="{E3E2CB8C-65BF-A5AF-3AE3-7483F600A942}"/>
              </a:ext>
            </a:extLst>
          </p:cNvPr>
          <p:cNvPicPr>
            <a:picLocks noChangeAspect="1"/>
          </p:cNvPicPr>
          <p:nvPr/>
        </p:nvPicPr>
        <p:blipFill>
          <a:blip r:embed="rId9"/>
          <a:stretch>
            <a:fillRect/>
          </a:stretch>
        </p:blipFill>
        <p:spPr>
          <a:xfrm>
            <a:off x="4978365" y="892394"/>
            <a:ext cx="622289" cy="622289"/>
          </a:xfrm>
          <a:prstGeom prst="rect">
            <a:avLst/>
          </a:prstGeom>
        </p:spPr>
      </p:pic>
      <p:pic>
        <p:nvPicPr>
          <p:cNvPr id="491" name="Picture 490">
            <a:extLst>
              <a:ext uri="{FF2B5EF4-FFF2-40B4-BE49-F238E27FC236}">
                <a16:creationId xmlns:a16="http://schemas.microsoft.com/office/drawing/2014/main" id="{F9B18140-8245-DCD7-384E-DB6DB50ADDB3}"/>
              </a:ext>
            </a:extLst>
          </p:cNvPr>
          <p:cNvPicPr>
            <a:picLocks noChangeAspect="1"/>
          </p:cNvPicPr>
          <p:nvPr/>
        </p:nvPicPr>
        <p:blipFill>
          <a:blip r:embed="rId10"/>
          <a:stretch>
            <a:fillRect/>
          </a:stretch>
        </p:blipFill>
        <p:spPr>
          <a:xfrm>
            <a:off x="4587635" y="1833084"/>
            <a:ext cx="600806" cy="600806"/>
          </a:xfrm>
          <a:prstGeom prst="rect">
            <a:avLst/>
          </a:prstGeom>
        </p:spPr>
      </p:pic>
      <p:pic>
        <p:nvPicPr>
          <p:cNvPr id="501" name="Picture 500">
            <a:extLst>
              <a:ext uri="{FF2B5EF4-FFF2-40B4-BE49-F238E27FC236}">
                <a16:creationId xmlns:a16="http://schemas.microsoft.com/office/drawing/2014/main" id="{A34BA1A9-A0FE-B524-466C-81C61FF62204}"/>
              </a:ext>
            </a:extLst>
          </p:cNvPr>
          <p:cNvPicPr>
            <a:picLocks noChangeAspect="1"/>
          </p:cNvPicPr>
          <p:nvPr/>
        </p:nvPicPr>
        <p:blipFill>
          <a:blip r:embed="rId11"/>
          <a:stretch>
            <a:fillRect/>
          </a:stretch>
        </p:blipFill>
        <p:spPr>
          <a:xfrm>
            <a:off x="5416542" y="1824260"/>
            <a:ext cx="622290" cy="622290"/>
          </a:xfrm>
          <a:prstGeom prst="rect">
            <a:avLst/>
          </a:prstGeom>
        </p:spPr>
      </p:pic>
      <p:grpSp>
        <p:nvGrpSpPr>
          <p:cNvPr id="555" name="Group 554">
            <a:extLst>
              <a:ext uri="{FF2B5EF4-FFF2-40B4-BE49-F238E27FC236}">
                <a16:creationId xmlns:a16="http://schemas.microsoft.com/office/drawing/2014/main" id="{7D9A83F2-55D2-C718-E229-B788BD6DB0BD}"/>
              </a:ext>
            </a:extLst>
          </p:cNvPr>
          <p:cNvGrpSpPr/>
          <p:nvPr/>
        </p:nvGrpSpPr>
        <p:grpSpPr>
          <a:xfrm>
            <a:off x="2102091" y="820093"/>
            <a:ext cx="1941093" cy="911883"/>
            <a:chOff x="2094534" y="1830266"/>
            <a:chExt cx="1941093" cy="911883"/>
          </a:xfrm>
        </p:grpSpPr>
        <p:grpSp>
          <p:nvGrpSpPr>
            <p:cNvPr id="553" name="Group 552">
              <a:extLst>
                <a:ext uri="{FF2B5EF4-FFF2-40B4-BE49-F238E27FC236}">
                  <a16:creationId xmlns:a16="http://schemas.microsoft.com/office/drawing/2014/main" id="{594AF955-C2CB-B7CE-50FA-8370B1E24B96}"/>
                </a:ext>
              </a:extLst>
            </p:cNvPr>
            <p:cNvGrpSpPr/>
            <p:nvPr/>
          </p:nvGrpSpPr>
          <p:grpSpPr>
            <a:xfrm>
              <a:off x="2094534" y="1830266"/>
              <a:ext cx="1738873" cy="663333"/>
              <a:chOff x="2094534" y="1830266"/>
              <a:chExt cx="1738873" cy="663333"/>
            </a:xfrm>
          </p:grpSpPr>
          <p:pic>
            <p:nvPicPr>
              <p:cNvPr id="498" name="Picture 497">
                <a:extLst>
                  <a:ext uri="{FF2B5EF4-FFF2-40B4-BE49-F238E27FC236}">
                    <a16:creationId xmlns:a16="http://schemas.microsoft.com/office/drawing/2014/main" id="{004FA189-652D-4B6E-E4CF-70EA48FE712C}"/>
                  </a:ext>
                </a:extLst>
              </p:cNvPr>
              <p:cNvPicPr>
                <a:picLocks noChangeAspect="1"/>
              </p:cNvPicPr>
              <p:nvPr/>
            </p:nvPicPr>
            <p:blipFill>
              <a:blip r:embed="rId12"/>
              <a:stretch>
                <a:fillRect/>
              </a:stretch>
            </p:blipFill>
            <p:spPr>
              <a:xfrm>
                <a:off x="3229666" y="1880280"/>
                <a:ext cx="603741" cy="603741"/>
              </a:xfrm>
              <a:prstGeom prst="rect">
                <a:avLst/>
              </a:prstGeom>
            </p:spPr>
          </p:pic>
          <p:pic>
            <p:nvPicPr>
              <p:cNvPr id="499" name="Picture 498">
                <a:extLst>
                  <a:ext uri="{FF2B5EF4-FFF2-40B4-BE49-F238E27FC236}">
                    <a16:creationId xmlns:a16="http://schemas.microsoft.com/office/drawing/2014/main" id="{AED2AA6F-8413-6F77-F0DA-9FF1B127549E}"/>
                  </a:ext>
                </a:extLst>
              </p:cNvPr>
              <p:cNvPicPr>
                <a:picLocks noChangeAspect="1"/>
              </p:cNvPicPr>
              <p:nvPr/>
            </p:nvPicPr>
            <p:blipFill>
              <a:blip r:embed="rId13"/>
              <a:stretch>
                <a:fillRect/>
              </a:stretch>
            </p:blipFill>
            <p:spPr>
              <a:xfrm>
                <a:off x="2094534" y="1830266"/>
                <a:ext cx="843077" cy="663333"/>
              </a:xfrm>
              <a:prstGeom prst="rect">
                <a:avLst/>
              </a:prstGeom>
            </p:spPr>
          </p:pic>
        </p:grpSp>
        <p:grpSp>
          <p:nvGrpSpPr>
            <p:cNvPr id="554" name="Group 553">
              <a:extLst>
                <a:ext uri="{FF2B5EF4-FFF2-40B4-BE49-F238E27FC236}">
                  <a16:creationId xmlns:a16="http://schemas.microsoft.com/office/drawing/2014/main" id="{D2087604-FE28-2FA5-AC91-9D1B5F496399}"/>
                </a:ext>
              </a:extLst>
            </p:cNvPr>
            <p:cNvGrpSpPr/>
            <p:nvPr/>
          </p:nvGrpSpPr>
          <p:grpSpPr>
            <a:xfrm>
              <a:off x="2203235" y="2458854"/>
              <a:ext cx="1832392" cy="283295"/>
              <a:chOff x="2203235" y="2458854"/>
              <a:chExt cx="1832392" cy="283295"/>
            </a:xfrm>
          </p:grpSpPr>
          <p:sp>
            <p:nvSpPr>
              <p:cNvPr id="502" name="TextBox 501">
                <a:extLst>
                  <a:ext uri="{FF2B5EF4-FFF2-40B4-BE49-F238E27FC236}">
                    <a16:creationId xmlns:a16="http://schemas.microsoft.com/office/drawing/2014/main" id="{7C1418D1-D99D-C247-FBB1-7F9354E035E1}"/>
                  </a:ext>
                </a:extLst>
              </p:cNvPr>
              <p:cNvSpPr txBox="1"/>
              <p:nvPr/>
            </p:nvSpPr>
            <p:spPr>
              <a:xfrm>
                <a:off x="2203235" y="2465150"/>
                <a:ext cx="689086" cy="276999"/>
              </a:xfrm>
              <a:prstGeom prst="rect">
                <a:avLst/>
              </a:prstGeom>
              <a:noFill/>
            </p:spPr>
            <p:txBody>
              <a:bodyPr wrap="square" rtlCol="0">
                <a:spAutoFit/>
              </a:bodyPr>
              <a:lstStyle/>
              <a:p>
                <a:pPr algn="ctr"/>
                <a:r>
                  <a:rPr lang="en-US" sz="1200"/>
                  <a:t>Firewall</a:t>
                </a:r>
              </a:p>
            </p:txBody>
          </p:sp>
          <p:sp>
            <p:nvSpPr>
              <p:cNvPr id="503" name="TextBox 502">
                <a:extLst>
                  <a:ext uri="{FF2B5EF4-FFF2-40B4-BE49-F238E27FC236}">
                    <a16:creationId xmlns:a16="http://schemas.microsoft.com/office/drawing/2014/main" id="{6BE3E2B5-358C-EC7E-3225-CA27A74B80FA}"/>
                  </a:ext>
                </a:extLst>
              </p:cNvPr>
              <p:cNvSpPr txBox="1"/>
              <p:nvPr/>
            </p:nvSpPr>
            <p:spPr>
              <a:xfrm>
                <a:off x="3027444" y="2458854"/>
                <a:ext cx="1008183" cy="276999"/>
              </a:xfrm>
              <a:prstGeom prst="rect">
                <a:avLst/>
              </a:prstGeom>
              <a:noFill/>
            </p:spPr>
            <p:txBody>
              <a:bodyPr wrap="square" rtlCol="0">
                <a:spAutoFit/>
              </a:bodyPr>
              <a:lstStyle/>
              <a:p>
                <a:pPr algn="ctr"/>
                <a:r>
                  <a:rPr lang="en-US" sz="1200"/>
                  <a:t>Load</a:t>
                </a:r>
                <a:r>
                  <a:rPr lang="zh-CN" altLang="en-US" sz="1200"/>
                  <a:t> </a:t>
                </a:r>
                <a:r>
                  <a:rPr lang="en-US" altLang="zh-CN" sz="1200"/>
                  <a:t>Balance</a:t>
                </a:r>
                <a:endParaRPr lang="en-US" sz="1200"/>
              </a:p>
            </p:txBody>
          </p:sp>
        </p:grpSp>
      </p:grpSp>
      <p:pic>
        <p:nvPicPr>
          <p:cNvPr id="504" name="Picture 503">
            <a:extLst>
              <a:ext uri="{FF2B5EF4-FFF2-40B4-BE49-F238E27FC236}">
                <a16:creationId xmlns:a16="http://schemas.microsoft.com/office/drawing/2014/main" id="{9B7EC64C-BEA6-235A-328E-85205C077313}"/>
              </a:ext>
            </a:extLst>
          </p:cNvPr>
          <p:cNvPicPr>
            <a:picLocks noChangeAspect="1"/>
          </p:cNvPicPr>
          <p:nvPr/>
        </p:nvPicPr>
        <p:blipFill>
          <a:blip r:embed="rId14"/>
          <a:stretch>
            <a:fillRect/>
          </a:stretch>
        </p:blipFill>
        <p:spPr>
          <a:xfrm>
            <a:off x="5820070" y="837236"/>
            <a:ext cx="677447" cy="677447"/>
          </a:xfrm>
          <a:prstGeom prst="rect">
            <a:avLst/>
          </a:prstGeom>
        </p:spPr>
      </p:pic>
      <p:pic>
        <p:nvPicPr>
          <p:cNvPr id="505" name="Picture 504">
            <a:extLst>
              <a:ext uri="{FF2B5EF4-FFF2-40B4-BE49-F238E27FC236}">
                <a16:creationId xmlns:a16="http://schemas.microsoft.com/office/drawing/2014/main" id="{5BB980D7-B2D4-3DF9-C615-F9D33C7B45B2}"/>
              </a:ext>
            </a:extLst>
          </p:cNvPr>
          <p:cNvPicPr>
            <a:picLocks noChangeAspect="1"/>
          </p:cNvPicPr>
          <p:nvPr/>
        </p:nvPicPr>
        <p:blipFill>
          <a:blip r:embed="rId15"/>
          <a:stretch>
            <a:fillRect/>
          </a:stretch>
        </p:blipFill>
        <p:spPr>
          <a:xfrm>
            <a:off x="6213872" y="1752308"/>
            <a:ext cx="808692" cy="808692"/>
          </a:xfrm>
          <a:prstGeom prst="rect">
            <a:avLst/>
          </a:prstGeom>
        </p:spPr>
      </p:pic>
      <p:sp>
        <p:nvSpPr>
          <p:cNvPr id="506" name="TextBox 505">
            <a:extLst>
              <a:ext uri="{FF2B5EF4-FFF2-40B4-BE49-F238E27FC236}">
                <a16:creationId xmlns:a16="http://schemas.microsoft.com/office/drawing/2014/main" id="{0C019290-0A8F-82D9-C0A7-6CE2DB1DCB68}"/>
              </a:ext>
            </a:extLst>
          </p:cNvPr>
          <p:cNvSpPr txBox="1"/>
          <p:nvPr/>
        </p:nvSpPr>
        <p:spPr>
          <a:xfrm>
            <a:off x="4537419" y="2422500"/>
            <a:ext cx="689086" cy="276999"/>
          </a:xfrm>
          <a:prstGeom prst="rect">
            <a:avLst/>
          </a:prstGeom>
          <a:noFill/>
        </p:spPr>
        <p:txBody>
          <a:bodyPr wrap="square" rtlCol="0">
            <a:spAutoFit/>
          </a:bodyPr>
          <a:lstStyle/>
          <a:p>
            <a:pPr algn="ctr"/>
            <a:r>
              <a:rPr lang="en-US" sz="1200"/>
              <a:t>Storage</a:t>
            </a:r>
          </a:p>
        </p:txBody>
      </p:sp>
      <p:sp>
        <p:nvSpPr>
          <p:cNvPr id="507" name="TextBox 506">
            <a:extLst>
              <a:ext uri="{FF2B5EF4-FFF2-40B4-BE49-F238E27FC236}">
                <a16:creationId xmlns:a16="http://schemas.microsoft.com/office/drawing/2014/main" id="{0AED0BAF-E743-FC7C-CD1F-BCA564DFA459}"/>
              </a:ext>
            </a:extLst>
          </p:cNvPr>
          <p:cNvSpPr txBox="1"/>
          <p:nvPr/>
        </p:nvSpPr>
        <p:spPr>
          <a:xfrm>
            <a:off x="5397317" y="2421565"/>
            <a:ext cx="689086" cy="276999"/>
          </a:xfrm>
          <a:prstGeom prst="rect">
            <a:avLst/>
          </a:prstGeom>
          <a:noFill/>
        </p:spPr>
        <p:txBody>
          <a:bodyPr wrap="square" rtlCol="0">
            <a:spAutoFit/>
          </a:bodyPr>
          <a:lstStyle/>
          <a:p>
            <a:pPr algn="ctr"/>
            <a:r>
              <a:rPr lang="en-US" sz="1200"/>
              <a:t>Servers</a:t>
            </a:r>
          </a:p>
        </p:txBody>
      </p:sp>
      <p:sp>
        <p:nvSpPr>
          <p:cNvPr id="508" name="TextBox 507">
            <a:extLst>
              <a:ext uri="{FF2B5EF4-FFF2-40B4-BE49-F238E27FC236}">
                <a16:creationId xmlns:a16="http://schemas.microsoft.com/office/drawing/2014/main" id="{1BD9C6DF-3146-67CC-BF65-026A88DF594C}"/>
              </a:ext>
            </a:extLst>
          </p:cNvPr>
          <p:cNvSpPr txBox="1"/>
          <p:nvPr/>
        </p:nvSpPr>
        <p:spPr>
          <a:xfrm>
            <a:off x="6190427" y="2423105"/>
            <a:ext cx="835594" cy="276999"/>
          </a:xfrm>
          <a:prstGeom prst="rect">
            <a:avLst/>
          </a:prstGeom>
          <a:noFill/>
        </p:spPr>
        <p:txBody>
          <a:bodyPr wrap="square" rtlCol="0">
            <a:spAutoFit/>
          </a:bodyPr>
          <a:lstStyle/>
          <a:p>
            <a:pPr algn="ctr"/>
            <a:r>
              <a:rPr lang="en-US" sz="1200"/>
              <a:t>Network</a:t>
            </a:r>
          </a:p>
        </p:txBody>
      </p:sp>
      <p:cxnSp>
        <p:nvCxnSpPr>
          <p:cNvPr id="510" name="Straight Arrow Connector 509">
            <a:extLst>
              <a:ext uri="{FF2B5EF4-FFF2-40B4-BE49-F238E27FC236}">
                <a16:creationId xmlns:a16="http://schemas.microsoft.com/office/drawing/2014/main" id="{C8B9A858-4199-4A47-074C-0B318B6FC636}"/>
              </a:ext>
            </a:extLst>
          </p:cNvPr>
          <p:cNvCxnSpPr>
            <a:cxnSpLocks/>
          </p:cNvCxnSpPr>
          <p:nvPr/>
        </p:nvCxnSpPr>
        <p:spPr>
          <a:xfrm flipV="1">
            <a:off x="1883508" y="2698564"/>
            <a:ext cx="1008813" cy="72629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2" name="Straight Arrow Connector 511">
            <a:extLst>
              <a:ext uri="{FF2B5EF4-FFF2-40B4-BE49-F238E27FC236}">
                <a16:creationId xmlns:a16="http://schemas.microsoft.com/office/drawing/2014/main" id="{6AD0DD49-74C4-5B75-A16D-A0D3322CB3EF}"/>
              </a:ext>
            </a:extLst>
          </p:cNvPr>
          <p:cNvCxnSpPr/>
          <p:nvPr/>
        </p:nvCxnSpPr>
        <p:spPr>
          <a:xfrm flipH="1" flipV="1">
            <a:off x="2915322" y="2698564"/>
            <a:ext cx="195201" cy="7069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4" name="Straight Arrow Connector 513">
            <a:extLst>
              <a:ext uri="{FF2B5EF4-FFF2-40B4-BE49-F238E27FC236}">
                <a16:creationId xmlns:a16="http://schemas.microsoft.com/office/drawing/2014/main" id="{B52B9C4C-D0B1-7676-D4F4-73B5B01588B8}"/>
              </a:ext>
            </a:extLst>
          </p:cNvPr>
          <p:cNvCxnSpPr>
            <a:cxnSpLocks/>
          </p:cNvCxnSpPr>
          <p:nvPr/>
        </p:nvCxnSpPr>
        <p:spPr>
          <a:xfrm flipH="1" flipV="1">
            <a:off x="2915322" y="2687059"/>
            <a:ext cx="1487673" cy="7184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5" name="Straight Arrow Connector 514">
            <a:extLst>
              <a:ext uri="{FF2B5EF4-FFF2-40B4-BE49-F238E27FC236}">
                <a16:creationId xmlns:a16="http://schemas.microsoft.com/office/drawing/2014/main" id="{56CCAAB1-EF3C-2AE6-4C20-DB17489230FC}"/>
              </a:ext>
            </a:extLst>
          </p:cNvPr>
          <p:cNvCxnSpPr>
            <a:cxnSpLocks/>
          </p:cNvCxnSpPr>
          <p:nvPr/>
        </p:nvCxnSpPr>
        <p:spPr>
          <a:xfrm flipH="1" flipV="1">
            <a:off x="2915322" y="2675120"/>
            <a:ext cx="3926546" cy="7262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20" name="TextBox 519">
            <a:extLst>
              <a:ext uri="{FF2B5EF4-FFF2-40B4-BE49-F238E27FC236}">
                <a16:creationId xmlns:a16="http://schemas.microsoft.com/office/drawing/2014/main" id="{5CEC393F-5065-D4E0-A737-F298544000B8}"/>
              </a:ext>
            </a:extLst>
          </p:cNvPr>
          <p:cNvSpPr txBox="1"/>
          <p:nvPr/>
        </p:nvSpPr>
        <p:spPr>
          <a:xfrm>
            <a:off x="213523" y="2973509"/>
            <a:ext cx="1793571" cy="307777"/>
          </a:xfrm>
          <a:prstGeom prst="rect">
            <a:avLst/>
          </a:prstGeom>
          <a:noFill/>
        </p:spPr>
        <p:txBody>
          <a:bodyPr wrap="square" rtlCol="0">
            <a:spAutoFit/>
          </a:bodyPr>
          <a:lstStyle/>
          <a:p>
            <a:r>
              <a:rPr lang="en-US" sz="1400"/>
              <a:t>flow-level, logs, event </a:t>
            </a:r>
          </a:p>
        </p:txBody>
      </p:sp>
      <p:sp>
        <p:nvSpPr>
          <p:cNvPr id="521" name="TextBox 520">
            <a:extLst>
              <a:ext uri="{FF2B5EF4-FFF2-40B4-BE49-F238E27FC236}">
                <a16:creationId xmlns:a16="http://schemas.microsoft.com/office/drawing/2014/main" id="{450F8727-51CF-DFC7-5676-E2A3E3F37F64}"/>
              </a:ext>
            </a:extLst>
          </p:cNvPr>
          <p:cNvSpPr txBox="1"/>
          <p:nvPr/>
        </p:nvSpPr>
        <p:spPr>
          <a:xfrm>
            <a:off x="6532858" y="2909892"/>
            <a:ext cx="1791168" cy="307777"/>
          </a:xfrm>
          <a:prstGeom prst="rect">
            <a:avLst/>
          </a:prstGeom>
          <a:noFill/>
        </p:spPr>
        <p:txBody>
          <a:bodyPr wrap="square" rtlCol="0">
            <a:spAutoFit/>
          </a:bodyPr>
          <a:lstStyle/>
          <a:p>
            <a:r>
              <a:rPr lang="en-US" sz="1400"/>
              <a:t>medical sensitive data</a:t>
            </a:r>
          </a:p>
        </p:txBody>
      </p:sp>
      <p:cxnSp>
        <p:nvCxnSpPr>
          <p:cNvPr id="522" name="Straight Arrow Connector 521">
            <a:extLst>
              <a:ext uri="{FF2B5EF4-FFF2-40B4-BE49-F238E27FC236}">
                <a16:creationId xmlns:a16="http://schemas.microsoft.com/office/drawing/2014/main" id="{0B1E9F79-70AD-FD3B-BF6F-5EC7BFF10F8E}"/>
              </a:ext>
            </a:extLst>
          </p:cNvPr>
          <p:cNvCxnSpPr>
            <a:cxnSpLocks/>
            <a:endCxn id="507" idx="2"/>
          </p:cNvCxnSpPr>
          <p:nvPr/>
        </p:nvCxnSpPr>
        <p:spPr>
          <a:xfrm flipV="1">
            <a:off x="2117979" y="2698564"/>
            <a:ext cx="3623881" cy="739121"/>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5" name="Straight Arrow Connector 524">
            <a:extLst>
              <a:ext uri="{FF2B5EF4-FFF2-40B4-BE49-F238E27FC236}">
                <a16:creationId xmlns:a16="http://schemas.microsoft.com/office/drawing/2014/main" id="{3C8BEF32-DEB8-FFD2-4D07-32B88B819F8A}"/>
              </a:ext>
            </a:extLst>
          </p:cNvPr>
          <p:cNvCxnSpPr>
            <a:cxnSpLocks/>
            <a:endCxn id="507" idx="2"/>
          </p:cNvCxnSpPr>
          <p:nvPr/>
        </p:nvCxnSpPr>
        <p:spPr>
          <a:xfrm flipH="1" flipV="1">
            <a:off x="5741860" y="2698564"/>
            <a:ext cx="1135081" cy="702852"/>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9" name="Straight Arrow Connector 528">
            <a:extLst>
              <a:ext uri="{FF2B5EF4-FFF2-40B4-BE49-F238E27FC236}">
                <a16:creationId xmlns:a16="http://schemas.microsoft.com/office/drawing/2014/main" id="{3480E212-627F-E856-AE36-1A318034451C}"/>
              </a:ext>
            </a:extLst>
          </p:cNvPr>
          <p:cNvCxnSpPr>
            <a:cxnSpLocks/>
            <a:endCxn id="507" idx="2"/>
          </p:cNvCxnSpPr>
          <p:nvPr/>
        </p:nvCxnSpPr>
        <p:spPr>
          <a:xfrm flipV="1">
            <a:off x="4606779" y="2698564"/>
            <a:ext cx="1135081" cy="758021"/>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32" name="Straight Arrow Connector 531">
            <a:extLst>
              <a:ext uri="{FF2B5EF4-FFF2-40B4-BE49-F238E27FC236}">
                <a16:creationId xmlns:a16="http://schemas.microsoft.com/office/drawing/2014/main" id="{2CC5E84D-832D-95D9-FEF4-FB0F2ABCC6F4}"/>
              </a:ext>
            </a:extLst>
          </p:cNvPr>
          <p:cNvCxnSpPr>
            <a:cxnSpLocks/>
            <a:endCxn id="507" idx="2"/>
          </p:cNvCxnSpPr>
          <p:nvPr/>
        </p:nvCxnSpPr>
        <p:spPr>
          <a:xfrm flipV="1">
            <a:off x="3402141" y="2698564"/>
            <a:ext cx="2339719" cy="749739"/>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39" name="Right Arrow 538">
            <a:extLst>
              <a:ext uri="{FF2B5EF4-FFF2-40B4-BE49-F238E27FC236}">
                <a16:creationId xmlns:a16="http://schemas.microsoft.com/office/drawing/2014/main" id="{A833D424-4117-140C-1CFD-D31DB4111D30}"/>
              </a:ext>
            </a:extLst>
          </p:cNvPr>
          <p:cNvSpPr/>
          <p:nvPr/>
        </p:nvSpPr>
        <p:spPr>
          <a:xfrm rot="10800000">
            <a:off x="7384787" y="1163852"/>
            <a:ext cx="515355" cy="307776"/>
          </a:xfrm>
          <a:prstGeom prst="rightArrow">
            <a:avLst/>
          </a:prstGeom>
          <a:noFill/>
          <a:ln w="254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1" name="TextBox 540">
            <a:extLst>
              <a:ext uri="{FF2B5EF4-FFF2-40B4-BE49-F238E27FC236}">
                <a16:creationId xmlns:a16="http://schemas.microsoft.com/office/drawing/2014/main" id="{9C221195-4E14-6C2E-E699-955EDAE2E121}"/>
              </a:ext>
            </a:extLst>
          </p:cNvPr>
          <p:cNvSpPr txBox="1"/>
          <p:nvPr/>
        </p:nvSpPr>
        <p:spPr>
          <a:xfrm>
            <a:off x="6400801" y="1449518"/>
            <a:ext cx="1660587" cy="369332"/>
          </a:xfrm>
          <a:prstGeom prst="rect">
            <a:avLst/>
          </a:prstGeom>
          <a:noFill/>
        </p:spPr>
        <p:txBody>
          <a:bodyPr wrap="square">
            <a:spAutoFit/>
          </a:bodyPr>
          <a:lstStyle/>
          <a:p>
            <a:pPr algn="ctr"/>
            <a:r>
              <a:rPr lang="en-US"/>
              <a:t>Cloud layer</a:t>
            </a:r>
          </a:p>
        </p:txBody>
      </p:sp>
      <p:pic>
        <p:nvPicPr>
          <p:cNvPr id="545" name="Picture 544">
            <a:extLst>
              <a:ext uri="{FF2B5EF4-FFF2-40B4-BE49-F238E27FC236}">
                <a16:creationId xmlns:a16="http://schemas.microsoft.com/office/drawing/2014/main" id="{C690DFA2-CFEA-3D3C-414A-9EF73C055B2A}"/>
              </a:ext>
            </a:extLst>
          </p:cNvPr>
          <p:cNvPicPr>
            <a:picLocks noChangeAspect="1"/>
          </p:cNvPicPr>
          <p:nvPr/>
        </p:nvPicPr>
        <p:blipFill>
          <a:blip r:embed="rId16"/>
          <a:stretch>
            <a:fillRect/>
          </a:stretch>
        </p:blipFill>
        <p:spPr>
          <a:xfrm>
            <a:off x="276215" y="987123"/>
            <a:ext cx="901956" cy="901956"/>
          </a:xfrm>
          <a:prstGeom prst="rect">
            <a:avLst/>
          </a:prstGeom>
        </p:spPr>
      </p:pic>
      <p:sp>
        <p:nvSpPr>
          <p:cNvPr id="546" name="Right Arrow 545">
            <a:extLst>
              <a:ext uri="{FF2B5EF4-FFF2-40B4-BE49-F238E27FC236}">
                <a16:creationId xmlns:a16="http://schemas.microsoft.com/office/drawing/2014/main" id="{B5BE367B-9F68-9009-485F-BF052854C57F}"/>
              </a:ext>
            </a:extLst>
          </p:cNvPr>
          <p:cNvSpPr/>
          <p:nvPr/>
        </p:nvSpPr>
        <p:spPr>
          <a:xfrm>
            <a:off x="1214290" y="1288475"/>
            <a:ext cx="515355" cy="307776"/>
          </a:xfrm>
          <a:prstGeom prst="rightArrow">
            <a:avLst/>
          </a:prstGeom>
          <a:noFill/>
          <a:ln w="254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6" name="Down Arrow 555">
            <a:extLst>
              <a:ext uri="{FF2B5EF4-FFF2-40B4-BE49-F238E27FC236}">
                <a16:creationId xmlns:a16="http://schemas.microsoft.com/office/drawing/2014/main" id="{AE990C64-5F76-203C-7BC2-DB490D0CA21F}"/>
              </a:ext>
            </a:extLst>
          </p:cNvPr>
          <p:cNvSpPr/>
          <p:nvPr/>
        </p:nvSpPr>
        <p:spPr>
          <a:xfrm rot="10800000">
            <a:off x="1910870" y="2971008"/>
            <a:ext cx="190572" cy="288471"/>
          </a:xfrm>
          <a:prstGeom prst="down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7" name="TextBox 556">
            <a:extLst>
              <a:ext uri="{FF2B5EF4-FFF2-40B4-BE49-F238E27FC236}">
                <a16:creationId xmlns:a16="http://schemas.microsoft.com/office/drawing/2014/main" id="{50145E00-AFE4-74D3-EF0B-4D07301BB57E}"/>
              </a:ext>
            </a:extLst>
          </p:cNvPr>
          <p:cNvSpPr txBox="1"/>
          <p:nvPr/>
        </p:nvSpPr>
        <p:spPr>
          <a:xfrm>
            <a:off x="211644" y="2545609"/>
            <a:ext cx="1673743" cy="307777"/>
          </a:xfrm>
          <a:prstGeom prst="rect">
            <a:avLst/>
          </a:prstGeom>
          <a:noFill/>
        </p:spPr>
        <p:txBody>
          <a:bodyPr wrap="square" rtlCol="0">
            <a:spAutoFit/>
          </a:bodyPr>
          <a:lstStyle/>
          <a:p>
            <a:r>
              <a:rPr lang="en-US" sz="1400"/>
              <a:t>Alter, Security policy</a:t>
            </a:r>
          </a:p>
        </p:txBody>
      </p:sp>
      <p:sp>
        <p:nvSpPr>
          <p:cNvPr id="558" name="Down Arrow 557">
            <a:extLst>
              <a:ext uri="{FF2B5EF4-FFF2-40B4-BE49-F238E27FC236}">
                <a16:creationId xmlns:a16="http://schemas.microsoft.com/office/drawing/2014/main" id="{C5BDD97A-02E6-1F57-66E7-82EA81B916AF}"/>
              </a:ext>
            </a:extLst>
          </p:cNvPr>
          <p:cNvSpPr/>
          <p:nvPr/>
        </p:nvSpPr>
        <p:spPr>
          <a:xfrm>
            <a:off x="1790180" y="2563942"/>
            <a:ext cx="190572" cy="283469"/>
          </a:xfrm>
          <a:prstGeom prst="down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 name="TextBox 563">
            <a:extLst>
              <a:ext uri="{FF2B5EF4-FFF2-40B4-BE49-F238E27FC236}">
                <a16:creationId xmlns:a16="http://schemas.microsoft.com/office/drawing/2014/main" id="{924D6D18-77D5-FA64-B928-D5DCF50771DC}"/>
              </a:ext>
            </a:extLst>
          </p:cNvPr>
          <p:cNvSpPr txBox="1"/>
          <p:nvPr/>
        </p:nvSpPr>
        <p:spPr>
          <a:xfrm>
            <a:off x="7775794" y="1671496"/>
            <a:ext cx="2400416" cy="523220"/>
          </a:xfrm>
          <a:prstGeom prst="rect">
            <a:avLst/>
          </a:prstGeom>
          <a:noFill/>
        </p:spPr>
        <p:txBody>
          <a:bodyPr wrap="square" rtlCol="0">
            <a:spAutoFit/>
          </a:bodyPr>
          <a:lstStyle/>
          <a:p>
            <a:r>
              <a:rPr lang="en-US" sz="1400"/>
              <a:t>Healthcare </a:t>
            </a:r>
          </a:p>
          <a:p>
            <a:r>
              <a:rPr lang="en-US" sz="1400"/>
              <a:t>Professional</a:t>
            </a:r>
          </a:p>
        </p:txBody>
      </p:sp>
      <p:sp>
        <p:nvSpPr>
          <p:cNvPr id="565" name="TextBox 564">
            <a:extLst>
              <a:ext uri="{FF2B5EF4-FFF2-40B4-BE49-F238E27FC236}">
                <a16:creationId xmlns:a16="http://schemas.microsoft.com/office/drawing/2014/main" id="{5F06E0B9-783A-984A-F532-1DCDAA0710C5}"/>
              </a:ext>
            </a:extLst>
          </p:cNvPr>
          <p:cNvSpPr txBox="1"/>
          <p:nvPr/>
        </p:nvSpPr>
        <p:spPr>
          <a:xfrm>
            <a:off x="268109" y="1886783"/>
            <a:ext cx="2400416" cy="307777"/>
          </a:xfrm>
          <a:prstGeom prst="rect">
            <a:avLst/>
          </a:prstGeom>
          <a:noFill/>
        </p:spPr>
        <p:txBody>
          <a:bodyPr wrap="square" rtlCol="0">
            <a:spAutoFit/>
          </a:bodyPr>
          <a:lstStyle/>
          <a:p>
            <a:r>
              <a:rPr lang="en-US" sz="1400"/>
              <a:t>Security Operator</a:t>
            </a:r>
          </a:p>
        </p:txBody>
      </p:sp>
      <p:sp>
        <p:nvSpPr>
          <p:cNvPr id="566" name="Down Arrow 565">
            <a:extLst>
              <a:ext uri="{FF2B5EF4-FFF2-40B4-BE49-F238E27FC236}">
                <a16:creationId xmlns:a16="http://schemas.microsoft.com/office/drawing/2014/main" id="{C6AC29B0-9C07-2CDF-FA35-0A9DD19A9C1D}"/>
              </a:ext>
            </a:extLst>
          </p:cNvPr>
          <p:cNvSpPr/>
          <p:nvPr/>
        </p:nvSpPr>
        <p:spPr>
          <a:xfrm rot="10800000">
            <a:off x="8237149" y="2875660"/>
            <a:ext cx="190572" cy="288471"/>
          </a:xfrm>
          <a:prstGeom prst="downArrow">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67" name="Picture 566">
            <a:extLst>
              <a:ext uri="{FF2B5EF4-FFF2-40B4-BE49-F238E27FC236}">
                <a16:creationId xmlns:a16="http://schemas.microsoft.com/office/drawing/2014/main" id="{EF1830C7-89C7-C849-A04A-C3E794550CE9}"/>
              </a:ext>
            </a:extLst>
          </p:cNvPr>
          <p:cNvPicPr>
            <a:picLocks noChangeAspect="1"/>
          </p:cNvPicPr>
          <p:nvPr/>
        </p:nvPicPr>
        <p:blipFill>
          <a:blip r:embed="rId17"/>
          <a:stretch>
            <a:fillRect/>
          </a:stretch>
        </p:blipFill>
        <p:spPr>
          <a:xfrm flipH="1">
            <a:off x="1742839" y="5837732"/>
            <a:ext cx="304800" cy="304800"/>
          </a:xfrm>
          <a:prstGeom prst="rect">
            <a:avLst/>
          </a:prstGeom>
        </p:spPr>
      </p:pic>
      <p:pic>
        <p:nvPicPr>
          <p:cNvPr id="569" name="Picture 568">
            <a:extLst>
              <a:ext uri="{FF2B5EF4-FFF2-40B4-BE49-F238E27FC236}">
                <a16:creationId xmlns:a16="http://schemas.microsoft.com/office/drawing/2014/main" id="{07082627-779C-5766-F416-42204AC6C8DD}"/>
              </a:ext>
            </a:extLst>
          </p:cNvPr>
          <p:cNvPicPr>
            <a:picLocks noChangeAspect="1"/>
          </p:cNvPicPr>
          <p:nvPr/>
        </p:nvPicPr>
        <p:blipFill>
          <a:blip r:embed="rId17"/>
          <a:stretch>
            <a:fillRect/>
          </a:stretch>
        </p:blipFill>
        <p:spPr>
          <a:xfrm flipH="1">
            <a:off x="3128110" y="5835210"/>
            <a:ext cx="304800" cy="304800"/>
          </a:xfrm>
          <a:prstGeom prst="rect">
            <a:avLst/>
          </a:prstGeom>
        </p:spPr>
      </p:pic>
      <p:pic>
        <p:nvPicPr>
          <p:cNvPr id="570" name="Picture 569">
            <a:extLst>
              <a:ext uri="{FF2B5EF4-FFF2-40B4-BE49-F238E27FC236}">
                <a16:creationId xmlns:a16="http://schemas.microsoft.com/office/drawing/2014/main" id="{D762E1E1-36B3-74A5-D689-DC0F30DA4EAB}"/>
              </a:ext>
            </a:extLst>
          </p:cNvPr>
          <p:cNvPicPr>
            <a:picLocks noChangeAspect="1"/>
          </p:cNvPicPr>
          <p:nvPr/>
        </p:nvPicPr>
        <p:blipFill>
          <a:blip r:embed="rId17"/>
          <a:stretch>
            <a:fillRect/>
          </a:stretch>
        </p:blipFill>
        <p:spPr>
          <a:xfrm flipH="1">
            <a:off x="4519251" y="5850269"/>
            <a:ext cx="304800" cy="304800"/>
          </a:xfrm>
          <a:prstGeom prst="rect">
            <a:avLst/>
          </a:prstGeom>
        </p:spPr>
      </p:pic>
      <p:pic>
        <p:nvPicPr>
          <p:cNvPr id="571" name="Picture 570">
            <a:extLst>
              <a:ext uri="{FF2B5EF4-FFF2-40B4-BE49-F238E27FC236}">
                <a16:creationId xmlns:a16="http://schemas.microsoft.com/office/drawing/2014/main" id="{7D461BD1-BEE4-31AC-A99D-54070E13DA17}"/>
              </a:ext>
            </a:extLst>
          </p:cNvPr>
          <p:cNvPicPr>
            <a:picLocks noChangeAspect="1"/>
          </p:cNvPicPr>
          <p:nvPr/>
        </p:nvPicPr>
        <p:blipFill>
          <a:blip r:embed="rId17"/>
          <a:stretch>
            <a:fillRect/>
          </a:stretch>
        </p:blipFill>
        <p:spPr>
          <a:xfrm flipH="1">
            <a:off x="6826742" y="5842743"/>
            <a:ext cx="304800" cy="304800"/>
          </a:xfrm>
          <a:prstGeom prst="rect">
            <a:avLst/>
          </a:prstGeom>
        </p:spPr>
      </p:pic>
    </p:spTree>
    <p:extLst>
      <p:ext uri="{BB962C8B-B14F-4D97-AF65-F5344CB8AC3E}">
        <p14:creationId xmlns:p14="http://schemas.microsoft.com/office/powerpoint/2010/main" val="2133037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3ABF-1F47-C53C-0C3A-87BDD3D8492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6727677-89B0-8CFD-39B7-288A3FDBB57D}"/>
              </a:ext>
            </a:extLst>
          </p:cNvPr>
          <p:cNvSpPr/>
          <p:nvPr/>
        </p:nvSpPr>
        <p:spPr>
          <a:xfrm>
            <a:off x="4997038" y="1131158"/>
            <a:ext cx="2272894" cy="5598875"/>
          </a:xfrm>
          <a:prstGeom prst="rect">
            <a:avLst/>
          </a:prstGeom>
          <a:solidFill>
            <a:schemeClr val="accent3">
              <a:lumMod val="60000"/>
              <a:lumOff val="40000"/>
              <a:alpha val="50000"/>
            </a:schemeClr>
          </a:solidFill>
          <a:ln w="12700" cap="flat">
            <a:solidFill>
              <a:schemeClr val="accent1">
                <a:shade val="95000"/>
                <a:satMod val="105000"/>
              </a:schemeClr>
            </a:solidFill>
            <a:prstDash val="dash"/>
            <a:round/>
            <a:extLst>
              <a:ext uri="{C807C97D-BFC1-408E-A445-0C87EB9F89A2}">
                <ask:lineSketchStyleProps xmlns:ask="http://schemas.microsoft.com/office/drawing/2018/sketchyshapes" sd="1219033472">
                  <a:custGeom>
                    <a:avLst/>
                    <a:gdLst>
                      <a:gd name="csX0" fmla="*/ 0 w 2272894"/>
                      <a:gd name="csY0" fmla="*/ 0 h 5459907"/>
                      <a:gd name="csX1" fmla="*/ 2272894 w 2272894"/>
                      <a:gd name="csY1" fmla="*/ 0 h 5459907"/>
                      <a:gd name="csX2" fmla="*/ 2272894 w 2272894"/>
                      <a:gd name="csY2" fmla="*/ 5459907 h 5459907"/>
                      <a:gd name="csX3" fmla="*/ 0 w 2272894"/>
                      <a:gd name="csY3" fmla="*/ 5459907 h 5459907"/>
                      <a:gd name="csX4" fmla="*/ 0 w 2272894"/>
                      <a:gd name="csY4" fmla="*/ 0 h 5459907"/>
                    </a:gdLst>
                    <a:ahLst/>
                    <a:cxnLst>
                      <a:cxn ang="0">
                        <a:pos x="csX0" y="csY0"/>
                      </a:cxn>
                      <a:cxn ang="0">
                        <a:pos x="csX1" y="csY1"/>
                      </a:cxn>
                      <a:cxn ang="0">
                        <a:pos x="csX2" y="csY2"/>
                      </a:cxn>
                      <a:cxn ang="0">
                        <a:pos x="csX3" y="csY3"/>
                      </a:cxn>
                      <a:cxn ang="0">
                        <a:pos x="csX4" y="csY4"/>
                      </a:cxn>
                    </a:cxnLst>
                    <a:rect l="l" t="t" r="r" b="b"/>
                    <a:pathLst>
                      <a:path w="2272894" h="5459907" fill="none" extrusionOk="0">
                        <a:moveTo>
                          <a:pt x="0" y="0"/>
                        </a:moveTo>
                        <a:cubicBezTo>
                          <a:pt x="246963" y="-49533"/>
                          <a:pt x="1730072" y="-14809"/>
                          <a:pt x="2272894" y="0"/>
                        </a:cubicBezTo>
                        <a:cubicBezTo>
                          <a:pt x="2360533" y="2338663"/>
                          <a:pt x="2200215" y="4176473"/>
                          <a:pt x="2272894" y="5459907"/>
                        </a:cubicBezTo>
                        <a:cubicBezTo>
                          <a:pt x="1517392" y="5411676"/>
                          <a:pt x="689315" y="5544362"/>
                          <a:pt x="0" y="5459907"/>
                        </a:cubicBezTo>
                        <a:cubicBezTo>
                          <a:pt x="-38581" y="2766092"/>
                          <a:pt x="63341" y="1068132"/>
                          <a:pt x="0" y="0"/>
                        </a:cubicBezTo>
                        <a:close/>
                      </a:path>
                      <a:path w="2272894" h="5459907" stroke="0" extrusionOk="0">
                        <a:moveTo>
                          <a:pt x="0" y="0"/>
                        </a:moveTo>
                        <a:cubicBezTo>
                          <a:pt x="1036537" y="118645"/>
                          <a:pt x="1713750" y="116012"/>
                          <a:pt x="2272894" y="0"/>
                        </a:cubicBezTo>
                        <a:cubicBezTo>
                          <a:pt x="2140012" y="799698"/>
                          <a:pt x="2357845" y="4086530"/>
                          <a:pt x="2272894" y="5459907"/>
                        </a:cubicBezTo>
                        <a:cubicBezTo>
                          <a:pt x="1934076" y="5594507"/>
                          <a:pt x="974238" y="5302711"/>
                          <a:pt x="0" y="5459907"/>
                        </a:cubicBezTo>
                        <a:cubicBezTo>
                          <a:pt x="-20187" y="4095132"/>
                          <a:pt x="-152480" y="2529508"/>
                          <a:pt x="0" y="0"/>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8F36B1E-4421-62CA-E09E-DFAE03ECBDBB}"/>
              </a:ext>
            </a:extLst>
          </p:cNvPr>
          <p:cNvSpPr/>
          <p:nvPr/>
        </p:nvSpPr>
        <p:spPr>
          <a:xfrm>
            <a:off x="457200" y="4364211"/>
            <a:ext cx="7140659" cy="2210760"/>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A7649C-399B-A7D8-23B6-9103D9339C31}"/>
              </a:ext>
            </a:extLst>
          </p:cNvPr>
          <p:cNvSpPr>
            <a:spLocks noGrp="1"/>
          </p:cNvSpPr>
          <p:nvPr>
            <p:ph type="title"/>
          </p:nvPr>
        </p:nvSpPr>
        <p:spPr>
          <a:xfrm>
            <a:off x="360013" y="-11842"/>
            <a:ext cx="8229600" cy="1143000"/>
          </a:xfrm>
        </p:spPr>
        <p:txBody>
          <a:bodyPr>
            <a:noAutofit/>
          </a:bodyPr>
          <a:lstStyle/>
          <a:p>
            <a:r>
              <a:rPr sz="3200"/>
              <a:t>Methodology: </a:t>
            </a:r>
            <a:r>
              <a:rPr lang="en-GB" sz="3200"/>
              <a:t>Proposed Simulation Framework</a:t>
            </a:r>
            <a:endParaRPr sz="3200"/>
          </a:p>
        </p:txBody>
      </p:sp>
      <p:sp>
        <p:nvSpPr>
          <p:cNvPr id="6" name="Can 5">
            <a:extLst>
              <a:ext uri="{FF2B5EF4-FFF2-40B4-BE49-F238E27FC236}">
                <a16:creationId xmlns:a16="http://schemas.microsoft.com/office/drawing/2014/main" id="{951E455F-C561-6E58-CC8E-0C4FC5F238BF}"/>
              </a:ext>
            </a:extLst>
          </p:cNvPr>
          <p:cNvSpPr/>
          <p:nvPr/>
        </p:nvSpPr>
        <p:spPr>
          <a:xfrm>
            <a:off x="885385" y="5000423"/>
            <a:ext cx="1018903" cy="1143000"/>
          </a:xfrm>
          <a:prstGeom prst="can">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err="1"/>
              <a:t>DataSet</a:t>
            </a:r>
            <a:endParaRPr lang="en-US"/>
          </a:p>
        </p:txBody>
      </p:sp>
      <p:cxnSp>
        <p:nvCxnSpPr>
          <p:cNvPr id="8" name="Straight Arrow Connector 7">
            <a:extLst>
              <a:ext uri="{FF2B5EF4-FFF2-40B4-BE49-F238E27FC236}">
                <a16:creationId xmlns:a16="http://schemas.microsoft.com/office/drawing/2014/main" id="{FB96A4DD-1145-4C3E-1DBD-CC982FF21C79}"/>
              </a:ext>
            </a:extLst>
          </p:cNvPr>
          <p:cNvCxnSpPr>
            <a:cxnSpLocks/>
            <a:endCxn id="31" idx="1"/>
          </p:cNvCxnSpPr>
          <p:nvPr/>
        </p:nvCxnSpPr>
        <p:spPr>
          <a:xfrm>
            <a:off x="1803929" y="5586074"/>
            <a:ext cx="881742" cy="14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a:extLst>
              <a:ext uri="{FF2B5EF4-FFF2-40B4-BE49-F238E27FC236}">
                <a16:creationId xmlns:a16="http://schemas.microsoft.com/office/drawing/2014/main" id="{D1390177-FBD9-8F4F-EDA5-30DFBCE23645}"/>
              </a:ext>
            </a:extLst>
          </p:cNvPr>
          <p:cNvSpPr/>
          <p:nvPr/>
        </p:nvSpPr>
        <p:spPr>
          <a:xfrm>
            <a:off x="5183066" y="4724670"/>
            <a:ext cx="1815738" cy="1717021"/>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GB" sz="1200">
                <a:solidFill>
                  <a:schemeClr val="tx1"/>
                </a:solidFill>
              </a:rPr>
              <a:t>Feature</a:t>
            </a:r>
            <a:r>
              <a:rPr lang="zh-CN" altLang="en-US" sz="1200">
                <a:solidFill>
                  <a:schemeClr val="tx1"/>
                </a:solidFill>
              </a:rPr>
              <a:t> </a:t>
            </a:r>
            <a:r>
              <a:rPr lang="en-US" altLang="zh-CN" sz="1200">
                <a:solidFill>
                  <a:schemeClr val="tx1"/>
                </a:solidFill>
              </a:rPr>
              <a:t>extraction</a:t>
            </a:r>
            <a:endParaRPr lang="en-US" sz="1200">
              <a:solidFill>
                <a:schemeClr val="tx1"/>
              </a:solidFill>
            </a:endParaRPr>
          </a:p>
        </p:txBody>
      </p:sp>
      <p:cxnSp>
        <p:nvCxnSpPr>
          <p:cNvPr id="17" name="Straight Arrow Connector 16">
            <a:extLst>
              <a:ext uri="{FF2B5EF4-FFF2-40B4-BE49-F238E27FC236}">
                <a16:creationId xmlns:a16="http://schemas.microsoft.com/office/drawing/2014/main" id="{2CB87647-8814-233A-C933-61DE9775BEDC}"/>
              </a:ext>
            </a:extLst>
          </p:cNvPr>
          <p:cNvCxnSpPr>
            <a:cxnSpLocks/>
            <a:stCxn id="31" idx="3"/>
            <a:endCxn id="16" idx="1"/>
          </p:cNvCxnSpPr>
          <p:nvPr/>
        </p:nvCxnSpPr>
        <p:spPr>
          <a:xfrm flipV="1">
            <a:off x="4501409" y="5583181"/>
            <a:ext cx="681657" cy="43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481748B-DFA3-5040-1741-08C0E6A1CBC3}"/>
              </a:ext>
            </a:extLst>
          </p:cNvPr>
          <p:cNvSpPr txBox="1"/>
          <p:nvPr/>
        </p:nvSpPr>
        <p:spPr>
          <a:xfrm>
            <a:off x="5156939" y="6070854"/>
            <a:ext cx="1898470" cy="276999"/>
          </a:xfrm>
          <a:prstGeom prst="rect">
            <a:avLst/>
          </a:prstGeom>
          <a:noFill/>
        </p:spPr>
        <p:txBody>
          <a:bodyPr wrap="square" rtlCol="0">
            <a:spAutoFit/>
          </a:bodyPr>
          <a:lstStyle/>
          <a:p>
            <a:r>
              <a:rPr lang="en-US" sz="1200"/>
              <a:t>PCA, </a:t>
            </a:r>
            <a:r>
              <a:rPr lang="en-US" sz="1200" err="1"/>
              <a:t>AutoEncoder</a:t>
            </a:r>
            <a:r>
              <a:rPr lang="en-US" sz="1200"/>
              <a:t>, </a:t>
            </a:r>
            <a:r>
              <a:rPr lang="en-US" sz="1200" err="1"/>
              <a:t>ResNeXt</a:t>
            </a:r>
            <a:endParaRPr lang="en-US" sz="1200"/>
          </a:p>
        </p:txBody>
      </p:sp>
      <p:sp>
        <p:nvSpPr>
          <p:cNvPr id="31" name="Rounded Rectangle 30">
            <a:extLst>
              <a:ext uri="{FF2B5EF4-FFF2-40B4-BE49-F238E27FC236}">
                <a16:creationId xmlns:a16="http://schemas.microsoft.com/office/drawing/2014/main" id="{4C4BE4F8-8409-9639-A500-F83409FCFFA7}"/>
              </a:ext>
            </a:extLst>
          </p:cNvPr>
          <p:cNvSpPr/>
          <p:nvPr/>
        </p:nvSpPr>
        <p:spPr>
          <a:xfrm>
            <a:off x="2685671" y="4729023"/>
            <a:ext cx="1815738" cy="1717021"/>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sz="1200">
                <a:solidFill>
                  <a:schemeClr val="tx1"/>
                </a:solidFill>
              </a:rPr>
              <a:t>Feature Selection</a:t>
            </a:r>
          </a:p>
        </p:txBody>
      </p:sp>
      <p:sp>
        <p:nvSpPr>
          <p:cNvPr id="34" name="Oval 33">
            <a:extLst>
              <a:ext uri="{FF2B5EF4-FFF2-40B4-BE49-F238E27FC236}">
                <a16:creationId xmlns:a16="http://schemas.microsoft.com/office/drawing/2014/main" id="{898E5945-17AE-5FBB-BC98-0FD633DC2CAC}"/>
              </a:ext>
            </a:extLst>
          </p:cNvPr>
          <p:cNvSpPr/>
          <p:nvPr/>
        </p:nvSpPr>
        <p:spPr>
          <a:xfrm>
            <a:off x="2796705"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D4FE70E-F51F-727A-A874-33B8D4973ACE}"/>
              </a:ext>
            </a:extLst>
          </p:cNvPr>
          <p:cNvSpPr/>
          <p:nvPr/>
        </p:nvSpPr>
        <p:spPr>
          <a:xfrm>
            <a:off x="3114569"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E465672-FFCF-BCE1-F9B8-C0A0E6B71185}"/>
              </a:ext>
            </a:extLst>
          </p:cNvPr>
          <p:cNvSpPr/>
          <p:nvPr/>
        </p:nvSpPr>
        <p:spPr>
          <a:xfrm>
            <a:off x="3458557" y="513014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FE35625-CA79-A0B6-4996-D4741B89A479}"/>
              </a:ext>
            </a:extLst>
          </p:cNvPr>
          <p:cNvSpPr/>
          <p:nvPr/>
        </p:nvSpPr>
        <p:spPr>
          <a:xfrm>
            <a:off x="3809075" y="513014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CB2106DB-534B-A3C8-74B6-F9ADB9D133FF}"/>
              </a:ext>
            </a:extLst>
          </p:cNvPr>
          <p:cNvSpPr/>
          <p:nvPr/>
        </p:nvSpPr>
        <p:spPr>
          <a:xfrm>
            <a:off x="4140001" y="513014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Multiply 39">
            <a:extLst>
              <a:ext uri="{FF2B5EF4-FFF2-40B4-BE49-F238E27FC236}">
                <a16:creationId xmlns:a16="http://schemas.microsoft.com/office/drawing/2014/main" id="{20DAA727-43B6-B948-17C0-65167B768785}"/>
              </a:ext>
            </a:extLst>
          </p:cNvPr>
          <p:cNvSpPr/>
          <p:nvPr/>
        </p:nvSpPr>
        <p:spPr>
          <a:xfrm>
            <a:off x="3068851" y="5051951"/>
            <a:ext cx="341808" cy="374468"/>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Multiply 40">
            <a:extLst>
              <a:ext uri="{FF2B5EF4-FFF2-40B4-BE49-F238E27FC236}">
                <a16:creationId xmlns:a16="http://schemas.microsoft.com/office/drawing/2014/main" id="{E8ACCC30-8847-DDF5-0E99-0273CCFD743E}"/>
              </a:ext>
            </a:extLst>
          </p:cNvPr>
          <p:cNvSpPr/>
          <p:nvPr/>
        </p:nvSpPr>
        <p:spPr>
          <a:xfrm>
            <a:off x="3763360" y="5059209"/>
            <a:ext cx="341808" cy="374468"/>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70BE998-DE42-AC75-3931-827DAE46A753}"/>
              </a:ext>
            </a:extLst>
          </p:cNvPr>
          <p:cNvSpPr txBox="1"/>
          <p:nvPr/>
        </p:nvSpPr>
        <p:spPr>
          <a:xfrm>
            <a:off x="2986021" y="5392424"/>
            <a:ext cx="1201419" cy="292388"/>
          </a:xfrm>
          <a:prstGeom prst="rect">
            <a:avLst/>
          </a:prstGeom>
          <a:noFill/>
        </p:spPr>
        <p:txBody>
          <a:bodyPr wrap="none" rtlCol="0">
            <a:spAutoFit/>
          </a:bodyPr>
          <a:lstStyle/>
          <a:p>
            <a:r>
              <a:rPr lang="en-US" sz="1300">
                <a:ea typeface="SimSun" panose="02010600030101010101" pitchFamily="2" charset="-122"/>
              </a:rPr>
              <a:t>Feature</a:t>
            </a:r>
            <a:r>
              <a:rPr lang="zh-CN" altLang="en-US" sz="1300">
                <a:ea typeface="SimSun" panose="02010600030101010101" pitchFamily="2" charset="-122"/>
              </a:rPr>
              <a:t> </a:t>
            </a:r>
            <a:r>
              <a:rPr lang="en-US" altLang="zh-CN" sz="1300">
                <a:ea typeface="SimSun" panose="02010600030101010101" pitchFamily="2" charset="-122"/>
              </a:rPr>
              <a:t>scaling</a:t>
            </a:r>
            <a:endParaRPr lang="en-US" sz="1300">
              <a:ea typeface="SimSun" panose="02010600030101010101" pitchFamily="2" charset="-122"/>
            </a:endParaRPr>
          </a:p>
        </p:txBody>
      </p:sp>
      <p:pic>
        <p:nvPicPr>
          <p:cNvPr id="47" name="Picture 46">
            <a:extLst>
              <a:ext uri="{FF2B5EF4-FFF2-40B4-BE49-F238E27FC236}">
                <a16:creationId xmlns:a16="http://schemas.microsoft.com/office/drawing/2014/main" id="{21949BEA-0A35-9974-7DA4-7DA769B30521}"/>
              </a:ext>
            </a:extLst>
          </p:cNvPr>
          <p:cNvPicPr>
            <a:picLocks noChangeAspect="1"/>
          </p:cNvPicPr>
          <p:nvPr/>
        </p:nvPicPr>
        <p:blipFill>
          <a:blip r:embed="rId3"/>
          <a:stretch>
            <a:fillRect/>
          </a:stretch>
        </p:blipFill>
        <p:spPr>
          <a:xfrm>
            <a:off x="2796705" y="5675867"/>
            <a:ext cx="1610407" cy="635356"/>
          </a:xfrm>
          <a:prstGeom prst="rect">
            <a:avLst/>
          </a:prstGeom>
        </p:spPr>
      </p:pic>
      <p:sp>
        <p:nvSpPr>
          <p:cNvPr id="51" name="Rounded Rectangle 50">
            <a:extLst>
              <a:ext uri="{FF2B5EF4-FFF2-40B4-BE49-F238E27FC236}">
                <a16:creationId xmlns:a16="http://schemas.microsoft.com/office/drawing/2014/main" id="{C104F36B-F534-4203-4C3B-1A7267A0950D}"/>
              </a:ext>
            </a:extLst>
          </p:cNvPr>
          <p:cNvSpPr/>
          <p:nvPr/>
        </p:nvSpPr>
        <p:spPr>
          <a:xfrm>
            <a:off x="3259990" y="1818761"/>
            <a:ext cx="1614198" cy="1601833"/>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sz="1200" err="1">
                <a:solidFill>
                  <a:schemeClr val="tx1"/>
                </a:solidFill>
              </a:rPr>
              <a:t>Classifer</a:t>
            </a:r>
            <a:r>
              <a:rPr lang="zh-CN" altLang="en-US" sz="1200">
                <a:solidFill>
                  <a:schemeClr val="tx1"/>
                </a:solidFill>
              </a:rPr>
              <a:t>  </a:t>
            </a:r>
            <a:r>
              <a:rPr lang="en-US" altLang="zh-CN" sz="1200">
                <a:solidFill>
                  <a:schemeClr val="tx1"/>
                </a:solidFill>
              </a:rPr>
              <a:t>Model</a:t>
            </a:r>
            <a:endParaRPr lang="en-US" sz="1200">
              <a:solidFill>
                <a:schemeClr val="tx1"/>
              </a:solidFill>
            </a:endParaRPr>
          </a:p>
        </p:txBody>
      </p:sp>
      <p:sp>
        <p:nvSpPr>
          <p:cNvPr id="52" name="Rounded Rectangle 51">
            <a:extLst>
              <a:ext uri="{FF2B5EF4-FFF2-40B4-BE49-F238E27FC236}">
                <a16:creationId xmlns:a16="http://schemas.microsoft.com/office/drawing/2014/main" id="{8B8FC5B0-A1F5-D5BD-3910-5A2F09AEB404}"/>
              </a:ext>
            </a:extLst>
          </p:cNvPr>
          <p:cNvSpPr/>
          <p:nvPr/>
        </p:nvSpPr>
        <p:spPr>
          <a:xfrm>
            <a:off x="754743" y="1818761"/>
            <a:ext cx="1582795" cy="1610239"/>
          </a:xfrm>
          <a:prstGeom prst="roundRect">
            <a:avLst/>
          </a:prstGeom>
          <a:noFill/>
          <a:ln>
            <a:prstDash val="lgDash"/>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altLang="zh-CN" sz="1200">
                <a:solidFill>
                  <a:schemeClr val="tx1"/>
                </a:solidFill>
              </a:rPr>
              <a:t>Feature Encoding</a:t>
            </a:r>
          </a:p>
        </p:txBody>
      </p:sp>
      <p:cxnSp>
        <p:nvCxnSpPr>
          <p:cNvPr id="56" name="Elbow Connector 55">
            <a:extLst>
              <a:ext uri="{FF2B5EF4-FFF2-40B4-BE49-F238E27FC236}">
                <a16:creationId xmlns:a16="http://schemas.microsoft.com/office/drawing/2014/main" id="{E454A758-71CA-2BDE-0059-C54C08D00CD7}"/>
              </a:ext>
            </a:extLst>
          </p:cNvPr>
          <p:cNvCxnSpPr>
            <a:cxnSpLocks/>
            <a:stCxn id="16" idx="0"/>
            <a:endCxn id="52" idx="2"/>
          </p:cNvCxnSpPr>
          <p:nvPr/>
        </p:nvCxnSpPr>
        <p:spPr>
          <a:xfrm rot="16200000" flipV="1">
            <a:off x="3170703" y="1804438"/>
            <a:ext cx="1295670" cy="4544794"/>
          </a:xfrm>
          <a:prstGeom prst="bentConnector3">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57" name="Right Arrow 56">
            <a:extLst>
              <a:ext uri="{FF2B5EF4-FFF2-40B4-BE49-F238E27FC236}">
                <a16:creationId xmlns:a16="http://schemas.microsoft.com/office/drawing/2014/main" id="{4102F10F-61FB-ACF1-672C-97A8402E3AFB}"/>
              </a:ext>
            </a:extLst>
          </p:cNvPr>
          <p:cNvSpPr/>
          <p:nvPr/>
        </p:nvSpPr>
        <p:spPr>
          <a:xfrm>
            <a:off x="6364514" y="4071257"/>
            <a:ext cx="1560286"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 name="Right Arrow 57">
            <a:extLst>
              <a:ext uri="{FF2B5EF4-FFF2-40B4-BE49-F238E27FC236}">
                <a16:creationId xmlns:a16="http://schemas.microsoft.com/office/drawing/2014/main" id="{6EE0CBBE-B553-FAB0-5A8E-9FFE28521536}"/>
              </a:ext>
            </a:extLst>
          </p:cNvPr>
          <p:cNvSpPr/>
          <p:nvPr/>
        </p:nvSpPr>
        <p:spPr>
          <a:xfrm>
            <a:off x="7127979" y="2512280"/>
            <a:ext cx="796821"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 name="Can 60">
            <a:extLst>
              <a:ext uri="{FF2B5EF4-FFF2-40B4-BE49-F238E27FC236}">
                <a16:creationId xmlns:a16="http://schemas.microsoft.com/office/drawing/2014/main" id="{EF3E311E-249D-8AE8-40EB-C4B8841E7274}"/>
              </a:ext>
            </a:extLst>
          </p:cNvPr>
          <p:cNvSpPr/>
          <p:nvPr/>
        </p:nvSpPr>
        <p:spPr>
          <a:xfrm>
            <a:off x="5599624" y="1973898"/>
            <a:ext cx="1264196" cy="1295671"/>
          </a:xfrm>
          <a:prstGeom prst="can">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a:t>Classification</a:t>
            </a:r>
            <a:r>
              <a:rPr lang="zh-CN" altLang="en-US" sz="1600"/>
              <a:t> </a:t>
            </a:r>
            <a:r>
              <a:rPr lang="en-US" altLang="zh-CN" sz="1600"/>
              <a:t>result</a:t>
            </a:r>
            <a:endParaRPr lang="en-US" sz="1600"/>
          </a:p>
        </p:txBody>
      </p:sp>
      <p:cxnSp>
        <p:nvCxnSpPr>
          <p:cNvPr id="64" name="Straight Arrow Connector 63">
            <a:extLst>
              <a:ext uri="{FF2B5EF4-FFF2-40B4-BE49-F238E27FC236}">
                <a16:creationId xmlns:a16="http://schemas.microsoft.com/office/drawing/2014/main" id="{097E2E20-F783-3FBA-F095-1120DB9F8B47}"/>
              </a:ext>
            </a:extLst>
          </p:cNvPr>
          <p:cNvCxnSpPr>
            <a:cxnSpLocks/>
          </p:cNvCxnSpPr>
          <p:nvPr/>
        </p:nvCxnSpPr>
        <p:spPr>
          <a:xfrm>
            <a:off x="2337538" y="2220686"/>
            <a:ext cx="9447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064E9001-AEBD-CC4E-EEA8-630A81455DDF}"/>
              </a:ext>
            </a:extLst>
          </p:cNvPr>
          <p:cNvCxnSpPr>
            <a:cxnSpLocks/>
          </p:cNvCxnSpPr>
          <p:nvPr/>
        </p:nvCxnSpPr>
        <p:spPr>
          <a:xfrm>
            <a:off x="2337538" y="2844800"/>
            <a:ext cx="9224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0C82C30F-DB6C-8563-EE0F-95A70A254AB1}"/>
              </a:ext>
            </a:extLst>
          </p:cNvPr>
          <p:cNvSpPr/>
          <p:nvPr/>
        </p:nvSpPr>
        <p:spPr>
          <a:xfrm>
            <a:off x="2641600" y="1806170"/>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69" name="Rectangle 68">
            <a:extLst>
              <a:ext uri="{FF2B5EF4-FFF2-40B4-BE49-F238E27FC236}">
                <a16:creationId xmlns:a16="http://schemas.microsoft.com/office/drawing/2014/main" id="{29B6B052-7ABF-86FB-50DC-081D1374EB08}"/>
              </a:ext>
            </a:extLst>
          </p:cNvPr>
          <p:cNvSpPr/>
          <p:nvPr/>
        </p:nvSpPr>
        <p:spPr>
          <a:xfrm>
            <a:off x="2573926" y="1884016"/>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70" name="Rectangle 69">
            <a:extLst>
              <a:ext uri="{FF2B5EF4-FFF2-40B4-BE49-F238E27FC236}">
                <a16:creationId xmlns:a16="http://schemas.microsoft.com/office/drawing/2014/main" id="{CF703202-FE4F-CA62-0EF6-FF8049605C7A}"/>
              </a:ext>
            </a:extLst>
          </p:cNvPr>
          <p:cNvSpPr/>
          <p:nvPr/>
        </p:nvSpPr>
        <p:spPr>
          <a:xfrm>
            <a:off x="2506252" y="1972097"/>
            <a:ext cx="517350" cy="132612"/>
          </a:xfrm>
          <a:prstGeom prst="rect">
            <a:avLst/>
          </a:prstGeom>
          <a:ln>
            <a:solidFill>
              <a:schemeClr val="accent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attack</a:t>
            </a:r>
            <a:endParaRPr lang="en-US" sz="800">
              <a:ln w="0"/>
              <a:solidFill>
                <a:schemeClr val="tx1"/>
              </a:solidFill>
              <a:effectLst>
                <a:outerShdw blurRad="38100" dist="19050" dir="2700000" algn="tl" rotWithShape="0">
                  <a:schemeClr val="dk1">
                    <a:alpha val="40000"/>
                  </a:schemeClr>
                </a:outerShdw>
              </a:effectLst>
            </a:endParaRPr>
          </a:p>
        </p:txBody>
      </p:sp>
      <p:sp>
        <p:nvSpPr>
          <p:cNvPr id="71" name="Rectangle 70">
            <a:extLst>
              <a:ext uri="{FF2B5EF4-FFF2-40B4-BE49-F238E27FC236}">
                <a16:creationId xmlns:a16="http://schemas.microsoft.com/office/drawing/2014/main" id="{BB23A304-3133-FFFC-BA77-35B0AB9925F7}"/>
              </a:ext>
            </a:extLst>
          </p:cNvPr>
          <p:cNvSpPr/>
          <p:nvPr/>
        </p:nvSpPr>
        <p:spPr>
          <a:xfrm>
            <a:off x="2764927" y="1740989"/>
            <a:ext cx="517350" cy="132612"/>
          </a:xfrm>
          <a:prstGeom prst="rect">
            <a:avLst/>
          </a:prstGeom>
          <a:ln>
            <a:solidFill>
              <a:schemeClr val="accent3">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800">
                <a:ln w="0"/>
                <a:solidFill>
                  <a:schemeClr val="tx1"/>
                </a:solidFill>
                <a:effectLst>
                  <a:outerShdw blurRad="38100" dist="19050" dir="2700000" algn="tl" rotWithShape="0">
                    <a:schemeClr val="dk1">
                      <a:alpha val="40000"/>
                    </a:schemeClr>
                  </a:outerShdw>
                </a:effectLst>
              </a:rPr>
              <a:t>normal</a:t>
            </a:r>
            <a:endParaRPr lang="en-US" sz="800">
              <a:ln w="0"/>
              <a:solidFill>
                <a:schemeClr val="tx1"/>
              </a:solidFill>
              <a:effectLst>
                <a:outerShdw blurRad="38100" dist="19050" dir="2700000" algn="tl" rotWithShape="0">
                  <a:schemeClr val="dk1">
                    <a:alpha val="40000"/>
                  </a:schemeClr>
                </a:outerShdw>
              </a:effectLst>
            </a:endParaRPr>
          </a:p>
        </p:txBody>
      </p:sp>
      <p:sp>
        <p:nvSpPr>
          <p:cNvPr id="72" name="TextBox 71">
            <a:extLst>
              <a:ext uri="{FF2B5EF4-FFF2-40B4-BE49-F238E27FC236}">
                <a16:creationId xmlns:a16="http://schemas.microsoft.com/office/drawing/2014/main" id="{E4E5F51E-54AE-A4DA-44E3-3B28801864C1}"/>
              </a:ext>
            </a:extLst>
          </p:cNvPr>
          <p:cNvSpPr txBox="1"/>
          <p:nvPr/>
        </p:nvSpPr>
        <p:spPr>
          <a:xfrm>
            <a:off x="2641600" y="2868438"/>
            <a:ext cx="652698" cy="246221"/>
          </a:xfrm>
          <a:prstGeom prst="rect">
            <a:avLst/>
          </a:prstGeom>
          <a:noFill/>
        </p:spPr>
        <p:txBody>
          <a:bodyPr wrap="square" rtlCol="0">
            <a:spAutoFit/>
          </a:bodyPr>
          <a:lstStyle/>
          <a:p>
            <a:r>
              <a:rPr lang="en-US" sz="1000"/>
              <a:t>Test</a:t>
            </a:r>
          </a:p>
        </p:txBody>
      </p:sp>
      <p:sp>
        <p:nvSpPr>
          <p:cNvPr id="73" name="TextBox 72">
            <a:extLst>
              <a:ext uri="{FF2B5EF4-FFF2-40B4-BE49-F238E27FC236}">
                <a16:creationId xmlns:a16="http://schemas.microsoft.com/office/drawing/2014/main" id="{58C31ACD-ACA6-096C-05E0-6A8CDCEDE838}"/>
              </a:ext>
            </a:extLst>
          </p:cNvPr>
          <p:cNvSpPr txBox="1"/>
          <p:nvPr/>
        </p:nvSpPr>
        <p:spPr>
          <a:xfrm>
            <a:off x="2621514" y="2244926"/>
            <a:ext cx="652698" cy="246221"/>
          </a:xfrm>
          <a:prstGeom prst="rect">
            <a:avLst/>
          </a:prstGeom>
          <a:noFill/>
        </p:spPr>
        <p:txBody>
          <a:bodyPr wrap="square" rtlCol="0">
            <a:spAutoFit/>
          </a:bodyPr>
          <a:lstStyle/>
          <a:p>
            <a:r>
              <a:rPr lang="en-US" sz="1000"/>
              <a:t>Train</a:t>
            </a:r>
          </a:p>
        </p:txBody>
      </p:sp>
      <p:sp>
        <p:nvSpPr>
          <p:cNvPr id="74" name="TextBox 73">
            <a:extLst>
              <a:ext uri="{FF2B5EF4-FFF2-40B4-BE49-F238E27FC236}">
                <a16:creationId xmlns:a16="http://schemas.microsoft.com/office/drawing/2014/main" id="{85A42BEC-E9EF-9C69-762A-A4EE23D7D400}"/>
              </a:ext>
            </a:extLst>
          </p:cNvPr>
          <p:cNvSpPr txBox="1"/>
          <p:nvPr/>
        </p:nvSpPr>
        <p:spPr>
          <a:xfrm>
            <a:off x="8055429" y="3976914"/>
            <a:ext cx="957942" cy="523220"/>
          </a:xfrm>
          <a:prstGeom prst="rect">
            <a:avLst/>
          </a:prstGeom>
          <a:noFill/>
        </p:spPr>
        <p:txBody>
          <a:bodyPr wrap="square" rtlCol="0">
            <a:spAutoFit/>
          </a:bodyPr>
          <a:lstStyle/>
          <a:p>
            <a:r>
              <a:rPr lang="en-US" sz="1400"/>
              <a:t>Network</a:t>
            </a:r>
            <a:r>
              <a:rPr lang="zh-CN" altLang="en-US" sz="1400"/>
              <a:t> </a:t>
            </a:r>
            <a:r>
              <a:rPr lang="en-US" altLang="zh-CN" sz="1400"/>
              <a:t>traffic</a:t>
            </a:r>
            <a:endParaRPr lang="en-US" sz="1400"/>
          </a:p>
        </p:txBody>
      </p:sp>
      <p:cxnSp>
        <p:nvCxnSpPr>
          <p:cNvPr id="76" name="Straight Arrow Connector 75">
            <a:extLst>
              <a:ext uri="{FF2B5EF4-FFF2-40B4-BE49-F238E27FC236}">
                <a16:creationId xmlns:a16="http://schemas.microsoft.com/office/drawing/2014/main" id="{10389F9C-4598-137B-4745-F71A0E0830AC}"/>
              </a:ext>
            </a:extLst>
          </p:cNvPr>
          <p:cNvCxnSpPr>
            <a:cxnSpLocks/>
            <a:stCxn id="51" idx="3"/>
            <a:endCxn id="61" idx="2"/>
          </p:cNvCxnSpPr>
          <p:nvPr/>
        </p:nvCxnSpPr>
        <p:spPr>
          <a:xfrm>
            <a:off x="4874188" y="2619678"/>
            <a:ext cx="725436" cy="2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Right Arrow 76">
            <a:extLst>
              <a:ext uri="{FF2B5EF4-FFF2-40B4-BE49-F238E27FC236}">
                <a16:creationId xmlns:a16="http://schemas.microsoft.com/office/drawing/2014/main" id="{BAF0A316-76DD-478D-567B-A5050D8F6F37}"/>
              </a:ext>
            </a:extLst>
          </p:cNvPr>
          <p:cNvSpPr/>
          <p:nvPr/>
        </p:nvSpPr>
        <p:spPr>
          <a:xfrm>
            <a:off x="7284231" y="5402806"/>
            <a:ext cx="796821" cy="214793"/>
          </a:xfrm>
          <a:prstGeom prst="rightArrow">
            <a:avLst/>
          </a:prstGeom>
          <a:ln>
            <a:solidFill>
              <a:schemeClr val="tx2">
                <a:lumMod val="75000"/>
                <a:alpha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 name="TextBox 77">
            <a:extLst>
              <a:ext uri="{FF2B5EF4-FFF2-40B4-BE49-F238E27FC236}">
                <a16:creationId xmlns:a16="http://schemas.microsoft.com/office/drawing/2014/main" id="{CFCC8544-DE2C-F5C4-BC42-B00DD8CE1FD7}"/>
              </a:ext>
            </a:extLst>
          </p:cNvPr>
          <p:cNvSpPr txBox="1"/>
          <p:nvPr/>
        </p:nvSpPr>
        <p:spPr>
          <a:xfrm>
            <a:off x="8055429" y="5130146"/>
            <a:ext cx="1146629" cy="738664"/>
          </a:xfrm>
          <a:prstGeom prst="rect">
            <a:avLst/>
          </a:prstGeom>
          <a:noFill/>
        </p:spPr>
        <p:txBody>
          <a:bodyPr wrap="square" rtlCol="0">
            <a:spAutoFit/>
          </a:bodyPr>
          <a:lstStyle/>
          <a:p>
            <a:r>
              <a:rPr lang="en-US" sz="1400"/>
              <a:t>CPU</a:t>
            </a:r>
          </a:p>
          <a:p>
            <a:endParaRPr lang="en-US" sz="1400"/>
          </a:p>
          <a:p>
            <a:r>
              <a:rPr lang="en-US" sz="1400"/>
              <a:t>Memory</a:t>
            </a:r>
          </a:p>
        </p:txBody>
      </p:sp>
      <p:sp>
        <p:nvSpPr>
          <p:cNvPr id="79" name="TextBox 78">
            <a:extLst>
              <a:ext uri="{FF2B5EF4-FFF2-40B4-BE49-F238E27FC236}">
                <a16:creationId xmlns:a16="http://schemas.microsoft.com/office/drawing/2014/main" id="{40FEA40F-045D-3818-232F-1989D72E2D17}"/>
              </a:ext>
            </a:extLst>
          </p:cNvPr>
          <p:cNvSpPr txBox="1"/>
          <p:nvPr/>
        </p:nvSpPr>
        <p:spPr>
          <a:xfrm>
            <a:off x="7997371" y="2262349"/>
            <a:ext cx="957942" cy="738664"/>
          </a:xfrm>
          <a:prstGeom prst="rect">
            <a:avLst/>
          </a:prstGeom>
          <a:noFill/>
        </p:spPr>
        <p:txBody>
          <a:bodyPr wrap="square" rtlCol="0">
            <a:spAutoFit/>
          </a:bodyPr>
          <a:lstStyle/>
          <a:p>
            <a:r>
              <a:rPr lang="en-GB" sz="1400"/>
              <a:t>Accuracy</a:t>
            </a:r>
          </a:p>
          <a:p>
            <a:endParaRPr lang="en-GB" sz="1400"/>
          </a:p>
          <a:p>
            <a:r>
              <a:rPr lang="en-GB" sz="1400"/>
              <a:t>F</a:t>
            </a:r>
            <a:r>
              <a:rPr lang="en-US" altLang="zh-CN" sz="1400"/>
              <a:t>1</a:t>
            </a:r>
            <a:r>
              <a:rPr lang="zh-CN" altLang="en-US" sz="1400"/>
              <a:t> </a:t>
            </a:r>
            <a:r>
              <a:rPr lang="en-US" altLang="zh-CN" sz="1400"/>
              <a:t>score</a:t>
            </a:r>
            <a:endParaRPr lang="en-US" sz="1400"/>
          </a:p>
        </p:txBody>
      </p:sp>
      <p:pic>
        <p:nvPicPr>
          <p:cNvPr id="80" name="Picture 79">
            <a:extLst>
              <a:ext uri="{FF2B5EF4-FFF2-40B4-BE49-F238E27FC236}">
                <a16:creationId xmlns:a16="http://schemas.microsoft.com/office/drawing/2014/main" id="{6488728A-F82B-5347-ACAE-568692FF907D}"/>
              </a:ext>
            </a:extLst>
          </p:cNvPr>
          <p:cNvPicPr>
            <a:picLocks noChangeAspect="1"/>
          </p:cNvPicPr>
          <p:nvPr/>
        </p:nvPicPr>
        <p:blipFill>
          <a:blip r:embed="rId4"/>
          <a:stretch>
            <a:fillRect/>
          </a:stretch>
        </p:blipFill>
        <p:spPr>
          <a:xfrm>
            <a:off x="3336848" y="2970214"/>
            <a:ext cx="1501822" cy="351825"/>
          </a:xfrm>
          <a:prstGeom prst="rect">
            <a:avLst/>
          </a:prstGeom>
        </p:spPr>
      </p:pic>
      <p:pic>
        <p:nvPicPr>
          <p:cNvPr id="81" name="Picture 80">
            <a:extLst>
              <a:ext uri="{FF2B5EF4-FFF2-40B4-BE49-F238E27FC236}">
                <a16:creationId xmlns:a16="http://schemas.microsoft.com/office/drawing/2014/main" id="{C0550D18-DE3C-F599-E431-5240A0F0D7A9}"/>
              </a:ext>
            </a:extLst>
          </p:cNvPr>
          <p:cNvPicPr>
            <a:picLocks noChangeAspect="1"/>
          </p:cNvPicPr>
          <p:nvPr/>
        </p:nvPicPr>
        <p:blipFill>
          <a:blip r:embed="rId5"/>
          <a:stretch>
            <a:fillRect/>
          </a:stretch>
        </p:blipFill>
        <p:spPr>
          <a:xfrm>
            <a:off x="3536028" y="2251668"/>
            <a:ext cx="1060982" cy="519720"/>
          </a:xfrm>
          <a:prstGeom prst="rect">
            <a:avLst/>
          </a:prstGeom>
        </p:spPr>
      </p:pic>
      <p:sp>
        <p:nvSpPr>
          <p:cNvPr id="4" name="Rectangle 3">
            <a:extLst>
              <a:ext uri="{FF2B5EF4-FFF2-40B4-BE49-F238E27FC236}">
                <a16:creationId xmlns:a16="http://schemas.microsoft.com/office/drawing/2014/main" id="{7C9932A4-32D4-F522-A763-3EB6F836FB90}"/>
              </a:ext>
            </a:extLst>
          </p:cNvPr>
          <p:cNvSpPr/>
          <p:nvPr/>
        </p:nvSpPr>
        <p:spPr>
          <a:xfrm>
            <a:off x="355252" y="1270466"/>
            <a:ext cx="7140659" cy="2357664"/>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770629D-73C8-A0CD-A17F-762F9D35451E}"/>
              </a:ext>
            </a:extLst>
          </p:cNvPr>
          <p:cNvSpPr txBox="1"/>
          <p:nvPr/>
        </p:nvSpPr>
        <p:spPr>
          <a:xfrm>
            <a:off x="449758" y="4364211"/>
            <a:ext cx="2124168" cy="369332"/>
          </a:xfrm>
          <a:prstGeom prst="rect">
            <a:avLst/>
          </a:prstGeom>
          <a:noFill/>
        </p:spPr>
        <p:txBody>
          <a:bodyPr wrap="square" rtlCol="0">
            <a:spAutoFit/>
          </a:bodyPr>
          <a:lstStyle/>
          <a:p>
            <a:r>
              <a:rPr lang="en-US"/>
              <a:t>Edge</a:t>
            </a:r>
            <a:r>
              <a:rPr lang="zh-CN" altLang="en-US"/>
              <a:t> </a:t>
            </a:r>
            <a:r>
              <a:rPr lang="en-GB"/>
              <a:t>Simulation</a:t>
            </a:r>
            <a:endParaRPr lang="en-US"/>
          </a:p>
        </p:txBody>
      </p:sp>
      <p:sp>
        <p:nvSpPr>
          <p:cNvPr id="7" name="TextBox 6">
            <a:extLst>
              <a:ext uri="{FF2B5EF4-FFF2-40B4-BE49-F238E27FC236}">
                <a16:creationId xmlns:a16="http://schemas.microsoft.com/office/drawing/2014/main" id="{854755DE-752C-BCAE-3133-763CFEF59332}"/>
              </a:ext>
            </a:extLst>
          </p:cNvPr>
          <p:cNvSpPr txBox="1"/>
          <p:nvPr/>
        </p:nvSpPr>
        <p:spPr>
          <a:xfrm>
            <a:off x="355252" y="1272445"/>
            <a:ext cx="2124168" cy="369332"/>
          </a:xfrm>
          <a:prstGeom prst="rect">
            <a:avLst/>
          </a:prstGeom>
          <a:noFill/>
        </p:spPr>
        <p:txBody>
          <a:bodyPr wrap="square" rtlCol="0">
            <a:spAutoFit/>
          </a:bodyPr>
          <a:lstStyle/>
          <a:p>
            <a:r>
              <a:rPr lang="en-GB"/>
              <a:t>Cloud Simulation</a:t>
            </a:r>
          </a:p>
        </p:txBody>
      </p:sp>
      <p:pic>
        <p:nvPicPr>
          <p:cNvPr id="10" name="Picture 9">
            <a:extLst>
              <a:ext uri="{FF2B5EF4-FFF2-40B4-BE49-F238E27FC236}">
                <a16:creationId xmlns:a16="http://schemas.microsoft.com/office/drawing/2014/main" id="{96811831-89C9-59F0-2294-9692BCB60E51}"/>
              </a:ext>
            </a:extLst>
          </p:cNvPr>
          <p:cNvPicPr>
            <a:picLocks noChangeAspect="1"/>
          </p:cNvPicPr>
          <p:nvPr/>
        </p:nvPicPr>
        <p:blipFill>
          <a:blip r:embed="rId6"/>
          <a:stretch>
            <a:fillRect/>
          </a:stretch>
        </p:blipFill>
        <p:spPr>
          <a:xfrm>
            <a:off x="885385" y="2220686"/>
            <a:ext cx="1290317" cy="398992"/>
          </a:xfrm>
          <a:prstGeom prst="rect">
            <a:avLst/>
          </a:prstGeom>
        </p:spPr>
      </p:pic>
      <p:sp>
        <p:nvSpPr>
          <p:cNvPr id="13" name="Down Arrow 12">
            <a:extLst>
              <a:ext uri="{FF2B5EF4-FFF2-40B4-BE49-F238E27FC236}">
                <a16:creationId xmlns:a16="http://schemas.microsoft.com/office/drawing/2014/main" id="{5930CA17-7B55-A33A-0F68-6DBBD0F0BD7E}"/>
              </a:ext>
            </a:extLst>
          </p:cNvPr>
          <p:cNvSpPr/>
          <p:nvPr/>
        </p:nvSpPr>
        <p:spPr>
          <a:xfrm>
            <a:off x="1435100" y="2619678"/>
            <a:ext cx="212989" cy="248760"/>
          </a:xfrm>
          <a:prstGeom prst="downArrow">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705DE116-2B12-7A1F-1998-18F0A82996FE}"/>
              </a:ext>
            </a:extLst>
          </p:cNvPr>
          <p:cNvSpPr/>
          <p:nvPr/>
        </p:nvSpPr>
        <p:spPr>
          <a:xfrm>
            <a:off x="1714499" y="2946598"/>
            <a:ext cx="461203" cy="349855"/>
          </a:xfrm>
          <a:prstGeom prst="roundRect">
            <a:avLst>
              <a:gd name="adj" fmla="val 0"/>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vert="horz" rtlCol="0" anchor="ctr"/>
          <a:lstStyle/>
          <a:p>
            <a:pPr algn="ctr"/>
            <a:r>
              <a:rPr lang="en-US" sz="1200">
                <a:solidFill>
                  <a:schemeClr val="bg1"/>
                </a:solidFill>
              </a:rPr>
              <a:t>Test</a:t>
            </a:r>
          </a:p>
        </p:txBody>
      </p:sp>
      <p:sp>
        <p:nvSpPr>
          <p:cNvPr id="14" name="Rectangle 13">
            <a:extLst>
              <a:ext uri="{FF2B5EF4-FFF2-40B4-BE49-F238E27FC236}">
                <a16:creationId xmlns:a16="http://schemas.microsoft.com/office/drawing/2014/main" id="{0D87838E-0C28-3EFD-E282-AEC8F5C97DFF}"/>
              </a:ext>
            </a:extLst>
          </p:cNvPr>
          <p:cNvSpPr/>
          <p:nvPr/>
        </p:nvSpPr>
        <p:spPr>
          <a:xfrm>
            <a:off x="885384" y="2948595"/>
            <a:ext cx="829115" cy="345803"/>
          </a:xfrm>
          <a:prstGeom prst="rect">
            <a:avLst/>
          </a:prstGeom>
          <a:solidFill>
            <a:schemeClr val="tx2">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Train</a:t>
            </a:r>
          </a:p>
        </p:txBody>
      </p:sp>
      <p:grpSp>
        <p:nvGrpSpPr>
          <p:cNvPr id="116" name="Group 115">
            <a:extLst>
              <a:ext uri="{FF2B5EF4-FFF2-40B4-BE49-F238E27FC236}">
                <a16:creationId xmlns:a16="http://schemas.microsoft.com/office/drawing/2014/main" id="{3DD13C83-1060-62D8-BA3C-30E3B2934AA8}"/>
              </a:ext>
            </a:extLst>
          </p:cNvPr>
          <p:cNvGrpSpPr/>
          <p:nvPr/>
        </p:nvGrpSpPr>
        <p:grpSpPr>
          <a:xfrm>
            <a:off x="5468493" y="5268518"/>
            <a:ext cx="1270409" cy="797135"/>
            <a:chOff x="5468493" y="5268518"/>
            <a:chExt cx="1270409" cy="797135"/>
          </a:xfrm>
        </p:grpSpPr>
        <p:cxnSp>
          <p:nvCxnSpPr>
            <p:cNvPr id="88" name="Straight Connector 87">
              <a:extLst>
                <a:ext uri="{FF2B5EF4-FFF2-40B4-BE49-F238E27FC236}">
                  <a16:creationId xmlns:a16="http://schemas.microsoft.com/office/drawing/2014/main" id="{DCB826BE-F844-691B-358F-0C553F9A8DAC}"/>
                </a:ext>
              </a:extLst>
            </p:cNvPr>
            <p:cNvCxnSpPr>
              <a:cxnSpLocks/>
              <a:stCxn id="20" idx="0"/>
              <a:endCxn id="21" idx="4"/>
            </p:cNvCxnSpPr>
            <p:nvPr/>
          </p:nvCxnSpPr>
          <p:spPr>
            <a:xfrm flipV="1">
              <a:off x="5787363" y="5476404"/>
              <a:ext cx="829619" cy="111214"/>
            </a:xfrm>
            <a:prstGeom prst="line">
              <a:avLst/>
            </a:prstGeom>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A94C761C-48AB-DD60-DA19-85A886820E18}"/>
                </a:ext>
              </a:extLst>
            </p:cNvPr>
            <p:cNvSpPr/>
            <p:nvPr/>
          </p:nvSpPr>
          <p:spPr>
            <a:xfrm>
              <a:off x="5468493" y="526851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207669A-2F18-74DE-EF98-15D460676C8E}"/>
                </a:ext>
              </a:extLst>
            </p:cNvPr>
            <p:cNvSpPr/>
            <p:nvPr/>
          </p:nvSpPr>
          <p:spPr>
            <a:xfrm>
              <a:off x="5826106" y="527610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A77EB64-8719-EF87-D29C-CA05EF81617A}"/>
                </a:ext>
              </a:extLst>
            </p:cNvPr>
            <p:cNvSpPr/>
            <p:nvPr/>
          </p:nvSpPr>
          <p:spPr>
            <a:xfrm>
              <a:off x="6162510" y="5276905"/>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1CD0A4C-F4B8-B425-C0FD-908F17355677}"/>
                </a:ext>
              </a:extLst>
            </p:cNvPr>
            <p:cNvSpPr/>
            <p:nvPr/>
          </p:nvSpPr>
          <p:spPr>
            <a:xfrm>
              <a:off x="5665443" y="558761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88078BA-E23F-CDEB-61D2-2CD4EE7C9732}"/>
                </a:ext>
              </a:extLst>
            </p:cNvPr>
            <p:cNvSpPr/>
            <p:nvPr/>
          </p:nvSpPr>
          <p:spPr>
            <a:xfrm>
              <a:off x="6495062" y="5276107"/>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8CA9175-388D-6099-2700-905D3E649905}"/>
                </a:ext>
              </a:extLst>
            </p:cNvPr>
            <p:cNvSpPr/>
            <p:nvPr/>
          </p:nvSpPr>
          <p:spPr>
            <a:xfrm>
              <a:off x="5992877" y="558689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7A06578-1DEB-DC17-DAC1-2D3445941FF9}"/>
                </a:ext>
              </a:extLst>
            </p:cNvPr>
            <p:cNvSpPr/>
            <p:nvPr/>
          </p:nvSpPr>
          <p:spPr>
            <a:xfrm>
              <a:off x="6317798" y="5586898"/>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7FEF3B6-DEA5-06E3-2898-C204D1ABD2D4}"/>
                </a:ext>
              </a:extLst>
            </p:cNvPr>
            <p:cNvSpPr/>
            <p:nvPr/>
          </p:nvSpPr>
          <p:spPr>
            <a:xfrm>
              <a:off x="5826106" y="586535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86839BE-7C81-1D01-3152-F17330EDCCF5}"/>
                </a:ext>
              </a:extLst>
            </p:cNvPr>
            <p:cNvSpPr/>
            <p:nvPr/>
          </p:nvSpPr>
          <p:spPr>
            <a:xfrm>
              <a:off x="6151027" y="5865356"/>
              <a:ext cx="243840" cy="200297"/>
            </a:xfrm>
            <a:prstGeom prst="ellipse">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34DDCD68-8F02-A359-8621-B05D8EE44064}"/>
                </a:ext>
              </a:extLst>
            </p:cNvPr>
            <p:cNvCxnSpPr>
              <a:endCxn id="20" idx="0"/>
            </p:cNvCxnSpPr>
            <p:nvPr/>
          </p:nvCxnSpPr>
          <p:spPr>
            <a:xfrm>
              <a:off x="5599624" y="5476404"/>
              <a:ext cx="187739"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0A9F970-7426-4426-6B02-369409561D22}"/>
                </a:ext>
              </a:extLst>
            </p:cNvPr>
            <p:cNvCxnSpPr>
              <a:stCxn id="18" idx="4"/>
              <a:endCxn id="20" idx="0"/>
            </p:cNvCxnSpPr>
            <p:nvPr/>
          </p:nvCxnSpPr>
          <p:spPr>
            <a:xfrm flipH="1">
              <a:off x="5787363" y="5476404"/>
              <a:ext cx="160663"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7BABCC0E-F8FC-0C35-13FF-8123DF0F4204}"/>
                </a:ext>
              </a:extLst>
            </p:cNvPr>
            <p:cNvCxnSpPr>
              <a:stCxn id="18" idx="4"/>
              <a:endCxn id="22" idx="0"/>
            </p:cNvCxnSpPr>
            <p:nvPr/>
          </p:nvCxnSpPr>
          <p:spPr>
            <a:xfrm>
              <a:off x="5948026" y="5476404"/>
              <a:ext cx="166771"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65AD1BA-1D61-77BB-3072-54FC94A052AE}"/>
                </a:ext>
              </a:extLst>
            </p:cNvPr>
            <p:cNvCxnSpPr>
              <a:stCxn id="19" idx="4"/>
              <a:endCxn id="22" idx="0"/>
            </p:cNvCxnSpPr>
            <p:nvPr/>
          </p:nvCxnSpPr>
          <p:spPr>
            <a:xfrm flipH="1">
              <a:off x="6114797" y="5477202"/>
              <a:ext cx="169633" cy="109696"/>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65A1A90-EECF-1E55-66A6-A58FEB0919FC}"/>
                </a:ext>
              </a:extLst>
            </p:cNvPr>
            <p:cNvCxnSpPr>
              <a:cxnSpLocks/>
              <a:stCxn id="20" idx="0"/>
              <a:endCxn id="19" idx="4"/>
            </p:cNvCxnSpPr>
            <p:nvPr/>
          </p:nvCxnSpPr>
          <p:spPr>
            <a:xfrm flipV="1">
              <a:off x="5787363" y="5477202"/>
              <a:ext cx="497067" cy="110416"/>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15661BE8-F387-30BA-EB5E-E92587F30829}"/>
                </a:ext>
              </a:extLst>
            </p:cNvPr>
            <p:cNvCxnSpPr>
              <a:cxnSpLocks/>
              <a:stCxn id="20" idx="0"/>
              <a:endCxn id="21" idx="4"/>
            </p:cNvCxnSpPr>
            <p:nvPr/>
          </p:nvCxnSpPr>
          <p:spPr>
            <a:xfrm flipV="1">
              <a:off x="5787363" y="5476404"/>
              <a:ext cx="829619" cy="111214"/>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FDC7C1B-2E23-B016-C7A0-616CEF14F7E4}"/>
                </a:ext>
              </a:extLst>
            </p:cNvPr>
            <p:cNvCxnSpPr>
              <a:cxnSpLocks/>
              <a:stCxn id="15" idx="4"/>
              <a:endCxn id="22" idx="0"/>
            </p:cNvCxnSpPr>
            <p:nvPr/>
          </p:nvCxnSpPr>
          <p:spPr>
            <a:xfrm>
              <a:off x="5590413" y="5468815"/>
              <a:ext cx="524384" cy="118083"/>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BD8FB90B-90FF-C112-5F3C-75A6A528086E}"/>
                </a:ext>
              </a:extLst>
            </p:cNvPr>
            <p:cNvCxnSpPr>
              <a:cxnSpLocks/>
              <a:stCxn id="23" idx="0"/>
              <a:endCxn id="19" idx="4"/>
            </p:cNvCxnSpPr>
            <p:nvPr/>
          </p:nvCxnSpPr>
          <p:spPr>
            <a:xfrm flipH="1" flipV="1">
              <a:off x="6284430" y="5477202"/>
              <a:ext cx="155288" cy="109696"/>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65EBE0A5-D893-7320-8BC3-463038D6876F}"/>
                </a:ext>
              </a:extLst>
            </p:cNvPr>
            <p:cNvCxnSpPr>
              <a:cxnSpLocks/>
              <a:stCxn id="23" idx="0"/>
              <a:endCxn id="21" idx="4"/>
            </p:cNvCxnSpPr>
            <p:nvPr/>
          </p:nvCxnSpPr>
          <p:spPr>
            <a:xfrm flipV="1">
              <a:off x="6439718" y="5476404"/>
              <a:ext cx="177264"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035FA15B-CA74-7178-C274-A0A47B85A06F}"/>
                </a:ext>
              </a:extLst>
            </p:cNvPr>
            <p:cNvCxnSpPr>
              <a:cxnSpLocks/>
              <a:stCxn id="22" idx="0"/>
              <a:endCxn id="21" idx="4"/>
            </p:cNvCxnSpPr>
            <p:nvPr/>
          </p:nvCxnSpPr>
          <p:spPr>
            <a:xfrm flipV="1">
              <a:off x="6114797" y="5476404"/>
              <a:ext cx="502185" cy="110494"/>
            </a:xfrm>
            <a:prstGeom prst="line">
              <a:avLst/>
            </a:prstGeom>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BB0FD705-8853-E663-707C-C4550C077C53}"/>
                </a:ext>
              </a:extLst>
            </p:cNvPr>
            <p:cNvCxnSpPr>
              <a:cxnSpLocks/>
              <a:stCxn id="15" idx="4"/>
              <a:endCxn id="23" idx="0"/>
            </p:cNvCxnSpPr>
            <p:nvPr/>
          </p:nvCxnSpPr>
          <p:spPr>
            <a:xfrm>
              <a:off x="5590413" y="5468815"/>
              <a:ext cx="849305" cy="118083"/>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4D30A4EE-E93D-D63A-80CA-ECAF292146D0}"/>
                </a:ext>
              </a:extLst>
            </p:cNvPr>
            <p:cNvCxnSpPr>
              <a:cxnSpLocks/>
              <a:stCxn id="24" idx="0"/>
              <a:endCxn id="20" idx="4"/>
            </p:cNvCxnSpPr>
            <p:nvPr/>
          </p:nvCxnSpPr>
          <p:spPr>
            <a:xfrm flipH="1" flipV="1">
              <a:off x="5787363" y="5787915"/>
              <a:ext cx="160663" cy="774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A16BA774-7839-397E-4333-76460E6B8CC1}"/>
                </a:ext>
              </a:extLst>
            </p:cNvPr>
            <p:cNvCxnSpPr>
              <a:cxnSpLocks/>
              <a:stCxn id="25" idx="0"/>
              <a:endCxn id="20" idx="4"/>
            </p:cNvCxnSpPr>
            <p:nvPr/>
          </p:nvCxnSpPr>
          <p:spPr>
            <a:xfrm flipH="1" flipV="1">
              <a:off x="5787363" y="5787915"/>
              <a:ext cx="485584" cy="774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37CD8CAE-8DAC-9547-DFD2-91E665ECE7A8}"/>
                </a:ext>
              </a:extLst>
            </p:cNvPr>
            <p:cNvCxnSpPr>
              <a:cxnSpLocks/>
              <a:stCxn id="24" idx="0"/>
              <a:endCxn id="22" idx="4"/>
            </p:cNvCxnSpPr>
            <p:nvPr/>
          </p:nvCxnSpPr>
          <p:spPr>
            <a:xfrm flipV="1">
              <a:off x="5948026" y="5787195"/>
              <a:ext cx="166771"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3BD99D00-CDB6-5B15-A569-8B0A0CD78BB4}"/>
                </a:ext>
              </a:extLst>
            </p:cNvPr>
            <p:cNvCxnSpPr>
              <a:cxnSpLocks/>
              <a:stCxn id="25" idx="0"/>
              <a:endCxn id="23" idx="4"/>
            </p:cNvCxnSpPr>
            <p:nvPr/>
          </p:nvCxnSpPr>
          <p:spPr>
            <a:xfrm flipV="1">
              <a:off x="6272947" y="5787195"/>
              <a:ext cx="166771"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8D1F28F6-8428-0750-3B2A-CE1EF3451695}"/>
                </a:ext>
              </a:extLst>
            </p:cNvPr>
            <p:cNvCxnSpPr>
              <a:cxnSpLocks/>
              <a:stCxn id="25" idx="0"/>
              <a:endCxn id="22" idx="4"/>
            </p:cNvCxnSpPr>
            <p:nvPr/>
          </p:nvCxnSpPr>
          <p:spPr>
            <a:xfrm flipH="1" flipV="1">
              <a:off x="6114797" y="5787195"/>
              <a:ext cx="158150" cy="78161"/>
            </a:xfrm>
            <a:prstGeom prst="line">
              <a:avLst/>
            </a:prstGeom>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3368ACD3-90AD-57E6-B76A-8BCAC0095095}"/>
                </a:ext>
              </a:extLst>
            </p:cNvPr>
            <p:cNvCxnSpPr>
              <a:cxnSpLocks/>
              <a:stCxn id="24" idx="0"/>
              <a:endCxn id="23" idx="4"/>
            </p:cNvCxnSpPr>
            <p:nvPr/>
          </p:nvCxnSpPr>
          <p:spPr>
            <a:xfrm flipV="1">
              <a:off x="5948026" y="5787195"/>
              <a:ext cx="491692" cy="78161"/>
            </a:xfrm>
            <a:prstGeom prst="line">
              <a:avLst/>
            </a:prstGeom>
          </p:spPr>
          <p:style>
            <a:lnRef idx="2">
              <a:schemeClr val="accent1"/>
            </a:lnRef>
            <a:fillRef idx="0">
              <a:schemeClr val="accent1"/>
            </a:fillRef>
            <a:effectRef idx="1">
              <a:schemeClr val="accent1"/>
            </a:effectRef>
            <a:fontRef idx="minor">
              <a:schemeClr val="tx1"/>
            </a:fontRef>
          </p:style>
        </p:cxnSp>
      </p:grpSp>
      <p:sp>
        <p:nvSpPr>
          <p:cNvPr id="11" name="TextBox 10">
            <a:extLst>
              <a:ext uri="{FF2B5EF4-FFF2-40B4-BE49-F238E27FC236}">
                <a16:creationId xmlns:a16="http://schemas.microsoft.com/office/drawing/2014/main" id="{3F65E67E-0C4B-E7A7-C2AA-F6ADC83D50A6}"/>
              </a:ext>
            </a:extLst>
          </p:cNvPr>
          <p:cNvSpPr txBox="1"/>
          <p:nvPr/>
        </p:nvSpPr>
        <p:spPr>
          <a:xfrm>
            <a:off x="2142249" y="5597628"/>
            <a:ext cx="303718" cy="369332"/>
          </a:xfrm>
          <a:prstGeom prst="rect">
            <a:avLst/>
          </a:prstGeom>
          <a:noFill/>
        </p:spPr>
        <p:txBody>
          <a:bodyPr wrap="square" rtlCol="0">
            <a:spAutoFit/>
          </a:bodyPr>
          <a:lstStyle/>
          <a:p>
            <a:r>
              <a:rPr lang="en-US" altLang="zh-CN"/>
              <a:t>1</a:t>
            </a:r>
            <a:endParaRPr lang="en-US"/>
          </a:p>
        </p:txBody>
      </p:sp>
      <p:sp>
        <p:nvSpPr>
          <p:cNvPr id="26" name="TextBox 25">
            <a:extLst>
              <a:ext uri="{FF2B5EF4-FFF2-40B4-BE49-F238E27FC236}">
                <a16:creationId xmlns:a16="http://schemas.microsoft.com/office/drawing/2014/main" id="{5A3B2090-F6B4-3581-F8A8-F52D53D6F34F}"/>
              </a:ext>
            </a:extLst>
          </p:cNvPr>
          <p:cNvSpPr txBox="1"/>
          <p:nvPr/>
        </p:nvSpPr>
        <p:spPr>
          <a:xfrm>
            <a:off x="4601431" y="5594113"/>
            <a:ext cx="303718" cy="369332"/>
          </a:xfrm>
          <a:prstGeom prst="rect">
            <a:avLst/>
          </a:prstGeom>
          <a:noFill/>
        </p:spPr>
        <p:txBody>
          <a:bodyPr wrap="square" rtlCol="0">
            <a:spAutoFit/>
          </a:bodyPr>
          <a:lstStyle/>
          <a:p>
            <a:r>
              <a:rPr lang="en-US" altLang="zh-CN"/>
              <a:t>2</a:t>
            </a:r>
            <a:endParaRPr lang="en-US"/>
          </a:p>
        </p:txBody>
      </p:sp>
      <p:sp>
        <p:nvSpPr>
          <p:cNvPr id="27" name="TextBox 26">
            <a:extLst>
              <a:ext uri="{FF2B5EF4-FFF2-40B4-BE49-F238E27FC236}">
                <a16:creationId xmlns:a16="http://schemas.microsoft.com/office/drawing/2014/main" id="{50D3E9FE-7775-2CFB-20E3-5ECAA03D6AA4}"/>
              </a:ext>
            </a:extLst>
          </p:cNvPr>
          <p:cNvSpPr txBox="1"/>
          <p:nvPr/>
        </p:nvSpPr>
        <p:spPr>
          <a:xfrm>
            <a:off x="1055426" y="3732918"/>
            <a:ext cx="303718" cy="369332"/>
          </a:xfrm>
          <a:prstGeom prst="rect">
            <a:avLst/>
          </a:prstGeom>
          <a:noFill/>
        </p:spPr>
        <p:txBody>
          <a:bodyPr wrap="square" rtlCol="0">
            <a:spAutoFit/>
          </a:bodyPr>
          <a:lstStyle/>
          <a:p>
            <a:r>
              <a:rPr lang="en-US" altLang="zh-CN"/>
              <a:t>3</a:t>
            </a:r>
            <a:endParaRPr lang="en-US"/>
          </a:p>
        </p:txBody>
      </p:sp>
      <p:sp>
        <p:nvSpPr>
          <p:cNvPr id="30" name="TextBox 29">
            <a:extLst>
              <a:ext uri="{FF2B5EF4-FFF2-40B4-BE49-F238E27FC236}">
                <a16:creationId xmlns:a16="http://schemas.microsoft.com/office/drawing/2014/main" id="{35A90ADA-4ED2-EA0D-C51B-D9962D708F97}"/>
              </a:ext>
            </a:extLst>
          </p:cNvPr>
          <p:cNvSpPr txBox="1"/>
          <p:nvPr/>
        </p:nvSpPr>
        <p:spPr>
          <a:xfrm>
            <a:off x="5110576" y="2805108"/>
            <a:ext cx="303718" cy="369332"/>
          </a:xfrm>
          <a:prstGeom prst="rect">
            <a:avLst/>
          </a:prstGeom>
          <a:noFill/>
        </p:spPr>
        <p:txBody>
          <a:bodyPr wrap="square" rtlCol="0">
            <a:spAutoFit/>
          </a:bodyPr>
          <a:lstStyle/>
          <a:p>
            <a:r>
              <a:rPr lang="en-US" altLang="zh-CN"/>
              <a:t>5</a:t>
            </a:r>
            <a:endParaRPr lang="en-US"/>
          </a:p>
        </p:txBody>
      </p:sp>
      <p:sp>
        <p:nvSpPr>
          <p:cNvPr id="33" name="TextBox 32">
            <a:extLst>
              <a:ext uri="{FF2B5EF4-FFF2-40B4-BE49-F238E27FC236}">
                <a16:creationId xmlns:a16="http://schemas.microsoft.com/office/drawing/2014/main" id="{B8F9C0DF-9C3A-1217-442A-C22496842740}"/>
              </a:ext>
            </a:extLst>
          </p:cNvPr>
          <p:cNvSpPr txBox="1"/>
          <p:nvPr/>
        </p:nvSpPr>
        <p:spPr>
          <a:xfrm>
            <a:off x="2597968" y="2531495"/>
            <a:ext cx="303718" cy="369332"/>
          </a:xfrm>
          <a:prstGeom prst="rect">
            <a:avLst/>
          </a:prstGeom>
          <a:noFill/>
        </p:spPr>
        <p:txBody>
          <a:bodyPr wrap="square" rtlCol="0">
            <a:spAutoFit/>
          </a:bodyPr>
          <a:lstStyle/>
          <a:p>
            <a:r>
              <a:rPr lang="en-US" altLang="zh-CN"/>
              <a:t>4</a:t>
            </a:r>
            <a:endParaRPr lang="en-US"/>
          </a:p>
        </p:txBody>
      </p:sp>
      <p:cxnSp>
        <p:nvCxnSpPr>
          <p:cNvPr id="44" name="Straight Arrow Connector 43">
            <a:extLst>
              <a:ext uri="{FF2B5EF4-FFF2-40B4-BE49-F238E27FC236}">
                <a16:creationId xmlns:a16="http://schemas.microsoft.com/office/drawing/2014/main" id="{AB8106FF-636B-AB03-E5F0-D78D50008D2F}"/>
              </a:ext>
            </a:extLst>
          </p:cNvPr>
          <p:cNvCxnSpPr>
            <a:stCxn id="61" idx="3"/>
          </p:cNvCxnSpPr>
          <p:nvPr/>
        </p:nvCxnSpPr>
        <p:spPr>
          <a:xfrm>
            <a:off x="6231722" y="3269569"/>
            <a:ext cx="0" cy="1094642"/>
          </a:xfrm>
          <a:prstGeom prst="straightConnector1">
            <a:avLst/>
          </a:prstGeom>
          <a:ln>
            <a:prstDash val="lg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438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677" y="0"/>
            <a:ext cx="8229600" cy="1143000"/>
          </a:xfrm>
        </p:spPr>
        <p:txBody>
          <a:bodyPr>
            <a:normAutofit/>
          </a:bodyPr>
          <a:lstStyle/>
          <a:p>
            <a:r>
              <a:rPr sz="2800"/>
              <a:t>Methodology: </a:t>
            </a:r>
            <a:r>
              <a:rPr lang="en-GB" sz="2800"/>
              <a:t>Data</a:t>
            </a:r>
            <a:r>
              <a:rPr lang="en-US" altLang="zh-CN" sz="2800"/>
              <a:t>s</a:t>
            </a:r>
            <a:r>
              <a:rPr lang="en-GB" sz="2800"/>
              <a:t>et</a:t>
            </a:r>
            <a:r>
              <a:rPr lang="zh-CN" altLang="en-US" sz="2800"/>
              <a:t> </a:t>
            </a:r>
            <a:r>
              <a:rPr lang="en-US" altLang="zh-CN" sz="2800"/>
              <a:t>&amp;</a:t>
            </a:r>
            <a:r>
              <a:rPr lang="zh-CN" altLang="en-US" sz="2800"/>
              <a:t> </a:t>
            </a:r>
            <a:r>
              <a:rPr lang="en-GB" sz="2800"/>
              <a:t>Feature Reduction</a:t>
            </a:r>
            <a:r>
              <a:rPr lang="zh-CN" altLang="en-US" sz="2800"/>
              <a:t> </a:t>
            </a:r>
            <a:r>
              <a:rPr lang="en-US" altLang="zh-CN" sz="2800"/>
              <a:t>technique</a:t>
            </a:r>
            <a:endParaRPr sz="2800"/>
          </a:p>
        </p:txBody>
      </p:sp>
      <p:sp>
        <p:nvSpPr>
          <p:cNvPr id="3" name="Content Placeholder 2"/>
          <p:cNvSpPr>
            <a:spLocks noGrp="1"/>
          </p:cNvSpPr>
          <p:nvPr>
            <p:ph idx="1"/>
          </p:nvPr>
        </p:nvSpPr>
        <p:spPr>
          <a:xfrm>
            <a:off x="457200" y="1741714"/>
            <a:ext cx="4419600" cy="2563269"/>
          </a:xfrm>
        </p:spPr>
        <p:txBody>
          <a:bodyPr>
            <a:normAutofit fontScale="70000" lnSpcReduction="20000"/>
          </a:bodyPr>
          <a:lstStyle/>
          <a:p>
            <a:r>
              <a:rPr lang="en-GB" dirty="0"/>
              <a:t>Edge-</a:t>
            </a:r>
            <a:r>
              <a:rPr lang="en-GB" dirty="0" err="1"/>
              <a:t>IIoTset</a:t>
            </a:r>
            <a:r>
              <a:rPr lang="en-GB" dirty="0"/>
              <a:t> (2022)</a:t>
            </a:r>
          </a:p>
          <a:p>
            <a:pPr lvl="1"/>
            <a:r>
              <a:rPr lang="en-GB" dirty="0"/>
              <a:t>Realistic edge-based IoT traffic</a:t>
            </a:r>
          </a:p>
          <a:p>
            <a:pPr lvl="1"/>
            <a:r>
              <a:rPr lang="en-GB" dirty="0"/>
              <a:t>Labelled data (normal vs. attack)</a:t>
            </a:r>
          </a:p>
          <a:p>
            <a:pPr lvl="1"/>
            <a:r>
              <a:rPr lang="en-GB" dirty="0"/>
              <a:t>Suitable for IDS evaluation in edge environments</a:t>
            </a:r>
          </a:p>
          <a:p>
            <a:pPr lvl="1"/>
            <a:r>
              <a:rPr lang="en-GB" dirty="0"/>
              <a:t>Recent dataset reflecting modern traffic patterns</a:t>
            </a:r>
          </a:p>
          <a:p>
            <a:pPr lvl="1"/>
            <a:r>
              <a:rPr lang="en-GB" dirty="0"/>
              <a:t>flow-level data</a:t>
            </a:r>
            <a:r>
              <a:rPr lang="zh-CN" altLang="en-US" dirty="0"/>
              <a:t> </a:t>
            </a:r>
            <a:endParaRPr lang="en-GB" altLang="zh-CN" dirty="0"/>
          </a:p>
          <a:p>
            <a:pPr marL="457200" lvl="1" indent="0">
              <a:buNone/>
            </a:pPr>
            <a:endParaRPr lang="en-GB" dirty="0"/>
          </a:p>
          <a:p>
            <a:pPr marL="457200" lvl="1" indent="0">
              <a:buNone/>
            </a:pPr>
            <a:endParaRPr lang="en-GB" dirty="0"/>
          </a:p>
        </p:txBody>
      </p:sp>
      <p:pic>
        <p:nvPicPr>
          <p:cNvPr id="5" name="Picture 4">
            <a:extLst>
              <a:ext uri="{FF2B5EF4-FFF2-40B4-BE49-F238E27FC236}">
                <a16:creationId xmlns:a16="http://schemas.microsoft.com/office/drawing/2014/main" id="{E171E68C-4B0B-70CC-471A-67E4CA14063A}"/>
              </a:ext>
            </a:extLst>
          </p:cNvPr>
          <p:cNvPicPr>
            <a:picLocks noChangeAspect="1"/>
          </p:cNvPicPr>
          <p:nvPr/>
        </p:nvPicPr>
        <p:blipFill>
          <a:blip r:embed="rId3"/>
          <a:stretch>
            <a:fillRect/>
          </a:stretch>
        </p:blipFill>
        <p:spPr>
          <a:xfrm>
            <a:off x="5094515" y="1461182"/>
            <a:ext cx="3886200" cy="2843801"/>
          </a:xfrm>
          <a:prstGeom prst="rect">
            <a:avLst/>
          </a:prstGeom>
        </p:spPr>
      </p:pic>
      <p:sp>
        <p:nvSpPr>
          <p:cNvPr id="6" name="TextBox 5">
            <a:extLst>
              <a:ext uri="{FF2B5EF4-FFF2-40B4-BE49-F238E27FC236}">
                <a16:creationId xmlns:a16="http://schemas.microsoft.com/office/drawing/2014/main" id="{8687E6AD-521E-D1E7-35AD-BF4BAC06AF84}"/>
              </a:ext>
            </a:extLst>
          </p:cNvPr>
          <p:cNvSpPr txBox="1"/>
          <p:nvPr/>
        </p:nvSpPr>
        <p:spPr>
          <a:xfrm>
            <a:off x="457200" y="4430486"/>
            <a:ext cx="5137266" cy="2031325"/>
          </a:xfrm>
          <a:prstGeom prst="rect">
            <a:avLst/>
          </a:prstGeom>
          <a:noFill/>
        </p:spPr>
        <p:txBody>
          <a:bodyPr wrap="square" rtlCol="0">
            <a:spAutoFit/>
          </a:bodyPr>
          <a:lstStyle/>
          <a:p>
            <a:pPr lvl="1"/>
            <a:endParaRPr lang="en-GB" dirty="0"/>
          </a:p>
          <a:p>
            <a:pPr marL="285750" indent="-285750">
              <a:buFont typeface="Arial" panose="020B0604020202020204" pitchFamily="34" charset="0"/>
              <a:buChar char="•"/>
            </a:pPr>
            <a:r>
              <a:rPr lang="en-GB" dirty="0"/>
              <a:t>Feature</a:t>
            </a:r>
            <a:r>
              <a:rPr lang="zh-CN" altLang="en-US" dirty="0"/>
              <a:t> </a:t>
            </a:r>
            <a:r>
              <a:rPr lang="en-US" altLang="zh-CN" dirty="0"/>
              <a:t>Reduction</a:t>
            </a:r>
            <a:r>
              <a:rPr lang="zh-CN" altLang="en-US" dirty="0"/>
              <a:t> </a:t>
            </a:r>
            <a:r>
              <a:rPr lang="en-US" altLang="zh-CN" dirty="0"/>
              <a:t>Technique</a:t>
            </a:r>
            <a:endParaRPr lang="en-GB" dirty="0"/>
          </a:p>
          <a:p>
            <a:pPr marL="742950" lvl="1" indent="-285750">
              <a:buFont typeface="Arial" panose="020B0604020202020204" pitchFamily="34" charset="0"/>
              <a:buChar char="•"/>
            </a:pPr>
            <a:r>
              <a:rPr lang="en-GB" dirty="0"/>
              <a:t>Feature Selection (manual/statistical)</a:t>
            </a:r>
          </a:p>
          <a:p>
            <a:pPr marL="742950" lvl="1" indent="-285750">
              <a:buFont typeface="Arial" panose="020B0604020202020204" pitchFamily="34" charset="0"/>
              <a:buChar char="•"/>
            </a:pPr>
            <a:r>
              <a:rPr lang="en-GB" dirty="0"/>
              <a:t>PCA, Autoencoder (</a:t>
            </a:r>
            <a:r>
              <a:rPr lang="en-US" altLang="zh-CN" dirty="0"/>
              <a:t>traditional</a:t>
            </a:r>
            <a:r>
              <a:rPr lang="zh-CN" altLang="en-US" dirty="0"/>
              <a:t> </a:t>
            </a:r>
            <a:r>
              <a:rPr lang="en-GB" dirty="0"/>
              <a:t>dimensionality reduction)</a:t>
            </a:r>
          </a:p>
          <a:p>
            <a:pPr marL="742950" lvl="1" indent="-285750">
              <a:buFont typeface="Arial" panose="020B0604020202020204" pitchFamily="34" charset="0"/>
              <a:buChar char="•"/>
            </a:pPr>
            <a:r>
              <a:rPr lang="en-GB" dirty="0" err="1"/>
              <a:t>ResNeXt</a:t>
            </a:r>
            <a:r>
              <a:rPr lang="en-US" altLang="zh-CN" dirty="0"/>
              <a:t>1D</a:t>
            </a:r>
            <a:r>
              <a:rPr lang="en-GB" dirty="0"/>
              <a:t> </a:t>
            </a:r>
            <a:r>
              <a:rPr lang="en-US" altLang="zh-CN" dirty="0"/>
              <a:t>,</a:t>
            </a:r>
            <a:r>
              <a:rPr lang="zh-CN" altLang="en-US" dirty="0"/>
              <a:t> </a:t>
            </a:r>
            <a:r>
              <a:rPr lang="en-US" altLang="zh-CN" dirty="0"/>
              <a:t>DNN</a:t>
            </a:r>
            <a:r>
              <a:rPr lang="zh-CN" altLang="en-US" dirty="0"/>
              <a:t> </a:t>
            </a:r>
            <a:r>
              <a:rPr lang="en-GB" dirty="0"/>
              <a:t>(deep representation)</a:t>
            </a:r>
            <a:endParaRPr lang="en-US" dirty="0"/>
          </a:p>
          <a:p>
            <a:pPr marL="742950" lvl="1" indent="-285750">
              <a:buFont typeface="Arial" panose="020B0604020202020204" pitchFamily="34" charset="0"/>
              <a:buChar char="•"/>
            </a:pPr>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36BD2-2838-10E4-46A3-ACF0B24D4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DA214-7C1F-B658-94C5-E81F9C6EE8F1}"/>
              </a:ext>
            </a:extLst>
          </p:cNvPr>
          <p:cNvSpPr>
            <a:spLocks noGrp="1"/>
          </p:cNvSpPr>
          <p:nvPr>
            <p:ph type="title"/>
          </p:nvPr>
        </p:nvSpPr>
        <p:spPr>
          <a:xfrm>
            <a:off x="394677" y="0"/>
            <a:ext cx="8229600" cy="1143000"/>
          </a:xfrm>
        </p:spPr>
        <p:txBody>
          <a:bodyPr>
            <a:normAutofit/>
          </a:bodyPr>
          <a:lstStyle/>
          <a:p>
            <a:r>
              <a:rPr sz="2800" dirty="0"/>
              <a:t>Methodology: </a:t>
            </a:r>
            <a:r>
              <a:rPr lang="en-GB" sz="2800" dirty="0"/>
              <a:t>Data</a:t>
            </a:r>
            <a:r>
              <a:rPr lang="en-US" altLang="zh-CN" sz="2800" dirty="0"/>
              <a:t>s</a:t>
            </a:r>
            <a:r>
              <a:rPr lang="en-GB" sz="2800" dirty="0"/>
              <a:t>et</a:t>
            </a:r>
            <a:r>
              <a:rPr lang="zh-CN" altLang="en-US" sz="2800" dirty="0"/>
              <a:t> </a:t>
            </a:r>
            <a:r>
              <a:rPr lang="en-US" altLang="zh-CN" sz="2800" dirty="0"/>
              <a:t>&amp;</a:t>
            </a:r>
            <a:r>
              <a:rPr lang="zh-CN" altLang="en-US" sz="2800" dirty="0"/>
              <a:t> </a:t>
            </a:r>
            <a:r>
              <a:rPr lang="en-GB" sz="2800" dirty="0"/>
              <a:t>Feature Reduction</a:t>
            </a:r>
            <a:r>
              <a:rPr lang="zh-CN" altLang="en-US" sz="2800" dirty="0"/>
              <a:t> </a:t>
            </a:r>
            <a:r>
              <a:rPr lang="en-US" altLang="zh-CN" sz="2800" dirty="0"/>
              <a:t>technique</a:t>
            </a:r>
            <a:endParaRPr sz="2800" dirty="0"/>
          </a:p>
        </p:txBody>
      </p:sp>
      <p:sp>
        <p:nvSpPr>
          <p:cNvPr id="7" name="TextBox 6">
            <a:extLst>
              <a:ext uri="{FF2B5EF4-FFF2-40B4-BE49-F238E27FC236}">
                <a16:creationId xmlns:a16="http://schemas.microsoft.com/office/drawing/2014/main" id="{6C7FE30B-EC05-CC7E-DB7D-275D31A6649B}"/>
              </a:ext>
            </a:extLst>
          </p:cNvPr>
          <p:cNvSpPr txBox="1"/>
          <p:nvPr/>
        </p:nvSpPr>
        <p:spPr>
          <a:xfrm>
            <a:off x="521499" y="960650"/>
            <a:ext cx="3944565" cy="6001643"/>
          </a:xfrm>
          <a:prstGeom prst="rect">
            <a:avLst/>
          </a:prstGeom>
          <a:noFill/>
        </p:spPr>
        <p:txBody>
          <a:bodyPr wrap="square">
            <a:spAutoFit/>
          </a:bodyPr>
          <a:lstStyle/>
          <a:p>
            <a:r>
              <a:rPr lang="en-GB" sz="1600" dirty="0" err="1"/>
              <a:t>ResNeXt</a:t>
            </a:r>
            <a:r>
              <a:rPr lang="en-US" altLang="zh-CN" sz="1600" dirty="0"/>
              <a:t>1D</a:t>
            </a:r>
            <a:r>
              <a:rPr lang="zh-CN" altLang="en-US" sz="1600" dirty="0"/>
              <a:t> </a:t>
            </a:r>
            <a:r>
              <a:rPr lang="en-GB" sz="1600" dirty="0"/>
              <a:t>Feature Extraction</a:t>
            </a:r>
          </a:p>
          <a:p>
            <a:r>
              <a:rPr lang="en-GB" sz="1600" dirty="0"/>
              <a:t>Reshape input</a:t>
            </a:r>
          </a:p>
          <a:p>
            <a:r>
              <a:rPr lang="en-GB" sz="1600" dirty="0"/>
              <a:t>    Transform X from [N, D] to [N, 1, D]</a:t>
            </a:r>
          </a:p>
          <a:p>
            <a:endParaRPr lang="en-GB" sz="1600" dirty="0"/>
          </a:p>
          <a:p>
            <a:r>
              <a:rPr lang="en-GB" sz="1600" dirty="0"/>
              <a:t>    Pass batch through stem layer</a:t>
            </a:r>
          </a:p>
          <a:p>
            <a:r>
              <a:rPr lang="en-GB" sz="1600" dirty="0"/>
              <a:t>        - Conv1D(1 → 64, kernel=4, stride=2, padding=3)</a:t>
            </a:r>
          </a:p>
          <a:p>
            <a:r>
              <a:rPr lang="en-GB" sz="1600" dirty="0"/>
              <a:t>        - BatchNorm1D</a:t>
            </a:r>
          </a:p>
          <a:p>
            <a:r>
              <a:rPr lang="en-GB" sz="1600" dirty="0"/>
              <a:t>        - </a:t>
            </a:r>
            <a:r>
              <a:rPr lang="en-GB" sz="1600" dirty="0" err="1"/>
              <a:t>ReLU</a:t>
            </a:r>
            <a:endParaRPr lang="en-GB" sz="1600" dirty="0"/>
          </a:p>
          <a:p>
            <a:r>
              <a:rPr lang="en-GB" sz="1600" dirty="0"/>
              <a:t>        - MaxPool1D(kernel=3, stride=2, padding=1)</a:t>
            </a:r>
          </a:p>
          <a:p>
            <a:endParaRPr lang="en-GB" sz="1600" dirty="0"/>
          </a:p>
          <a:p>
            <a:r>
              <a:rPr lang="en-GB" sz="1600" dirty="0"/>
              <a:t>    Pass through Layer 1 and Layer 2</a:t>
            </a:r>
          </a:p>
          <a:p>
            <a:r>
              <a:rPr lang="en-GB" sz="1600" dirty="0"/>
              <a:t>        - ResNeXt1D Block</a:t>
            </a:r>
          </a:p>
          <a:p>
            <a:r>
              <a:rPr lang="en-GB" sz="1600" dirty="0"/>
              <a:t>        - ResNeXt1D Block</a:t>
            </a:r>
          </a:p>
          <a:p>
            <a:endParaRPr lang="en-GB" sz="1600" dirty="0"/>
          </a:p>
          <a:p>
            <a:r>
              <a:rPr lang="en-GB" sz="1600" dirty="0"/>
              <a:t>    Pass through head</a:t>
            </a:r>
          </a:p>
          <a:p>
            <a:r>
              <a:rPr lang="en-GB" sz="1600" dirty="0"/>
              <a:t>        - Adaptive Average Pooling</a:t>
            </a:r>
          </a:p>
          <a:p>
            <a:r>
              <a:rPr lang="en-GB" sz="1600" dirty="0"/>
              <a:t>        - Flatten</a:t>
            </a:r>
          </a:p>
          <a:p>
            <a:r>
              <a:rPr lang="en-GB" sz="1600" dirty="0"/>
              <a:t>        - Linear layer to </a:t>
            </a:r>
            <a:r>
              <a:rPr lang="en-GB" sz="1600" dirty="0" err="1"/>
              <a:t>embedding_dim</a:t>
            </a:r>
            <a:endParaRPr lang="en-GB" sz="1600" dirty="0"/>
          </a:p>
          <a:p>
            <a:endParaRPr lang="en-GB" sz="1600" dirty="0"/>
          </a:p>
          <a:p>
            <a:r>
              <a:rPr lang="en-GB" sz="1600" dirty="0"/>
              <a:t>Output: Embedding matrix Z (n × </a:t>
            </a:r>
            <a:r>
              <a:rPr lang="en-GB" sz="1600" dirty="0" err="1"/>
              <a:t>embedding_dim</a:t>
            </a:r>
            <a:r>
              <a:rPr lang="en-GB" sz="1600" dirty="0"/>
              <a:t>)</a:t>
            </a:r>
          </a:p>
          <a:p>
            <a:endParaRPr lang="en-GB" sz="1600" dirty="0"/>
          </a:p>
        </p:txBody>
      </p:sp>
      <p:sp>
        <p:nvSpPr>
          <p:cNvPr id="4" name="TextBox 3">
            <a:extLst>
              <a:ext uri="{FF2B5EF4-FFF2-40B4-BE49-F238E27FC236}">
                <a16:creationId xmlns:a16="http://schemas.microsoft.com/office/drawing/2014/main" id="{4A46B1AD-DCA5-D506-A98C-72B83CB0B721}"/>
              </a:ext>
            </a:extLst>
          </p:cNvPr>
          <p:cNvSpPr txBox="1"/>
          <p:nvPr/>
        </p:nvSpPr>
        <p:spPr>
          <a:xfrm>
            <a:off x="4592886" y="961564"/>
            <a:ext cx="4177323" cy="4524315"/>
          </a:xfrm>
          <a:prstGeom prst="rect">
            <a:avLst/>
          </a:prstGeom>
          <a:noFill/>
        </p:spPr>
        <p:txBody>
          <a:bodyPr wrap="square">
            <a:spAutoFit/>
          </a:bodyPr>
          <a:lstStyle/>
          <a:p>
            <a:r>
              <a:rPr lang="en-GB" dirty="0"/>
              <a:t>DNN Feature Extraction</a:t>
            </a:r>
          </a:p>
          <a:p>
            <a:endParaRPr lang="en-GB" dirty="0"/>
          </a:p>
          <a:p>
            <a:r>
              <a:rPr lang="en-GB" dirty="0"/>
              <a:t>Input: Flow-level data X (n × d)</a:t>
            </a:r>
          </a:p>
          <a:p>
            <a:endParaRPr lang="en-GB" dirty="0"/>
          </a:p>
          <a:p>
            <a:r>
              <a:rPr lang="en-GB" dirty="0"/>
              <a:t>Pass X through the encoder</a:t>
            </a:r>
          </a:p>
          <a:p>
            <a:r>
              <a:rPr lang="en-GB" dirty="0"/>
              <a:t>   - Linear (</a:t>
            </a:r>
            <a:r>
              <a:rPr lang="en-GB" dirty="0" err="1"/>
              <a:t>input_dim</a:t>
            </a:r>
            <a:r>
              <a:rPr lang="en-GB" dirty="0"/>
              <a:t>-&gt;64)</a:t>
            </a:r>
          </a:p>
          <a:p>
            <a:r>
              <a:rPr lang="en-GB" dirty="0"/>
              <a:t>   - </a:t>
            </a:r>
            <a:r>
              <a:rPr lang="en-GB" dirty="0" err="1"/>
              <a:t>ReLU</a:t>
            </a:r>
            <a:r>
              <a:rPr lang="en-GB" dirty="0"/>
              <a:t> </a:t>
            </a:r>
          </a:p>
          <a:p>
            <a:r>
              <a:rPr lang="en-GB" dirty="0"/>
              <a:t>   - Linear (64-&gt;32) </a:t>
            </a:r>
          </a:p>
          <a:p>
            <a:r>
              <a:rPr lang="en-GB" dirty="0"/>
              <a:t>   - </a:t>
            </a:r>
            <a:r>
              <a:rPr lang="en-GB" dirty="0" err="1"/>
              <a:t>ReLU</a:t>
            </a:r>
            <a:r>
              <a:rPr lang="en-GB" dirty="0"/>
              <a:t> </a:t>
            </a:r>
          </a:p>
          <a:p>
            <a:r>
              <a:rPr lang="en-GB" dirty="0"/>
              <a:t>   </a:t>
            </a:r>
          </a:p>
          <a:p>
            <a:r>
              <a:rPr lang="en-GB" dirty="0"/>
              <a:t>   Encode X into low-dimensional latent vectors</a:t>
            </a:r>
          </a:p>
          <a:p>
            <a:r>
              <a:rPr lang="en-GB" dirty="0"/>
              <a:t> - Linear (32 -&gt; </a:t>
            </a:r>
            <a:r>
              <a:rPr lang="en-GB" dirty="0" err="1"/>
              <a:t>embedding_dim</a:t>
            </a:r>
            <a:r>
              <a:rPr lang="en-GB" dirty="0"/>
              <a:t>)</a:t>
            </a:r>
          </a:p>
          <a:p>
            <a:endParaRPr lang="en-GB" dirty="0"/>
          </a:p>
          <a:p>
            <a:r>
              <a:rPr lang="en-GB" dirty="0"/>
              <a:t>Output: Embedding matrix Z (n × </a:t>
            </a:r>
            <a:r>
              <a:rPr lang="en-GB" dirty="0" err="1"/>
              <a:t>embedding_dim</a:t>
            </a:r>
            <a:r>
              <a:rPr lang="en-GB" dirty="0"/>
              <a:t>)</a:t>
            </a:r>
          </a:p>
        </p:txBody>
      </p:sp>
      <p:cxnSp>
        <p:nvCxnSpPr>
          <p:cNvPr id="9" name="Straight Connector 8">
            <a:extLst>
              <a:ext uri="{FF2B5EF4-FFF2-40B4-BE49-F238E27FC236}">
                <a16:creationId xmlns:a16="http://schemas.microsoft.com/office/drawing/2014/main" id="{107EBE3E-0E8D-DE9E-00AF-95D6517658CC}"/>
              </a:ext>
            </a:extLst>
          </p:cNvPr>
          <p:cNvCxnSpPr/>
          <p:nvPr/>
        </p:nvCxnSpPr>
        <p:spPr>
          <a:xfrm>
            <a:off x="4360127" y="1052474"/>
            <a:ext cx="0" cy="5727469"/>
          </a:xfrm>
          <a:prstGeom prst="line">
            <a:avLst/>
          </a:prstGeom>
          <a:ln>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4900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3" name="Picture 2">
            <a:extLst>
              <a:ext uri="{FF2B5EF4-FFF2-40B4-BE49-F238E27FC236}">
                <a16:creationId xmlns:a16="http://schemas.microsoft.com/office/drawing/2014/main" id="{F713ECD7-1094-265F-72B0-87F08D51F696}"/>
              </a:ext>
            </a:extLst>
          </p:cNvPr>
          <p:cNvPicPr>
            <a:picLocks noChangeAspect="1"/>
          </p:cNvPicPr>
          <p:nvPr/>
        </p:nvPicPr>
        <p:blipFill>
          <a:blip r:embed="rId3"/>
          <a:stretch>
            <a:fillRect/>
          </a:stretch>
        </p:blipFill>
        <p:spPr>
          <a:xfrm>
            <a:off x="1179576" y="1483951"/>
            <a:ext cx="6638544" cy="46252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B5486A-2C7D-4CB3-E309-21FF9897FBB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87A502-E9A3-22A2-1607-CC766198F6B0}"/>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3" name="Picture 2">
            <a:extLst>
              <a:ext uri="{FF2B5EF4-FFF2-40B4-BE49-F238E27FC236}">
                <a16:creationId xmlns:a16="http://schemas.microsoft.com/office/drawing/2014/main" id="{D4C327CD-2093-0D05-3D91-94FF517C4AB6}"/>
              </a:ext>
            </a:extLst>
          </p:cNvPr>
          <p:cNvPicPr>
            <a:picLocks noChangeAspect="1"/>
          </p:cNvPicPr>
          <p:nvPr/>
        </p:nvPicPr>
        <p:blipFill>
          <a:blip r:embed="rId3"/>
          <a:stretch>
            <a:fillRect/>
          </a:stretch>
        </p:blipFill>
        <p:spPr>
          <a:xfrm>
            <a:off x="996696" y="1396587"/>
            <a:ext cx="6903720" cy="4809969"/>
          </a:xfrm>
          <a:prstGeom prst="rect">
            <a:avLst/>
          </a:prstGeom>
        </p:spPr>
      </p:pic>
    </p:spTree>
    <p:extLst>
      <p:ext uri="{BB962C8B-B14F-4D97-AF65-F5344CB8AC3E}">
        <p14:creationId xmlns:p14="http://schemas.microsoft.com/office/powerpoint/2010/main" val="2818536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25C967-FB18-C74B-FE86-5A42C3A0E1D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1BC7AD-C24C-85D6-CEF2-EA35DCBA076A}"/>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a:solidFill>
                  <a:schemeClr val="bg1"/>
                </a:solidFill>
                <a:latin typeface="+mj-lt"/>
                <a:ea typeface="+mj-ea"/>
                <a:cs typeface="+mj-cs"/>
              </a:rPr>
              <a:t>Results: Detection Performance</a:t>
            </a:r>
          </a:p>
        </p:txBody>
      </p:sp>
      <p:pic>
        <p:nvPicPr>
          <p:cNvPr id="5" name="Picture 4">
            <a:extLst>
              <a:ext uri="{FF2B5EF4-FFF2-40B4-BE49-F238E27FC236}">
                <a16:creationId xmlns:a16="http://schemas.microsoft.com/office/drawing/2014/main" id="{F9482D8A-8FEF-20EA-3794-BEF519BC433D}"/>
              </a:ext>
            </a:extLst>
          </p:cNvPr>
          <p:cNvPicPr>
            <a:picLocks noChangeAspect="1"/>
          </p:cNvPicPr>
          <p:nvPr/>
        </p:nvPicPr>
        <p:blipFill>
          <a:blip r:embed="rId3"/>
          <a:stretch>
            <a:fillRect/>
          </a:stretch>
        </p:blipFill>
        <p:spPr>
          <a:xfrm>
            <a:off x="1179576" y="1396588"/>
            <a:ext cx="6784848" cy="4727148"/>
          </a:xfrm>
          <a:prstGeom prst="rect">
            <a:avLst/>
          </a:prstGeom>
        </p:spPr>
      </p:pic>
    </p:spTree>
    <p:extLst>
      <p:ext uri="{BB962C8B-B14F-4D97-AF65-F5344CB8AC3E}">
        <p14:creationId xmlns:p14="http://schemas.microsoft.com/office/powerpoint/2010/main" val="350239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229414-C7EA-D5AE-D45D-42A7C67E33C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764395-6528-B773-CCC3-38D7CACE274A}"/>
              </a:ext>
            </a:extLst>
          </p:cNvPr>
          <p:cNvSpPr>
            <a:spLocks noGrp="1"/>
          </p:cNvSpPr>
          <p:nvPr>
            <p:ph type="title"/>
          </p:nvPr>
        </p:nvSpPr>
        <p:spPr>
          <a:xfrm>
            <a:off x="1028699" y="294538"/>
            <a:ext cx="7421963" cy="1033669"/>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Conclusion</a:t>
            </a:r>
            <a:r>
              <a:rPr lang="en-US" altLang="zh-CN" sz="3500" kern="1200">
                <a:solidFill>
                  <a:srgbClr val="FFFFFF"/>
                </a:solidFill>
                <a:latin typeface="+mj-lt"/>
                <a:ea typeface="+mj-ea"/>
                <a:cs typeface="+mj-cs"/>
              </a:rPr>
              <a:t> &amp; Future work</a:t>
            </a:r>
            <a:endParaRPr lang="en-US" sz="3500" kern="1200">
              <a:solidFill>
                <a:srgbClr val="FFFFFF"/>
              </a:solidFill>
              <a:latin typeface="+mj-lt"/>
              <a:ea typeface="+mj-ea"/>
              <a:cs typeface="+mj-cs"/>
            </a:endParaRPr>
          </a:p>
        </p:txBody>
      </p:sp>
      <p:sp>
        <p:nvSpPr>
          <p:cNvPr id="6" name="TextBox 5">
            <a:extLst>
              <a:ext uri="{FF2B5EF4-FFF2-40B4-BE49-F238E27FC236}">
                <a16:creationId xmlns:a16="http://schemas.microsoft.com/office/drawing/2014/main" id="{041EB3D4-494C-5F93-DD04-582F6E0CE1CB}"/>
              </a:ext>
            </a:extLst>
          </p:cNvPr>
          <p:cNvSpPr txBox="1"/>
          <p:nvPr/>
        </p:nvSpPr>
        <p:spPr>
          <a:xfrm>
            <a:off x="1028699" y="2318197"/>
            <a:ext cx="7293023" cy="3683358"/>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400" dirty="0"/>
              <a:t>Conclusion</a:t>
            </a:r>
            <a:r>
              <a:rPr lang="en-US" altLang="zh-CN" sz="1400" dirty="0"/>
              <a:t> :</a:t>
            </a:r>
          </a:p>
          <a:p>
            <a:pPr marL="285750" indent="-228600" defTabSz="914400">
              <a:lnSpc>
                <a:spcPct val="90000"/>
              </a:lnSpc>
              <a:spcAft>
                <a:spcPts val="600"/>
              </a:spcAft>
              <a:buFont typeface="Arial" panose="020B0604020202020204" pitchFamily="34" charset="0"/>
              <a:buChar char="•"/>
            </a:pPr>
            <a:r>
              <a:rPr lang="en-US" sz="1400" dirty="0"/>
              <a:t>Traditional dimensionality reduction techniques, such as PCA and </a:t>
            </a:r>
            <a:r>
              <a:rPr lang="en-US" sz="1400" dirty="0" err="1"/>
              <a:t>AutoEncoder</a:t>
            </a:r>
            <a:r>
              <a:rPr lang="en-US" sz="1400" dirty="0"/>
              <a:t>, can reduce the feature dimension by about 35% without significant loss in accuracy and F1 score.</a:t>
            </a:r>
          </a:p>
          <a:p>
            <a:pPr marL="285750" indent="-228600" defTabSz="914400">
              <a:lnSpc>
                <a:spcPct val="90000"/>
              </a:lnSpc>
              <a:spcAft>
                <a:spcPts val="600"/>
              </a:spcAft>
              <a:buFont typeface="Arial" panose="020B0604020202020204" pitchFamily="34" charset="0"/>
              <a:buChar char="•"/>
            </a:pPr>
            <a:r>
              <a:rPr lang="en-US" sz="1400" dirty="0"/>
              <a:t>For low-dimensional flow data, lightweight DNNs are more efficient and better suited for edge deployment than </a:t>
            </a:r>
            <a:r>
              <a:rPr lang="en-US" sz="1400" dirty="0" err="1"/>
              <a:t>ResNeXt</a:t>
            </a:r>
            <a:r>
              <a:rPr lang="en-US" sz="1400" dirty="0"/>
              <a:t>.</a:t>
            </a:r>
          </a:p>
          <a:p>
            <a:pPr marL="285750" indent="-228600" defTabSz="914400">
              <a:lnSpc>
                <a:spcPct val="90000"/>
              </a:lnSpc>
              <a:spcAft>
                <a:spcPts val="600"/>
              </a:spcAft>
              <a:buFont typeface="Arial" panose="020B0604020202020204" pitchFamily="34" charset="0"/>
              <a:buChar char="•"/>
            </a:pPr>
            <a:r>
              <a:rPr lang="en-US" sz="1400" dirty="0" err="1"/>
              <a:t>ResNeXt</a:t>
            </a:r>
            <a:r>
              <a:rPr lang="en-US" sz="1400" dirty="0"/>
              <a:t> introduces high computational overhead and is not suitable for edge deployment, while PCA, </a:t>
            </a:r>
            <a:r>
              <a:rPr lang="en-US" sz="1400" dirty="0" err="1"/>
              <a:t>AutoEncoder</a:t>
            </a:r>
            <a:r>
              <a:rPr lang="en-US" sz="1400" dirty="0"/>
              <a:t>, and DNN are more efficient for edge-based IDS.</a:t>
            </a:r>
          </a:p>
          <a:p>
            <a:pPr marL="285750" indent="-228600" defTabSz="914400">
              <a:lnSpc>
                <a:spcPct val="90000"/>
              </a:lnSpc>
              <a:spcAft>
                <a:spcPts val="600"/>
              </a:spcAft>
              <a:buFont typeface="Arial" panose="020B0604020202020204" pitchFamily="34" charset="0"/>
              <a:buChar char="•"/>
            </a:pPr>
            <a:endParaRPr lang="en-US" sz="1400" dirty="0"/>
          </a:p>
          <a:p>
            <a:pPr indent="-228600" defTabSz="914400">
              <a:lnSpc>
                <a:spcPct val="90000"/>
              </a:lnSpc>
              <a:spcAft>
                <a:spcPts val="600"/>
              </a:spcAft>
              <a:buFont typeface="Arial" panose="020B0604020202020204" pitchFamily="34" charset="0"/>
              <a:buChar char="•"/>
            </a:pPr>
            <a:r>
              <a:rPr lang="en-US" altLang="zh-CN" sz="1400" dirty="0"/>
              <a:t>Future work:</a:t>
            </a:r>
          </a:p>
          <a:p>
            <a:pPr marL="342900" indent="-228600" defTabSz="914400">
              <a:lnSpc>
                <a:spcPct val="90000"/>
              </a:lnSpc>
              <a:spcAft>
                <a:spcPts val="600"/>
              </a:spcAft>
              <a:buFont typeface="Arial" panose="020B0604020202020204" pitchFamily="34" charset="0"/>
              <a:buChar char="•"/>
            </a:pPr>
            <a:r>
              <a:rPr lang="en-US" sz="1400" dirty="0"/>
              <a:t>Extend more classifiers, such as </a:t>
            </a:r>
            <a:r>
              <a:rPr lang="en-US" sz="1400" dirty="0" err="1"/>
              <a:t>LightGBM</a:t>
            </a:r>
            <a:r>
              <a:rPr lang="en-US" sz="1400" dirty="0"/>
              <a:t> and </a:t>
            </a:r>
            <a:r>
              <a:rPr lang="en-US" sz="1400" dirty="0" err="1"/>
              <a:t>XGBoost</a:t>
            </a:r>
            <a:r>
              <a:rPr lang="en-US" sz="1400" dirty="0"/>
              <a:t>, to test whether our features work well with different models.</a:t>
            </a:r>
            <a:endParaRPr lang="en-US" altLang="zh-CN" sz="1400" dirty="0"/>
          </a:p>
          <a:p>
            <a:pPr marL="342900" indent="-228600" defTabSz="914400">
              <a:lnSpc>
                <a:spcPct val="90000"/>
              </a:lnSpc>
              <a:spcAft>
                <a:spcPts val="600"/>
              </a:spcAft>
              <a:buFont typeface="Arial" panose="020B0604020202020204" pitchFamily="34" charset="0"/>
              <a:buChar char="•"/>
            </a:pPr>
            <a:r>
              <a:rPr lang="en-US" sz="1400" dirty="0"/>
              <a:t>Move beyond flow-level classification by incorporating temporal and multi-flow detection, to better reflect real-world DDoS detection scenarios.</a:t>
            </a:r>
            <a:endParaRPr lang="en-US" altLang="zh-CN" sz="1400" dirty="0"/>
          </a:p>
          <a:p>
            <a:pPr marL="342900" indent="-228600" defTabSz="914400">
              <a:lnSpc>
                <a:spcPct val="90000"/>
              </a:lnSpc>
              <a:spcAft>
                <a:spcPts val="600"/>
              </a:spcAft>
              <a:buFont typeface="Arial" panose="020B0604020202020204" pitchFamily="34" charset="0"/>
              <a:buChar char="•"/>
            </a:pPr>
            <a:r>
              <a:rPr lang="en-US" sz="1400" dirty="0"/>
              <a:t>Improve the explainability of the model by using methods like SHAP or permutation importance to understand which features are important.</a:t>
            </a:r>
          </a:p>
          <a:p>
            <a:pPr indent="-228600" defTabSz="914400">
              <a:lnSpc>
                <a:spcPct val="90000"/>
              </a:lnSpc>
              <a:spcAft>
                <a:spcPts val="600"/>
              </a:spcAft>
              <a:buFont typeface="Arial" panose="020B0604020202020204" pitchFamily="34" charset="0"/>
              <a:buChar char="•"/>
            </a:pPr>
            <a:endParaRPr lang="en-US" sz="1400" dirty="0"/>
          </a:p>
        </p:txBody>
      </p:sp>
    </p:spTree>
    <p:extLst>
      <p:ext uri="{BB962C8B-B14F-4D97-AF65-F5344CB8AC3E}">
        <p14:creationId xmlns:p14="http://schemas.microsoft.com/office/powerpoint/2010/main" val="380849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a:t>References</a:t>
            </a:r>
          </a:p>
        </p:txBody>
      </p:sp>
      <p:sp>
        <p:nvSpPr>
          <p:cNvPr id="3" name="Content Placeholder 2"/>
          <p:cNvSpPr>
            <a:spLocks noGrp="1"/>
          </p:cNvSpPr>
          <p:nvPr>
            <p:ph idx="1"/>
          </p:nvPr>
        </p:nvSpPr>
        <p:spPr/>
        <p:txBody>
          <a:bodyPr>
            <a:normAutofit lnSpcReduction="10000"/>
          </a:bodyPr>
          <a:lstStyle/>
          <a:p>
            <a:r>
              <a:rPr lang="en-GB" sz="1800" dirty="0"/>
              <a:t>J. A. Alzubi, O. A. Alzubi, I. </a:t>
            </a:r>
            <a:r>
              <a:rPr lang="en-GB" sz="1800" dirty="0" err="1"/>
              <a:t>Qiqieh</a:t>
            </a:r>
            <a:r>
              <a:rPr lang="en-GB" sz="1800" dirty="0"/>
              <a:t>, and A. Singh, “A Blended Deep Learning Intrusion Detection Framework for Consumable Edge-Centric IoMT Industry,” IEEE Transactions on Consumer Electronics, vol. 70, no. 1, pp. 2049–2057, 2024. doi:10.1109/TCE.2024.3350231</a:t>
            </a:r>
          </a:p>
          <a:p>
            <a:r>
              <a:rPr lang="en-GB" sz="1800" dirty="0"/>
              <a:t>F. Nabi and X. Zhou, “Enhancing intrusion detection systems through dimensionality reduction: A comparative study of machine learning techniques for cyber security,” </a:t>
            </a:r>
            <a:r>
              <a:rPr lang="en-GB" sz="1800" i="1" dirty="0"/>
              <a:t>Cyber Security and Applications</a:t>
            </a:r>
            <a:r>
              <a:rPr lang="en-GB" sz="1800" dirty="0"/>
              <a:t>, vol. 2, 2024, Art. no. 100033.</a:t>
            </a:r>
          </a:p>
          <a:p>
            <a:r>
              <a:rPr lang="en-GB" sz="1800" dirty="0"/>
              <a:t>V. Harit, R. Dahiya, and U. Garg, “An Efficient Hybrid Autoencoder-LSTM Based Deep Learning Framework for Intrusion Detection in IoT Networks,” in </a:t>
            </a:r>
            <a:r>
              <a:rPr lang="en-GB" sz="1800" i="1" dirty="0"/>
              <a:t>Proc. 2025 2nd Int. Conf. Advanced Computing and Emerging Technologies (ACET)</a:t>
            </a:r>
            <a:r>
              <a:rPr lang="en-GB" sz="1800" dirty="0"/>
              <a:t>, 2025.</a:t>
            </a:r>
          </a:p>
          <a:p>
            <a:r>
              <a:rPr lang="en-GB" sz="1800" dirty="0"/>
              <a:t>J. Wu, S. Fu, and M. Sarabi, “Introducing a hybrid intrusion detection method for IoT-cloud environments based on </a:t>
            </a:r>
            <a:r>
              <a:rPr lang="en-GB" sz="1800" dirty="0" err="1"/>
              <a:t>ResNeXt</a:t>
            </a:r>
            <a:r>
              <a:rPr lang="en-GB" sz="1800" dirty="0"/>
              <a:t> and improved Ebola optimization search algorithm,” </a:t>
            </a:r>
            <a:r>
              <a:rPr lang="en-GB" sz="1800" i="1" dirty="0"/>
              <a:t>Scientific Reports</a:t>
            </a:r>
            <a:r>
              <a:rPr lang="en-GB" sz="1800" dirty="0"/>
              <a:t>, vol. 15, Art. no. 37612, 2025.</a:t>
            </a:r>
          </a:p>
          <a:p>
            <a:r>
              <a:rPr lang="en-GB" sz="1800" dirty="0"/>
              <a:t>B. Ghimire and D. B. Rawat, “Recent advances on federated learning for cybersecurity and cybersecurity for federated learning for Internet of Things,” </a:t>
            </a:r>
            <a:r>
              <a:rPr lang="en-GB" sz="1800" i="1" dirty="0"/>
              <a:t>IEEE Internet of Things Journal</a:t>
            </a:r>
            <a:r>
              <a:rPr lang="en-GB" sz="1800" dirty="0"/>
              <a:t>, vol. 9, no. 11, pp. 8229–8249, 2022. doi:10.1109/JIOT.2022.3150363</a:t>
            </a:r>
          </a:p>
          <a:p>
            <a:endParaRPr lang="en-GB" sz="1800" dirty="0"/>
          </a:p>
          <a:p>
            <a:endParaRPr lang="en-GB" sz="1800" dirty="0"/>
          </a:p>
          <a:p>
            <a:endParaRPr lang="en-GB" sz="1800" dirty="0"/>
          </a:p>
          <a:p>
            <a:endParaRPr lang="en-GB" sz="18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901298;"/>
</p:tagLst>
</file>

<file path=ppt/tags/tag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5.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6.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103"/>
  <p:tag name="OP_SCP_COMPONENT_INFO" val="{&quot;title&quot;:&quot;渐变2项流程PPT组件&quot;,&quot;description&quot;:&quot;渐变2项流程PPT组件：渐变设计，双项流程展示，信息清晰简洁，设计美观。&quot;,&quot;keywords&quot;:[&quot;渐变&quot;,&quot;2项&quot;,&quot;流程&quot;,&quot;PPT组件&quot;],&quot;labels&quot;:[]}"/>
  <p:tag name="OP_SCP_GROUP_ID" val="5e26cd12-5f16-16a9-2f56-80db3817052c"/>
  <p:tag name="OP_SCP_ITEM_COUNT" val="2"/>
</p:tagLst>
</file>

<file path=ppt/tags/tag7.xml><?xml version="1.0" encoding="utf-8"?>
<p:tagLst xmlns:a="http://schemas.openxmlformats.org/drawingml/2006/main" xmlns:r="http://schemas.openxmlformats.org/officeDocument/2006/relationships" xmlns:p="http://schemas.openxmlformats.org/presentationml/2006/main">
  <p:tag name="DATA_TYPE" val="OfficePlusSmartComponent"/>
  <p:tag name="OP_SCP_TAG_VERSION" val="1.0"/>
  <p:tag name="OP_SCP_CHANGE_COLOR" val="N"/>
  <p:tag name="OP_SCP_COMPONENT_TYPE" val="Relation"/>
  <p:tag name="OP_SCP_CONTENT_ID" val="MatlComponentContent-1103"/>
  <p:tag name="OP_SCP_COMPONENT_INFO" val="{&quot;title&quot;:&quot;渐变2项流程PPT组件&quot;,&quot;description&quot;:&quot;渐变2项流程PPT组件：渐变设计，双项流程展示，信息清晰简洁，设计美观。&quot;,&quot;keywords&quot;:[&quot;渐变&quot;,&quot;2项&quot;,&quot;流程&quot;,&quot;PPT组件&quot;],&quot;labels&quot;:[]}"/>
  <p:tag name="OP_SCP_GROUP_ID" val="5e26cd12-5f16-16a9-2f56-80db3817052c"/>
  <p:tag name="OP_SCP_ITEM_COUNT" val="2"/>
</p:tagLst>
</file>

<file path=ppt/tags/tag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0.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Part 02"/>
</p:tagLst>
</file>

<file path=ppt/tags/tag11.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12.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Part 01"/>
</p:tagLst>
</file>

<file path=ppt/tags/tag1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1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Part 02"/>
</p:tagLst>
</file>

<file path=ppt/tags/tag16.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
</p:tagLst>
</file>

<file path=ppt/tags/tag17.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Part 01"/>
</p:tagLst>
</file>

<file path=ppt/tags/tag1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19.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
</p:tagLst>
</file>

<file path=ppt/tags/tag20.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添加文本，单击此处添加文本，单击此处添加文本，单击此处添加文本，单击此处添加文本，单击此处添加文本。"/>
</p:tagLst>
</file>

<file path=ppt/tags/tag21.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2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添加标题"/>
</p:tagLst>
</file>

<file path=ppt/tags/tag23.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添加文本，单击此处添加文本，单击此处添加文本，单击此处添加文本，单击此处添加文本，单击此处添加文本。"/>
</p:tagLst>
</file>

<file path=ppt/tags/tag24.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2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26.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2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2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1.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3.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4.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5.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6.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添加文本，单击此处添加文本，单击此处添加文本，单击此处添加文本，单击此处添加文本，单击此处添加文本。"/>
</p:tagLst>
</file>

<file path=ppt/tags/tag37.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39.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添加标题"/>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3009</TotalTime>
  <Words>2954</Words>
  <Application>Microsoft Macintosh PowerPoint</Application>
  <PresentationFormat>On-screen Show (4:3)</PresentationFormat>
  <Paragraphs>277</Paragraphs>
  <Slides>14</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SimSun</vt:lpstr>
      <vt:lpstr>Aptos</vt:lpstr>
      <vt:lpstr>Arial</vt:lpstr>
      <vt:lpstr>Calibri</vt:lpstr>
      <vt:lpstr>Roboto</vt:lpstr>
      <vt:lpstr>Wingdings</vt:lpstr>
      <vt:lpstr>Office Theme</vt:lpstr>
      <vt:lpstr>1_Office Theme</vt:lpstr>
      <vt:lpstr>Comparative Evaluation of Feature Reduction Techniques for Intrusion Detection on IoMT Edge Devices</vt:lpstr>
      <vt:lpstr>PowerPoint Presentation</vt:lpstr>
      <vt:lpstr>PowerPoint Presentation</vt:lpstr>
      <vt:lpstr>PowerPoint Presentation</vt:lpstr>
      <vt:lpstr>PowerPoint Presentation</vt:lpstr>
      <vt:lpstr>Methodology: System Overview</vt:lpstr>
      <vt:lpstr>Methodology: Proposed Simulation Framework</vt:lpstr>
      <vt:lpstr>Methodology: Dataset &amp; Feature Reduction technique</vt:lpstr>
      <vt:lpstr>Methodology: Dataset &amp; Feature Reduction technique</vt:lpstr>
      <vt:lpstr>Results: Detection Performance</vt:lpstr>
      <vt:lpstr>Results: Detection Performance</vt:lpstr>
      <vt:lpstr>Results: Detection Performance</vt:lpstr>
      <vt:lpstr>Conclusion &amp; Future work</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耀泉 马</cp:lastModifiedBy>
  <cp:revision>4</cp:revision>
  <dcterms:created xsi:type="dcterms:W3CDTF">2013-01-27T09:14:16Z</dcterms:created>
  <dcterms:modified xsi:type="dcterms:W3CDTF">2026-03-22T19:21:53Z</dcterms:modified>
  <cp:category/>
</cp:coreProperties>
</file>